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jpeg" ContentType="image/jpeg"/>
  <Override PartName="/ppt/media/image4.jpeg" ContentType="image/jpeg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8" r:id="rId22"/>
    <p:sldMasterId id="2147483689" r:id="rId23"/>
    <p:sldMasterId id="2147483690" r:id="rId24"/>
    <p:sldMasterId id="2147483691" r:id="rId25"/>
    <p:sldMasterId id="2147483692" r:id="rId26"/>
    <p:sldMasterId id="2147483693" r:id="rId27"/>
    <p:sldMasterId id="2147483694" r:id="rId28"/>
    <p:sldMasterId id="2147483695" r:id="rId29"/>
    <p:sldMasterId id="2147483696" r:id="rId30"/>
    <p:sldMasterId id="2147483698" r:id="rId31"/>
    <p:sldMasterId id="2147483699" r:id="rId32"/>
    <p:sldMasterId id="2147483700" r:id="rId33"/>
    <p:sldMasterId id="2147483701" r:id="rId34"/>
    <p:sldMasterId id="2147483702" r:id="rId35"/>
    <p:sldMasterId id="2147483703" r:id="rId36"/>
    <p:sldMasterId id="2147483704" r:id="rId37"/>
  </p:sldMasterIdLst>
  <p:notesMasterIdLst>
    <p:notesMasterId r:id="rId38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  <p:sldId id="266" r:id="rId49"/>
    <p:sldId id="267" r:id="rId50"/>
    <p:sldId id="268" r:id="rId51"/>
    <p:sldId id="269" r:id="rId52"/>
    <p:sldId id="270" r:id="rId53"/>
    <p:sldId id="271" r:id="rId5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dt" idx="8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ftr" idx="8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sldNum" idx="8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5B5AD98-A67A-4A20-A3E5-E57E8BFAC986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B904EC-A181-4C2C-ABF2-CB3B033B28F3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C58D10-8AE1-4C0F-9494-565DC7294C9A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FF1B8A-BA4E-42E0-8AA8-FED88E35A684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1371600" y="1143000"/>
            <a:ext cx="41140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D7EE4-DA8E-40EE-98B8-A7C41A88A87A}" type="slidenum"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80494D-165F-49DA-A3DB-ECEA744169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2AEABF-D201-490B-8A62-928C5C5839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A1AF589-B813-4EEC-9B48-38F1341054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963018E-24A3-4861-A321-8C3C3526CF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DC95308-D6EE-4F89-AB9B-A3595E87C1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A1F3B7A-6C3C-4CA3-818F-F54FA31F80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BE60535-0F91-4D56-8BED-14CE185925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A2A392C-E623-4D4B-A5AA-1D2A90449C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B64F090-2799-4A9A-A68E-E179FA89F3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5B00AFE-B592-49D6-B480-B48EF0E28A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5D0C972-B50F-4B6E-AB85-3719C5D56F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30DE8864-0DF1-43A0-AB35-9448F28AD8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FE27AEC3-CA72-472A-9EDA-B3B059E471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C0258588-8196-40F0-AAFC-215356EAAE8C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DBAB131-A6D4-407E-8213-7D83DF6087FB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5B02DB5E-1F06-4B7C-90C3-D15FDA401D3E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F39D5F9C-DD0A-4ED7-8F6B-7BA4E4FACED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9452D52-06F8-4E1E-8E01-B76638130C5E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5AEB562F-38F3-402D-A2DF-76CA18E7EEB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3"/>
          </p:nvPr>
        </p:nvSpPr>
        <p:spPr/>
        <p:txBody>
          <a:bodyPr/>
          <a:p>
            <a:fld id="{4B98B629-031C-4EA5-967C-4D8195667D39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B98CFEB-3181-46BB-88DB-14E3B2E89F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1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E84FEAC-98E6-45EC-8770-22A004F22080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D1E534C-424B-4F36-8F88-829E6D2CCAF6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9511D8-0003-416F-A4CB-35E13B4E195B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323964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602208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323964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602208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64679DD-5769-41D3-ADFC-606CB57E2C39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836B297-826C-4AD2-98D5-C1A0B620E0E4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80EC2D2-AEAB-45DD-BACB-33D42118C198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3746B02-EBB9-4539-833A-1769E082241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53D3858-42A0-4F59-8421-D5A13F9FE559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026A237-8726-4291-B1AF-584B4947F0E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88A454E-836E-4A3F-B7F3-0822058D8C00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DB323ED-190A-4F97-8DBA-7C06EA872F5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856F4CE-267A-46FC-9ADB-0007BA48A8B5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37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ED8CD72-EE4F-4AE4-B116-CDE5847FA3EE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sldNum" idx="38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76648FF-C4B2-412F-B68A-81E130D0CFAE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39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D00D84B-1F89-4E09-B60F-7E3AC1954DA6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body"/>
          </p:nvPr>
        </p:nvSpPr>
        <p:spPr>
          <a:xfrm>
            <a:off x="323964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body"/>
          </p:nvPr>
        </p:nvSpPr>
        <p:spPr>
          <a:xfrm>
            <a:off x="602208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body"/>
          </p:nvPr>
        </p:nvSpPr>
        <p:spPr>
          <a:xfrm>
            <a:off x="45720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 type="body"/>
          </p:nvPr>
        </p:nvSpPr>
        <p:spPr>
          <a:xfrm>
            <a:off x="323964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 type="body"/>
          </p:nvPr>
        </p:nvSpPr>
        <p:spPr>
          <a:xfrm>
            <a:off x="602208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8"/>
          <p:cNvSpPr>
            <a:spLocks noGrp="1"/>
          </p:cNvSpPr>
          <p:nvPr>
            <p:ph type="sldNum" idx="40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44A279C-D81B-45F0-AD4A-E29F8B6CB909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Num" idx="41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A2C2E6-6B82-4653-B3CC-9FAC55EC7378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42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0B7FEA3-CCFC-4DC5-BC66-F8174E46A204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43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14FC58D-69D1-4EB0-BB0B-67076DBD4984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sldNum" idx="44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66C44668-7E19-4635-A866-3BE64ED99F81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45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FE83BA2-15E1-4623-A4E5-79F2A3171F3C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Num" idx="46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02BB803-8F0D-485E-B695-B296F946D3E8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sldNum" idx="47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9F1E58-54D7-4024-A863-B4F4AE91B473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sldNum" idx="48"/>
          </p:nvPr>
        </p:nvSpPr>
        <p:spPr>
          <a:xfrm>
            <a:off x="8490240" y="6241320"/>
            <a:ext cx="547920" cy="52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79BB637-9E38-43C3-AD12-B22DDF319A10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ftr" idx="4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CDD450-F4DB-414E-A88B-19D484C79617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dt" idx="5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457200" y="3686760"/>
            <a:ext cx="822888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92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5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3AD29F2-E82C-4A11-9FB1-C0E3479E273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5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6"/>
          <p:cNvSpPr>
            <a:spLocks noGrp="1"/>
          </p:cNvSpPr>
          <p:nvPr>
            <p:ph type="ftr" idx="5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7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977BCBF-3E61-4F76-9BD6-779D5508CEFA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8"/>
          <p:cNvSpPr>
            <a:spLocks noGrp="1"/>
          </p:cNvSpPr>
          <p:nvPr>
            <p:ph type="dt" idx="5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323964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6022080" y="101952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45720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6"/>
          <p:cNvSpPr>
            <a:spLocks noGrp="1"/>
          </p:cNvSpPr>
          <p:nvPr>
            <p:ph type="body"/>
          </p:nvPr>
        </p:nvSpPr>
        <p:spPr>
          <a:xfrm>
            <a:off x="323964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7"/>
          <p:cNvSpPr>
            <a:spLocks noGrp="1"/>
          </p:cNvSpPr>
          <p:nvPr>
            <p:ph type="body"/>
          </p:nvPr>
        </p:nvSpPr>
        <p:spPr>
          <a:xfrm>
            <a:off x="6022080" y="3686760"/>
            <a:ext cx="26492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748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8"/>
          <p:cNvSpPr>
            <a:spLocks noGrp="1"/>
          </p:cNvSpPr>
          <p:nvPr>
            <p:ph type="ftr" idx="5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PlaceHolder 9"/>
          <p:cNvSpPr>
            <a:spLocks noGrp="1"/>
          </p:cNvSpPr>
          <p:nvPr>
            <p:ph type="sldNum" idx="5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25DD660-12D8-40C1-86E8-0992CEA47FE9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PlaceHolder 10"/>
          <p:cNvSpPr>
            <a:spLocks noGrp="1"/>
          </p:cNvSpPr>
          <p:nvPr>
            <p:ph type="dt" idx="6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ftr" idx="6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ldNum" idx="6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EAB2CE9C-09AB-4A54-A369-116B56EFF68D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dt" idx="6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ftr" idx="6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2D199A5-97AC-42E1-9CC1-4F6061EA44DA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6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ftr" idx="6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53AC00D-6736-4856-AD9C-6AC3EDC67AAD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 type="dt" idx="6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 idx="7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 idx="7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B027F56-0725-4F10-8069-9F474688AF5F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 type="dt" idx="7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ftr" idx="7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7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AFAC494-9DA8-40C8-A274-236DB67BF8F4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dt" idx="7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ftr" idx="7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7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1A6FA19-EDC3-444A-BB48-EB034C7ED210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dt" idx="7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body"/>
          </p:nvPr>
        </p:nvSpPr>
        <p:spPr>
          <a:xfrm>
            <a:off x="45720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 type="ftr" idx="7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 type="sldNum" idx="8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31B3DFE-215D-433C-96E2-0A4F88E3F85B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7"/>
          <p:cNvSpPr>
            <a:spLocks noGrp="1"/>
          </p:cNvSpPr>
          <p:nvPr>
            <p:ph type="dt" idx="8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457200" y="1019520"/>
            <a:ext cx="4015440" cy="510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body"/>
          </p:nvPr>
        </p:nvSpPr>
        <p:spPr>
          <a:xfrm>
            <a:off x="4674240" y="101952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4674240" y="3686760"/>
            <a:ext cx="4015440" cy="24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93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5"/>
          <p:cNvSpPr>
            <a:spLocks noGrp="1"/>
          </p:cNvSpPr>
          <p:nvPr>
            <p:ph type="ftr" idx="8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6"/>
          <p:cNvSpPr>
            <a:spLocks noGrp="1"/>
          </p:cNvSpPr>
          <p:nvPr>
            <p:ph type="sldNum" idx="8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es-AR" sz="2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D5FA0F0-5CC7-4C08-BA06-86451EC1ED73}" type="slidenum">
              <a:rPr b="0" lang="es-AR" sz="2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A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7"/>
          <p:cNvSpPr>
            <a:spLocks noGrp="1"/>
          </p:cNvSpPr>
          <p:nvPr>
            <p:ph type="dt" idx="8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88;p13" descr="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85800" y="115956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AR" sz="4860" spc="-1" strike="noStrike">
                <a:solidFill>
                  <a:srgbClr val="3d0e62"/>
                </a:solidFill>
                <a:latin typeface="Bitter"/>
                <a:ea typeface="Bitter"/>
              </a:rPr>
              <a:t>Paradigmas</a:t>
            </a:r>
            <a:endParaRPr b="0" lang="es-AR" sz="48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ubTitle"/>
          </p:nvPr>
        </p:nvSpPr>
        <p:spPr>
          <a:xfrm>
            <a:off x="685800" y="3624480"/>
            <a:ext cx="6400080" cy="82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8000"/>
              </a:lnSpc>
              <a:buNone/>
              <a:tabLst>
                <a:tab algn="l" pos="0"/>
              </a:tabLst>
            </a:pPr>
            <a:r>
              <a:rPr b="0" lang="es-AR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Programación Funcional.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2800" spc="-1" strike="noStrike">
                <a:solidFill>
                  <a:srgbClr val="7030a0"/>
                </a:solidFill>
                <a:latin typeface="Calibri"/>
                <a:ea typeface="Calibri"/>
              </a:rPr>
              <a:t>¿Que es la programación funcional?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57200" y="155016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s-AR" sz="3200" spc="-1" strike="noStrike">
                <a:solidFill>
                  <a:srgbClr val="000000"/>
                </a:solidFill>
                <a:latin typeface="Calibri"/>
                <a:ea typeface="Calibri"/>
              </a:rPr>
              <a:t>La programación funcional es un paradigma de programación declarativa basado en la utilización de funciones aritméticas que no maneja datos mutables o de estado. Enfatiza la aplicación de funciones, en contraste con el estilo de programación imperativa, que enfatiza los cambios de estado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4400" spc="-1" strike="noStrike">
                <a:solidFill>
                  <a:srgbClr val="7030a0"/>
                </a:solidFill>
                <a:latin typeface="Calibri"/>
                <a:ea typeface="Calibri"/>
              </a:rPr>
              <a:t>Programación funcional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9144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No mantiene estados.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9144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Enfatiza la aplicación de funciones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9144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Las funciones no tienen efecto secundario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9144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r>
              <a:rPr b="0" lang="es-AR" sz="3200" spc="-1" strike="noStrike">
                <a:solidFill>
                  <a:srgbClr val="000000"/>
                </a:solidFill>
                <a:latin typeface="Arial"/>
                <a:ea typeface="Arial"/>
              </a:rPr>
              <a:t>Uso de recurrencia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79164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4400" spc="-1" strike="noStrike">
                <a:solidFill>
                  <a:srgbClr val="7030a0"/>
                </a:solidFill>
                <a:latin typeface="Calibri"/>
                <a:ea typeface="Calibri"/>
              </a:rPr>
              <a:t>Ventajas de usar un paradigma funcional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849680"/>
            <a:ext cx="8228880" cy="392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s-AR" sz="3200" spc="-1" strike="noStrike">
                <a:solidFill>
                  <a:srgbClr val="000000"/>
                </a:solidFill>
                <a:latin typeface="Calibri"/>
                <a:ea typeface="Calibri"/>
              </a:rPr>
              <a:t>Ausencia de efectos colaterales ( transparencia referencial )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AR" sz="3200" spc="-1" strike="noStrike">
                <a:solidFill>
                  <a:srgbClr val="000000"/>
                </a:solidFill>
                <a:latin typeface="Calibri"/>
                <a:ea typeface="Calibri"/>
              </a:rPr>
              <a:t>Proceso de depuración menos problemático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AR" sz="3200" spc="-1" strike="noStrike">
                <a:solidFill>
                  <a:srgbClr val="000000"/>
                </a:solidFill>
                <a:latin typeface="Calibri"/>
                <a:ea typeface="Calibri"/>
              </a:rPr>
              <a:t>Pruebas de unidades más confiables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s-AR" sz="3200" spc="-1" strike="noStrike">
                <a:solidFill>
                  <a:srgbClr val="000000"/>
                </a:solidFill>
                <a:latin typeface="Calibri"/>
                <a:ea typeface="Calibri"/>
              </a:rPr>
              <a:t>Mayor facilidad para la ejecución concurrente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4400" spc="-1" strike="noStrike">
                <a:solidFill>
                  <a:srgbClr val="7030a0"/>
                </a:solidFill>
                <a:latin typeface="Calibri"/>
                <a:ea typeface="Calibri"/>
              </a:rPr>
              <a:t>Lenguajes funcionales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s-AR" sz="2200" spc="-1" strike="noStrike">
                <a:solidFill>
                  <a:srgbClr val="000000"/>
                </a:solidFill>
                <a:latin typeface="Calibri"/>
                <a:ea typeface="Calibri"/>
              </a:rPr>
              <a:t>Entre los lenguajes funcionales puros, cabe destacar a Haskell y Miranda. 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s-AR" sz="2200" spc="-1" strike="noStrike">
                <a:solidFill>
                  <a:srgbClr val="000000"/>
                </a:solidFill>
                <a:latin typeface="Calibri"/>
                <a:ea typeface="Calibri"/>
              </a:rPr>
              <a:t>Los lenguajes funcionales híbridos más conocidos son Scala, Lisp, Clojure, Scheme, Ocaml, SAP y Standard ML (estos dos últimos, descendientes del lenguaje ML). Erlang es otro lenguaje funcional de programación concurrente. 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s-AR" sz="2200" spc="-1" strike="noStrike">
                <a:solidFill>
                  <a:srgbClr val="000000"/>
                </a:solidFill>
                <a:latin typeface="Calibri"/>
                <a:ea typeface="Calibri"/>
              </a:rPr>
              <a:t>Mathematica permite la programación en múltiples estilos, pero promueve la programación funcional. R también es un lenguaje funcional dedicado a la estadística. 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s-AR" sz="2200" spc="-1" strike="noStrike">
                <a:solidFill>
                  <a:srgbClr val="000000"/>
                </a:solidFill>
                <a:latin typeface="Calibri"/>
                <a:ea typeface="Calibri"/>
              </a:rPr>
              <a:t>Microsoft Research está trabajando en el lenguaje F# (Functional#).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272160" y="43596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Calibri"/>
              </a:rPr>
              <a:t>Funciones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16;p18"/>
          <p:cNvSpPr/>
          <p:nvPr/>
        </p:nvSpPr>
        <p:spPr>
          <a:xfrm>
            <a:off x="117972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8" name="Google Shape;117;p18"/>
          <p:cNvGrpSpPr/>
          <p:nvPr/>
        </p:nvGrpSpPr>
        <p:grpSpPr>
          <a:xfrm>
            <a:off x="1930320" y="1996200"/>
            <a:ext cx="937800" cy="636480"/>
            <a:chOff x="1930320" y="1996200"/>
            <a:chExt cx="937800" cy="636480"/>
          </a:xfrm>
        </p:grpSpPr>
        <p:sp>
          <p:nvSpPr>
            <p:cNvPr id="249" name="Google Shape;118;p18"/>
            <p:cNvSpPr/>
            <p:nvPr/>
          </p:nvSpPr>
          <p:spPr>
            <a:xfrm>
              <a:off x="2235600" y="231480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0" name="Google Shape;119;p18"/>
            <p:cNvSpPr/>
            <p:nvPr/>
          </p:nvSpPr>
          <p:spPr>
            <a:xfrm>
              <a:off x="1930320" y="1996200"/>
              <a:ext cx="937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Haskell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" name="Google Shape;120;p18"/>
          <p:cNvGrpSpPr/>
          <p:nvPr/>
        </p:nvGrpSpPr>
        <p:grpSpPr>
          <a:xfrm>
            <a:off x="1489680" y="3699720"/>
            <a:ext cx="742680" cy="636480"/>
            <a:chOff x="1489680" y="3699720"/>
            <a:chExt cx="742680" cy="636480"/>
          </a:xfrm>
        </p:grpSpPr>
        <p:sp>
          <p:nvSpPr>
            <p:cNvPr id="252" name="Google Shape;121;p18"/>
            <p:cNvSpPr/>
            <p:nvPr/>
          </p:nvSpPr>
          <p:spPr>
            <a:xfrm>
              <a:off x="172584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3" name="Google Shape;122;p18"/>
            <p:cNvSpPr/>
            <p:nvPr/>
          </p:nvSpPr>
          <p:spPr>
            <a:xfrm>
              <a:off x="148968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Java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4" name="Google Shape;123;p18"/>
          <p:cNvGrpSpPr/>
          <p:nvPr/>
        </p:nvGrpSpPr>
        <p:grpSpPr>
          <a:xfrm>
            <a:off x="2311560" y="4248720"/>
            <a:ext cx="742680" cy="636480"/>
            <a:chOff x="2311560" y="4248720"/>
            <a:chExt cx="742680" cy="636480"/>
          </a:xfrm>
        </p:grpSpPr>
        <p:sp>
          <p:nvSpPr>
            <p:cNvPr id="255" name="Google Shape;124;p18"/>
            <p:cNvSpPr/>
            <p:nvPr/>
          </p:nvSpPr>
          <p:spPr>
            <a:xfrm>
              <a:off x="2547360" y="4567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6" name="Google Shape;125;p18"/>
            <p:cNvSpPr/>
            <p:nvPr/>
          </p:nvSpPr>
          <p:spPr>
            <a:xfrm>
              <a:off x="2311560" y="4248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PHP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7" name="Google Shape;126;p18"/>
          <p:cNvSpPr/>
          <p:nvPr/>
        </p:nvSpPr>
        <p:spPr>
          <a:xfrm>
            <a:off x="576936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8" name="Google Shape;127;p18"/>
          <p:cNvGrpSpPr/>
          <p:nvPr/>
        </p:nvGrpSpPr>
        <p:grpSpPr>
          <a:xfrm>
            <a:off x="6577560" y="2155680"/>
            <a:ext cx="742680" cy="636480"/>
            <a:chOff x="6577560" y="2155680"/>
            <a:chExt cx="742680" cy="636480"/>
          </a:xfrm>
        </p:grpSpPr>
        <p:sp>
          <p:nvSpPr>
            <p:cNvPr id="259" name="Google Shape;128;p18"/>
            <p:cNvSpPr/>
            <p:nvPr/>
          </p:nvSpPr>
          <p:spPr>
            <a:xfrm>
              <a:off x="6813720" y="247428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0" name="Google Shape;129;p18"/>
            <p:cNvSpPr/>
            <p:nvPr/>
          </p:nvSpPr>
          <p:spPr>
            <a:xfrm>
              <a:off x="6577560" y="215568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1987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1" name="Google Shape;130;p18"/>
          <p:cNvGrpSpPr/>
          <p:nvPr/>
        </p:nvGrpSpPr>
        <p:grpSpPr>
          <a:xfrm>
            <a:off x="6577560" y="3699720"/>
            <a:ext cx="742680" cy="636480"/>
            <a:chOff x="6577560" y="3699720"/>
            <a:chExt cx="742680" cy="636480"/>
          </a:xfrm>
        </p:grpSpPr>
        <p:sp>
          <p:nvSpPr>
            <p:cNvPr id="262" name="Google Shape;131;p18"/>
            <p:cNvSpPr/>
            <p:nvPr/>
          </p:nvSpPr>
          <p:spPr>
            <a:xfrm>
              <a:off x="681372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3" name="Google Shape;132;p18"/>
            <p:cNvSpPr/>
            <p:nvPr/>
          </p:nvSpPr>
          <p:spPr>
            <a:xfrm>
              <a:off x="657756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1995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4" name="Google Shape;133;p18"/>
          <p:cNvGrpSpPr/>
          <p:nvPr/>
        </p:nvGrpSpPr>
        <p:grpSpPr>
          <a:xfrm>
            <a:off x="6157440" y="3062520"/>
            <a:ext cx="742680" cy="636480"/>
            <a:chOff x="6157440" y="3062520"/>
            <a:chExt cx="742680" cy="636480"/>
          </a:xfrm>
        </p:grpSpPr>
        <p:sp>
          <p:nvSpPr>
            <p:cNvPr id="265" name="Google Shape;134;p18"/>
            <p:cNvSpPr/>
            <p:nvPr/>
          </p:nvSpPr>
          <p:spPr>
            <a:xfrm>
              <a:off x="6393600" y="33811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Google Shape;135;p18"/>
            <p:cNvSpPr/>
            <p:nvPr/>
          </p:nvSpPr>
          <p:spPr>
            <a:xfrm>
              <a:off x="6157440" y="30625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2003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67" name="Google Shape;136;p18"/>
          <p:cNvGrpSpPr/>
          <p:nvPr/>
        </p:nvGrpSpPr>
        <p:grpSpPr>
          <a:xfrm>
            <a:off x="2027880" y="2982960"/>
            <a:ext cx="742680" cy="636480"/>
            <a:chOff x="2027880" y="2982960"/>
            <a:chExt cx="742680" cy="636480"/>
          </a:xfrm>
        </p:grpSpPr>
        <p:sp>
          <p:nvSpPr>
            <p:cNvPr id="268" name="Google Shape;137;p18"/>
            <p:cNvSpPr/>
            <p:nvPr/>
          </p:nvSpPr>
          <p:spPr>
            <a:xfrm>
              <a:off x="2263680" y="330156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Google Shape;138;p18"/>
            <p:cNvSpPr/>
            <p:nvPr/>
          </p:nvSpPr>
          <p:spPr>
            <a:xfrm>
              <a:off x="2027880" y="298296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Scala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70" name="Google Shape;139;p18"/>
          <p:cNvSpPr/>
          <p:nvPr/>
        </p:nvSpPr>
        <p:spPr>
          <a:xfrm rot="10800000">
            <a:off x="2507760" y="2473920"/>
            <a:ext cx="4305960" cy="158760"/>
          </a:xfrm>
          <a:prstGeom prst="curvedConnector3">
            <a:avLst>
              <a:gd name="adj1" fmla="val 49999"/>
            </a:avLst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Google Shape;140;p18"/>
          <p:cNvSpPr/>
          <p:nvPr/>
        </p:nvSpPr>
        <p:spPr>
          <a:xfrm rot="10800000">
            <a:off x="2535840" y="3461760"/>
            <a:ext cx="3857760" cy="78840"/>
          </a:xfrm>
          <a:prstGeom prst="curvedConnector3">
            <a:avLst>
              <a:gd name="adj1" fmla="val 50000"/>
            </a:avLst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141;p18"/>
          <p:cNvSpPr/>
          <p:nvPr/>
        </p:nvSpPr>
        <p:spPr>
          <a:xfrm flipH="1">
            <a:off x="1995840" y="4177800"/>
            <a:ext cx="4815720" cy="360"/>
          </a:xfrm>
          <a:prstGeom prst="curvedConnector3">
            <a:avLst>
              <a:gd name="adj1" fmla="val 22"/>
            </a:avLst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142;p18"/>
          <p:cNvSpPr/>
          <p:nvPr/>
        </p:nvSpPr>
        <p:spPr>
          <a:xfrm rot="5400000">
            <a:off x="4690080" y="2466000"/>
            <a:ext cx="389160" cy="4129560"/>
          </a:xfrm>
          <a:prstGeom prst="curvedConnector2">
            <a:avLst/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143;p18"/>
          <p:cNvSpPr/>
          <p:nvPr/>
        </p:nvSpPr>
        <p:spPr>
          <a:xfrm>
            <a:off x="2625120" y="5115240"/>
            <a:ext cx="38152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“</a:t>
            </a: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Año de nacimiento de”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311760" y="47988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Calibri"/>
              </a:rPr>
              <a:t>Funciones</a:t>
            </a:r>
            <a:br>
              <a:rPr sz="4400"/>
            </a:b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49;p19"/>
          <p:cNvSpPr/>
          <p:nvPr/>
        </p:nvSpPr>
        <p:spPr>
          <a:xfrm>
            <a:off x="117972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7" name="Google Shape;150;p19"/>
          <p:cNvGrpSpPr/>
          <p:nvPr/>
        </p:nvGrpSpPr>
        <p:grpSpPr>
          <a:xfrm>
            <a:off x="1930320" y="1996200"/>
            <a:ext cx="937800" cy="636480"/>
            <a:chOff x="1930320" y="1996200"/>
            <a:chExt cx="937800" cy="636480"/>
          </a:xfrm>
        </p:grpSpPr>
        <p:sp>
          <p:nvSpPr>
            <p:cNvPr id="278" name="Google Shape;151;p19"/>
            <p:cNvSpPr/>
            <p:nvPr/>
          </p:nvSpPr>
          <p:spPr>
            <a:xfrm>
              <a:off x="2235600" y="231480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9" name="Google Shape;152;p19"/>
            <p:cNvSpPr/>
            <p:nvPr/>
          </p:nvSpPr>
          <p:spPr>
            <a:xfrm>
              <a:off x="1930320" y="1996200"/>
              <a:ext cx="937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Haskell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0" name="Google Shape;153;p19"/>
          <p:cNvGrpSpPr/>
          <p:nvPr/>
        </p:nvGrpSpPr>
        <p:grpSpPr>
          <a:xfrm>
            <a:off x="1489680" y="3699720"/>
            <a:ext cx="742680" cy="636480"/>
            <a:chOff x="1489680" y="3699720"/>
            <a:chExt cx="742680" cy="636480"/>
          </a:xfrm>
        </p:grpSpPr>
        <p:sp>
          <p:nvSpPr>
            <p:cNvPr id="281" name="Google Shape;154;p19"/>
            <p:cNvSpPr/>
            <p:nvPr/>
          </p:nvSpPr>
          <p:spPr>
            <a:xfrm>
              <a:off x="172584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Google Shape;155;p19"/>
            <p:cNvSpPr/>
            <p:nvPr/>
          </p:nvSpPr>
          <p:spPr>
            <a:xfrm>
              <a:off x="148968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Java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83" name="Google Shape;156;p19"/>
          <p:cNvGrpSpPr/>
          <p:nvPr/>
        </p:nvGrpSpPr>
        <p:grpSpPr>
          <a:xfrm>
            <a:off x="2311560" y="4248720"/>
            <a:ext cx="742680" cy="636480"/>
            <a:chOff x="2311560" y="4248720"/>
            <a:chExt cx="742680" cy="636480"/>
          </a:xfrm>
        </p:grpSpPr>
        <p:sp>
          <p:nvSpPr>
            <p:cNvPr id="284" name="Google Shape;157;p19"/>
            <p:cNvSpPr/>
            <p:nvPr/>
          </p:nvSpPr>
          <p:spPr>
            <a:xfrm>
              <a:off x="2547360" y="4567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5" name="Google Shape;158;p19"/>
            <p:cNvSpPr/>
            <p:nvPr/>
          </p:nvSpPr>
          <p:spPr>
            <a:xfrm>
              <a:off x="2311560" y="4248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PHP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86" name="Google Shape;159;p19"/>
          <p:cNvSpPr/>
          <p:nvPr/>
        </p:nvSpPr>
        <p:spPr>
          <a:xfrm>
            <a:off x="576936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7" name="Google Shape;160;p19"/>
          <p:cNvGrpSpPr/>
          <p:nvPr/>
        </p:nvGrpSpPr>
        <p:grpSpPr>
          <a:xfrm>
            <a:off x="6577560" y="2155680"/>
            <a:ext cx="742680" cy="636480"/>
            <a:chOff x="6577560" y="2155680"/>
            <a:chExt cx="742680" cy="636480"/>
          </a:xfrm>
        </p:grpSpPr>
        <p:sp>
          <p:nvSpPr>
            <p:cNvPr id="288" name="Google Shape;161;p19"/>
            <p:cNvSpPr/>
            <p:nvPr/>
          </p:nvSpPr>
          <p:spPr>
            <a:xfrm>
              <a:off x="6813720" y="247428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9" name="Google Shape;162;p19"/>
            <p:cNvSpPr/>
            <p:nvPr/>
          </p:nvSpPr>
          <p:spPr>
            <a:xfrm>
              <a:off x="6577560" y="215568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1987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0" name="Google Shape;163;p19"/>
          <p:cNvGrpSpPr/>
          <p:nvPr/>
        </p:nvGrpSpPr>
        <p:grpSpPr>
          <a:xfrm>
            <a:off x="6577560" y="3699720"/>
            <a:ext cx="742680" cy="636480"/>
            <a:chOff x="6577560" y="3699720"/>
            <a:chExt cx="742680" cy="636480"/>
          </a:xfrm>
        </p:grpSpPr>
        <p:sp>
          <p:nvSpPr>
            <p:cNvPr id="291" name="Google Shape;164;p19"/>
            <p:cNvSpPr/>
            <p:nvPr/>
          </p:nvSpPr>
          <p:spPr>
            <a:xfrm>
              <a:off x="681372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2" name="Google Shape;165;p19"/>
            <p:cNvSpPr/>
            <p:nvPr/>
          </p:nvSpPr>
          <p:spPr>
            <a:xfrm>
              <a:off x="657756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1995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3" name="Google Shape;166;p19"/>
          <p:cNvGrpSpPr/>
          <p:nvPr/>
        </p:nvGrpSpPr>
        <p:grpSpPr>
          <a:xfrm>
            <a:off x="6157440" y="3062520"/>
            <a:ext cx="742680" cy="636480"/>
            <a:chOff x="6157440" y="3062520"/>
            <a:chExt cx="742680" cy="636480"/>
          </a:xfrm>
        </p:grpSpPr>
        <p:sp>
          <p:nvSpPr>
            <p:cNvPr id="294" name="Google Shape;167;p19"/>
            <p:cNvSpPr/>
            <p:nvPr/>
          </p:nvSpPr>
          <p:spPr>
            <a:xfrm>
              <a:off x="6393600" y="33811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5" name="Google Shape;168;p19"/>
            <p:cNvSpPr/>
            <p:nvPr/>
          </p:nvSpPr>
          <p:spPr>
            <a:xfrm>
              <a:off x="6157440" y="30625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2003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Google Shape;169;p19"/>
          <p:cNvGrpSpPr/>
          <p:nvPr/>
        </p:nvGrpSpPr>
        <p:grpSpPr>
          <a:xfrm>
            <a:off x="2027880" y="2982960"/>
            <a:ext cx="742680" cy="636480"/>
            <a:chOff x="2027880" y="2982960"/>
            <a:chExt cx="742680" cy="636480"/>
          </a:xfrm>
        </p:grpSpPr>
        <p:sp>
          <p:nvSpPr>
            <p:cNvPr id="297" name="Google Shape;170;p19"/>
            <p:cNvSpPr/>
            <p:nvPr/>
          </p:nvSpPr>
          <p:spPr>
            <a:xfrm>
              <a:off x="2263680" y="330156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98" name="Google Shape;171;p19"/>
            <p:cNvSpPr/>
            <p:nvPr/>
          </p:nvSpPr>
          <p:spPr>
            <a:xfrm>
              <a:off x="2027880" y="298296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Scala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99" name="Google Shape;172;p19"/>
          <p:cNvSpPr/>
          <p:nvPr/>
        </p:nvSpPr>
        <p:spPr>
          <a:xfrm rot="10800000">
            <a:off x="2507760" y="2473920"/>
            <a:ext cx="4305960" cy="158760"/>
          </a:xfrm>
          <a:prstGeom prst="curvedConnector3">
            <a:avLst>
              <a:gd name="adj1" fmla="val 49999"/>
            </a:avLst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173;p19"/>
          <p:cNvSpPr/>
          <p:nvPr/>
        </p:nvSpPr>
        <p:spPr>
          <a:xfrm rot="10800000">
            <a:off x="2535840" y="3461760"/>
            <a:ext cx="3857760" cy="78840"/>
          </a:xfrm>
          <a:prstGeom prst="curvedConnector3">
            <a:avLst>
              <a:gd name="adj1" fmla="val 50000"/>
            </a:avLst>
          </a:prstGeom>
          <a:noFill/>
          <a:ln w="28440">
            <a:solidFill>
              <a:srgbClr val="1f497d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174;p19"/>
          <p:cNvSpPr/>
          <p:nvPr/>
        </p:nvSpPr>
        <p:spPr>
          <a:xfrm flipH="1">
            <a:off x="1995840" y="4177800"/>
            <a:ext cx="4815720" cy="360"/>
          </a:xfrm>
          <a:prstGeom prst="curvedConnector3">
            <a:avLst>
              <a:gd name="adj1" fmla="val 2474"/>
            </a:avLst>
          </a:prstGeom>
          <a:noFill/>
          <a:ln w="38160">
            <a:solidFill>
              <a:srgbClr val="e06666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75;p19"/>
          <p:cNvSpPr/>
          <p:nvPr/>
        </p:nvSpPr>
        <p:spPr>
          <a:xfrm rot="5400000">
            <a:off x="4690080" y="2466000"/>
            <a:ext cx="389160" cy="4129560"/>
          </a:xfrm>
          <a:prstGeom prst="curvedConnector2">
            <a:avLst/>
          </a:prstGeom>
          <a:noFill/>
          <a:ln w="38160">
            <a:solidFill>
              <a:srgbClr val="e06666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76;p19"/>
          <p:cNvSpPr/>
          <p:nvPr/>
        </p:nvSpPr>
        <p:spPr>
          <a:xfrm>
            <a:off x="2625120" y="5115240"/>
            <a:ext cx="38152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“</a:t>
            </a: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Año de nacimiento de”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311760" y="77904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Calibri"/>
              </a:rPr>
              <a:t>Funciones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311760" y="2009880"/>
            <a:ext cx="8519760" cy="3009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3000" spc="-1" strike="noStrike">
                <a:solidFill>
                  <a:srgbClr val="000000"/>
                </a:solidFill>
                <a:latin typeface="Calibri"/>
                <a:ea typeface="Calibri"/>
              </a:rPr>
              <a:t>Una función es una relación entre un set de inputs y un set de outputs permisibles... </a:t>
            </a:r>
            <a:endParaRPr b="0" lang="es-AR" sz="30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599"/>
              </a:spcBef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-GB" sz="3000" spc="-1" strike="noStrike">
                <a:solidFill>
                  <a:srgbClr val="000000"/>
                </a:solidFill>
                <a:latin typeface="Calibri"/>
                <a:ea typeface="Calibri"/>
              </a:rPr>
              <a:t>...con la propiedad de que cada input está relacionado con exactamente un output.</a:t>
            </a:r>
            <a:endParaRPr b="0" lang="es-AR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399960" y="358200"/>
            <a:ext cx="8519760" cy="572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4400" spc="-1" strike="noStrike">
                <a:solidFill>
                  <a:srgbClr val="000000"/>
                </a:solidFill>
                <a:latin typeface="Calibri"/>
                <a:ea typeface="Calibri"/>
              </a:rPr>
              <a:t>Funciones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88;p21"/>
          <p:cNvSpPr/>
          <p:nvPr/>
        </p:nvSpPr>
        <p:spPr>
          <a:xfrm>
            <a:off x="117972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8" name="Google Shape;189;p21"/>
          <p:cNvGrpSpPr/>
          <p:nvPr/>
        </p:nvGrpSpPr>
        <p:grpSpPr>
          <a:xfrm>
            <a:off x="1930320" y="1996200"/>
            <a:ext cx="937800" cy="636480"/>
            <a:chOff x="1930320" y="1996200"/>
            <a:chExt cx="937800" cy="636480"/>
          </a:xfrm>
        </p:grpSpPr>
        <p:sp>
          <p:nvSpPr>
            <p:cNvPr id="309" name="Google Shape;190;p21"/>
            <p:cNvSpPr/>
            <p:nvPr/>
          </p:nvSpPr>
          <p:spPr>
            <a:xfrm>
              <a:off x="2235600" y="231480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0" name="Google Shape;191;p21"/>
            <p:cNvSpPr/>
            <p:nvPr/>
          </p:nvSpPr>
          <p:spPr>
            <a:xfrm>
              <a:off x="1930320" y="1996200"/>
              <a:ext cx="937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Haskell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1" name="Google Shape;192;p21"/>
          <p:cNvGrpSpPr/>
          <p:nvPr/>
        </p:nvGrpSpPr>
        <p:grpSpPr>
          <a:xfrm>
            <a:off x="1489680" y="3699720"/>
            <a:ext cx="742680" cy="636480"/>
            <a:chOff x="1489680" y="3699720"/>
            <a:chExt cx="742680" cy="636480"/>
          </a:xfrm>
        </p:grpSpPr>
        <p:sp>
          <p:nvSpPr>
            <p:cNvPr id="312" name="Google Shape;193;p21"/>
            <p:cNvSpPr/>
            <p:nvPr/>
          </p:nvSpPr>
          <p:spPr>
            <a:xfrm>
              <a:off x="172584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Google Shape;194;p21"/>
            <p:cNvSpPr/>
            <p:nvPr/>
          </p:nvSpPr>
          <p:spPr>
            <a:xfrm>
              <a:off x="148968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Java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4" name="Google Shape;195;p21"/>
          <p:cNvGrpSpPr/>
          <p:nvPr/>
        </p:nvGrpSpPr>
        <p:grpSpPr>
          <a:xfrm>
            <a:off x="2311560" y="4248720"/>
            <a:ext cx="742680" cy="636480"/>
            <a:chOff x="2311560" y="4248720"/>
            <a:chExt cx="742680" cy="636480"/>
          </a:xfrm>
        </p:grpSpPr>
        <p:sp>
          <p:nvSpPr>
            <p:cNvPr id="315" name="Google Shape;196;p21"/>
            <p:cNvSpPr/>
            <p:nvPr/>
          </p:nvSpPr>
          <p:spPr>
            <a:xfrm>
              <a:off x="2547360" y="4567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6" name="Google Shape;197;p21"/>
            <p:cNvSpPr/>
            <p:nvPr/>
          </p:nvSpPr>
          <p:spPr>
            <a:xfrm>
              <a:off x="2311560" y="4248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PHP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17" name="Google Shape;198;p21"/>
          <p:cNvSpPr/>
          <p:nvPr/>
        </p:nvSpPr>
        <p:spPr>
          <a:xfrm>
            <a:off x="5769360" y="1996200"/>
            <a:ext cx="2359080" cy="3060360"/>
          </a:xfrm>
          <a:prstGeom prst="ellipse">
            <a:avLst/>
          </a:prstGeom>
          <a:solidFill>
            <a:schemeClr val="lt2"/>
          </a:solidFill>
          <a:ln w="19080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8" name="Google Shape;199;p21"/>
          <p:cNvGrpSpPr/>
          <p:nvPr/>
        </p:nvGrpSpPr>
        <p:grpSpPr>
          <a:xfrm>
            <a:off x="6577560" y="2155680"/>
            <a:ext cx="742680" cy="636480"/>
            <a:chOff x="6577560" y="2155680"/>
            <a:chExt cx="742680" cy="636480"/>
          </a:xfrm>
        </p:grpSpPr>
        <p:sp>
          <p:nvSpPr>
            <p:cNvPr id="319" name="Google Shape;200;p21"/>
            <p:cNvSpPr/>
            <p:nvPr/>
          </p:nvSpPr>
          <p:spPr>
            <a:xfrm>
              <a:off x="6813720" y="247428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0" name="Google Shape;201;p21"/>
            <p:cNvSpPr/>
            <p:nvPr/>
          </p:nvSpPr>
          <p:spPr>
            <a:xfrm>
              <a:off x="6577560" y="215568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1987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" name="Google Shape;202;p21"/>
          <p:cNvGrpSpPr/>
          <p:nvPr/>
        </p:nvGrpSpPr>
        <p:grpSpPr>
          <a:xfrm>
            <a:off x="6577560" y="3699720"/>
            <a:ext cx="742680" cy="636480"/>
            <a:chOff x="6577560" y="3699720"/>
            <a:chExt cx="742680" cy="636480"/>
          </a:xfrm>
        </p:grpSpPr>
        <p:sp>
          <p:nvSpPr>
            <p:cNvPr id="322" name="Google Shape;203;p21"/>
            <p:cNvSpPr/>
            <p:nvPr/>
          </p:nvSpPr>
          <p:spPr>
            <a:xfrm>
              <a:off x="6813720" y="40183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3" name="Google Shape;204;p21"/>
            <p:cNvSpPr/>
            <p:nvPr/>
          </p:nvSpPr>
          <p:spPr>
            <a:xfrm>
              <a:off x="6577560" y="36997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1995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4" name="Google Shape;205;p21"/>
          <p:cNvSpPr/>
          <p:nvPr/>
        </p:nvSpPr>
        <p:spPr>
          <a:xfrm>
            <a:off x="2507400" y="2474280"/>
            <a:ext cx="4305960" cy="158760"/>
          </a:xfrm>
          <a:custGeom>
            <a:avLst/>
            <a:gdLst>
              <a:gd name="textAreaLeft" fmla="*/ 0 w 4305960"/>
              <a:gd name="textAreaRight" fmla="*/ 4306320 w 4305960"/>
              <a:gd name="textAreaTop" fmla="*/ 0 h 158760"/>
              <a:gd name="textAreaBottom" fmla="*/ 159120 h 1587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1f497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206;p21"/>
          <p:cNvSpPr/>
          <p:nvPr/>
        </p:nvSpPr>
        <p:spPr>
          <a:xfrm>
            <a:off x="1997280" y="4177800"/>
            <a:ext cx="4815720" cy="360"/>
          </a:xfrm>
          <a:custGeom>
            <a:avLst/>
            <a:gdLst>
              <a:gd name="textAreaLeft" fmla="*/ 0 w 4815720"/>
              <a:gd name="textAreaRight" fmla="*/ 4816080 w 481572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1f497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207;p21"/>
          <p:cNvSpPr/>
          <p:nvPr/>
        </p:nvSpPr>
        <p:spPr>
          <a:xfrm flipH="1" rot="10800000">
            <a:off x="2818080" y="4178520"/>
            <a:ext cx="3994200" cy="548280"/>
          </a:xfrm>
          <a:custGeom>
            <a:avLst/>
            <a:gdLst>
              <a:gd name="textAreaLeft" fmla="*/ -360 w 3994200"/>
              <a:gd name="textAreaRight" fmla="*/ 3994200 w 3994200"/>
              <a:gd name="textAreaTop" fmla="*/ 0 h 548280"/>
              <a:gd name="textAreaBottom" fmla="*/ 548640 h 54828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1f497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208;p21"/>
          <p:cNvSpPr/>
          <p:nvPr/>
        </p:nvSpPr>
        <p:spPr>
          <a:xfrm>
            <a:off x="2625120" y="5115240"/>
            <a:ext cx="38152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5680" bIns="17568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Lenguaje</a:t>
            </a:r>
            <a:r>
              <a:rPr b="0" lang="en-GB" sz="1800" spc="-1" strike="noStrike">
                <a:solidFill>
                  <a:srgbClr val="f6b26b"/>
                </a:solidFill>
                <a:latin typeface="Courier New"/>
                <a:ea typeface="Courier New"/>
              </a:rPr>
              <a:t> -&gt; </a:t>
            </a:r>
            <a:r>
              <a:rPr b="0" lang="en-GB" sz="1800" spc="-1" strike="noStrike">
                <a:solidFill>
                  <a:srgbClr val="ffffff"/>
                </a:solidFill>
                <a:latin typeface="Courier New"/>
                <a:ea typeface="Courier New"/>
              </a:rPr>
              <a:t>Año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8" name="Google Shape;209;p21"/>
          <p:cNvGrpSpPr/>
          <p:nvPr/>
        </p:nvGrpSpPr>
        <p:grpSpPr>
          <a:xfrm>
            <a:off x="6157440" y="3062520"/>
            <a:ext cx="742680" cy="636480"/>
            <a:chOff x="6157440" y="3062520"/>
            <a:chExt cx="742680" cy="636480"/>
          </a:xfrm>
        </p:grpSpPr>
        <p:sp>
          <p:nvSpPr>
            <p:cNvPr id="329" name="Google Shape;210;p21"/>
            <p:cNvSpPr/>
            <p:nvPr/>
          </p:nvSpPr>
          <p:spPr>
            <a:xfrm>
              <a:off x="6393600" y="338112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0" name="Google Shape;211;p21"/>
            <p:cNvSpPr/>
            <p:nvPr/>
          </p:nvSpPr>
          <p:spPr>
            <a:xfrm>
              <a:off x="6157440" y="306252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2003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" name="Google Shape;212;p21"/>
          <p:cNvGrpSpPr/>
          <p:nvPr/>
        </p:nvGrpSpPr>
        <p:grpSpPr>
          <a:xfrm>
            <a:off x="2027880" y="2982960"/>
            <a:ext cx="742680" cy="636480"/>
            <a:chOff x="2027880" y="2982960"/>
            <a:chExt cx="742680" cy="636480"/>
          </a:xfrm>
        </p:grpSpPr>
        <p:sp>
          <p:nvSpPr>
            <p:cNvPr id="332" name="Google Shape;213;p21"/>
            <p:cNvSpPr/>
            <p:nvPr/>
          </p:nvSpPr>
          <p:spPr>
            <a:xfrm>
              <a:off x="2263680" y="3301560"/>
              <a:ext cx="270720" cy="317880"/>
            </a:xfrm>
            <a:prstGeom prst="flowChartConnector">
              <a:avLst/>
            </a:prstGeom>
            <a:solidFill>
              <a:srgbClr val="434343"/>
            </a:solidFill>
            <a:ln w="936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s-A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3" name="Google Shape;214;p21"/>
            <p:cNvSpPr/>
            <p:nvPr/>
          </p:nvSpPr>
          <p:spPr>
            <a:xfrm>
              <a:off x="2027880" y="2982960"/>
              <a:ext cx="74268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59120" bIns="159120" anchor="t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GB" sz="1400" spc="-1" strike="noStrike">
                  <a:solidFill>
                    <a:srgbClr val="4f81bd"/>
                  </a:solidFill>
                  <a:latin typeface="Arial"/>
                  <a:ea typeface="Arial"/>
                </a:rPr>
                <a:t>Scala</a:t>
              </a:r>
              <a:endParaRPr b="0" lang="es-AR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4" name="Google Shape;215;p21"/>
          <p:cNvSpPr/>
          <p:nvPr/>
        </p:nvSpPr>
        <p:spPr>
          <a:xfrm>
            <a:off x="2535120" y="3461040"/>
            <a:ext cx="3857760" cy="78840"/>
          </a:xfrm>
          <a:custGeom>
            <a:avLst/>
            <a:gdLst>
              <a:gd name="textAreaLeft" fmla="*/ 0 w 3857760"/>
              <a:gd name="textAreaRight" fmla="*/ 3858120 w 3857760"/>
              <a:gd name="textAreaTop" fmla="*/ 0 h 78840"/>
              <a:gd name="textAreaBottom" fmla="*/ 79200 h 7884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8440">
            <a:solidFill>
              <a:srgbClr val="1f497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34200" bIns="34200" anchor="t">
            <a:noAutofit/>
          </a:bodyPr>
          <a:p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7030a0"/>
                </a:solidFill>
                <a:latin typeface="Calibri"/>
                <a:ea typeface="Calibri"/>
              </a:rPr>
              <a:t>Lisp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Lisp (LISt Processing)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Es el lenguaje más conocido de Programación Funcional. Aún así, no es un lenguaje funcional puro ya que posee asignación (SETF) e iteración (DO).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 utiliza la notación prefijo para cualquier función, inclusive para las expresiones aritméticas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(defun cuadrado(n) (* n n))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7030a0"/>
                </a:solidFill>
                <a:latin typeface="Calibri"/>
                <a:ea typeface="Calibri"/>
              </a:rPr>
              <a:t>Scala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Scala es multiparadigma.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 puede utilizar el Paradigma Funcional y el orientado a Objetos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Es de tipado estático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Tiene genéricos similar a Java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Todo es un Objeto (casi todo)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Fue influenciado por Java, Ruby, Haskell, Erlang,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etc...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57200" y="48420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7030a0"/>
                </a:solidFill>
                <a:latin typeface="Calibri"/>
                <a:ea typeface="Calibri"/>
              </a:rPr>
              <a:t>Scala un lenguaje funcional y orientado a objetos</a:t>
            </a:r>
            <a:endParaRPr b="0" lang="es-A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Google Shape;70;p15" descr=""/>
          <p:cNvPicPr/>
          <p:nvPr/>
        </p:nvPicPr>
        <p:blipFill>
          <a:blip r:embed="rId1"/>
          <a:stretch/>
        </p:blipFill>
        <p:spPr>
          <a:xfrm>
            <a:off x="726840" y="2233800"/>
            <a:ext cx="7958880" cy="4485960"/>
          </a:xfrm>
          <a:prstGeom prst="rect">
            <a:avLst/>
          </a:prstGeom>
          <a:ln w="0">
            <a:noFill/>
          </a:ln>
        </p:spPr>
      </p:pic>
      <p:sp>
        <p:nvSpPr>
          <p:cNvPr id="341" name="Google Shape;71;p15"/>
          <p:cNvSpPr/>
          <p:nvPr/>
        </p:nvSpPr>
        <p:spPr>
          <a:xfrm>
            <a:off x="2340000" y="1800000"/>
            <a:ext cx="4463280" cy="43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AR" sz="2400" spc="-1" strike="noStrike">
                <a:solidFill>
                  <a:srgbClr val="000000"/>
                </a:solidFill>
                <a:latin typeface="Arial"/>
                <a:ea typeface="Arial"/>
              </a:rPr>
              <a:t>Smalltalk + Haskell = Scala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57200" y="101952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s-AR" sz="4400" spc="-1" strike="noStrike">
                <a:solidFill>
                  <a:srgbClr val="7030a0"/>
                </a:solidFill>
                <a:latin typeface="Arial"/>
                <a:ea typeface="Arial"/>
              </a:rPr>
              <a:t>Todo retorna un valor y todo tiene un tipo</a:t>
            </a:r>
            <a:br>
              <a:rPr sz="4400"/>
            </a:b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358200" y="177084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1640" indent="-402120">
              <a:lnSpc>
                <a:spcPct val="100000"/>
              </a:lnSpc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En scala toda expresión retorna un valor y todo tiene un tipo. 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Por ejemplo un if puede retornar un valor y retorna lo ultimo que ejecuta: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var i = if (a == 5) 4 else 10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El compilador infiere el tipo y i va ser un entero.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Si tenemos una expresión que retorna diferentes tipos, scala lo tipara por el padre común.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Si tenemos la expresión: if (x &gt; 0) 1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marL="431640" indent="-40212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Font typeface="Noto Sans Symbols"/>
              <a:buChar char="●"/>
            </a:pPr>
            <a:r>
              <a:rPr b="0" lang="es-AR" sz="2000" spc="-1" strike="noStrike">
                <a:solidFill>
                  <a:srgbClr val="000000"/>
                </a:solidFill>
                <a:latin typeface="Arial"/>
                <a:ea typeface="Arial"/>
              </a:rPr>
              <a:t>En el caso del “else” no retornamos nada, en scala todo retorna un valor y la nada es un valor que tiene un tipo similar a void de c o java, este tipo es la clase Unit.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</a:pP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7030a0"/>
                </a:solidFill>
                <a:latin typeface="Calibri"/>
                <a:ea typeface="Calibri"/>
              </a:rPr>
              <a:t>Val y var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457200" y="1019520"/>
            <a:ext cx="8228880" cy="510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Val es la palabra clave que permite declarar un valor (similar a una constante) y var permite definir una variable.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scala&gt; val answer = 8 * 5 + 2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answer: Int = 42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scala&gt; answer = 0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&lt;console&gt;:6: error: reassignment to val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Las varibles pueden ser asignadas con diferentes valores: 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var counter = 0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counter = 1 // OK, can change a var</a:t>
            </a:r>
            <a:endParaRPr b="0" lang="es-A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301680" y="3221640"/>
            <a:ext cx="8228880" cy="63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es-AR" sz="4400" spc="-1" strike="noStrike">
                <a:solidFill>
                  <a:srgbClr val="7030a0"/>
                </a:solidFill>
                <a:latin typeface="Calibri"/>
                <a:ea typeface="Calibri"/>
              </a:rPr>
              <a:t>Ya hablamos mucho de Scala, ahora Recursividad</a:t>
            </a:r>
            <a:endParaRPr b="0" lang="es-AR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232;p33" descr="imagen.jpg"/>
          <p:cNvPicPr/>
          <p:nvPr/>
        </p:nvPicPr>
        <p:blipFill>
          <a:blip r:embed="rId1"/>
          <a:stretch/>
        </p:blipFill>
        <p:spPr>
          <a:xfrm>
            <a:off x="0" y="0"/>
            <a:ext cx="9143280" cy="6857280"/>
          </a:xfrm>
          <a:prstGeom prst="rect">
            <a:avLst/>
          </a:prstGeom>
          <a:ln w="0">
            <a:noFill/>
          </a:ln>
        </p:spPr>
      </p:pic>
      <p:sp>
        <p:nvSpPr>
          <p:cNvPr id="348" name="Google Shape;233;p33"/>
          <p:cNvSpPr/>
          <p:nvPr/>
        </p:nvSpPr>
        <p:spPr>
          <a:xfrm>
            <a:off x="0" y="6603840"/>
            <a:ext cx="9143280" cy="253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-AR" sz="18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9" name="Google Shape;234;p33" descr="logo solo-08.jpg"/>
          <p:cNvPicPr/>
          <p:nvPr/>
        </p:nvPicPr>
        <p:blipFill>
          <a:blip r:embed="rId2"/>
          <a:stretch/>
        </p:blipFill>
        <p:spPr>
          <a:xfrm>
            <a:off x="7505640" y="5885640"/>
            <a:ext cx="840600" cy="98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2019-08-14T04:34:00Z</dcterms:created>
  <dc:creator/>
  <dc:description/>
  <dc:language>es-AR</dc:language>
  <cp:lastModifiedBy/>
  <dcterms:modified xsi:type="dcterms:W3CDTF">2026-09-19T09:03:40Z</dcterms:modified>
  <cp:revision>4</cp:revision>
  <dc:subject/>
  <dc:title>Programación IV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1033-11.1.0.8392</vt:lpwstr>
  </property>
  <property fmtid="{D5CDD505-2E9C-101B-9397-08002B2CF9AE}" pid="3" name="Slides">
    <vt:r8>20</vt:r8>
  </property>
</Properties>
</file>