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6.xml.rels" ContentType="application/vnd.openxmlformats-package.relationships+xml"/>
  <Override PartName="/ppt/slideMasters/_rels/slideMaster18.xml.rels" ContentType="application/vnd.openxmlformats-package.relationships+xml"/>
  <Override PartName="/ppt/slideMasters/_rels/slideMaster7.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9.xml.rels" ContentType="application/vnd.openxmlformats-package.relationships+xml"/>
  <Override PartName="/ppt/slideMasters/_rels/slideMaster31.xml.rels" ContentType="application/vnd.openxmlformats-package.relationships+xml"/>
  <Override PartName="/ppt/slideMasters/_rels/slideMaster28.xml.rels" ContentType="application/vnd.openxmlformats-package.relationships+xml"/>
  <Override PartName="/ppt/slideMasters/_rels/slideMaster30.xml.rels" ContentType="application/vnd.openxmlformats-package.relationships+xml"/>
  <Override PartName="/ppt/slideMasters/_rels/slideMaster32.xml.rels" ContentType="application/vnd.openxmlformats-package.relationships+xml"/>
  <Override PartName="/ppt/slideMasters/_rels/slideMaster20.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33.xml.rels" ContentType="application/vnd.openxmlformats-package.relationships+xml"/>
  <Override PartName="/ppt/slideMasters/_rels/slideMaster22.xml.rels" ContentType="application/vnd.openxmlformats-package.relationships+xml"/>
  <Override PartName="/ppt/slideMasters/_rels/slideMaster23.xml.rels" ContentType="application/vnd.openxmlformats-package.relationships+xml"/>
  <Override PartName="/ppt/slideMasters/_rels/slideMaster24.xml.rels" ContentType="application/vnd.openxmlformats-package.relationships+xml"/>
  <Override PartName="/ppt/slideMasters/_rels/slideMaster25.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0.xml.rels" ContentType="application/vnd.openxmlformats-package.relationships+xml"/>
  <Override PartName="/ppt/slideMasters/_rels/slideMaster34.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35.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36.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2.xml.rels" ContentType="application/vnd.openxmlformats-package.relationships+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31.xml" ContentType="application/vnd.openxmlformats-officedocument.presentationml.slideMaster+xml"/>
  <Override PartName="/ppt/slideMasters/slideMaster29.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0.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34.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35.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36.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1.xml" ContentType="application/vnd.openxmlformats-officedocument.theme+xml"/>
  <Override PartName="/ppt/theme/theme10.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2.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37.xml" ContentType="application/vnd.openxmlformats-officedocument.theme+xml"/>
  <Override PartName="/ppt/theme/theme31.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12.xml" ContentType="application/vnd.openxmlformats-officedocument.theme+xml"/>
  <Override PartName="/ppt/theme/theme1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slideLayouts/slideLayout22.xml" ContentType="application/vnd.openxmlformats-officedocument.presentationml.slideLayout+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jpeg" ContentType="image/jpeg"/>
  <Override PartName="/ppt/media/image3.jpeg" ContentType="image/jpeg"/>
  <Override PartName="/ppt/slides/_rels/slide7.xml.rels" ContentType="application/vnd.openxmlformats-package.relationships+xml"/>
  <Override PartName="/ppt/slides/_rels/slide24.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3.xml.rels" ContentType="application/vnd.openxmlformats-package.relationships+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Lst>
  <p:notesMasterIdLst>
    <p:notesMasterId r:id="rId38"/>
  </p:notesMasterIdLst>
  <p:sldIdLst>
    <p:sldId id="256" r:id="rId39"/>
    <p:sldId id="257" r:id="rId40"/>
    <p:sldId id="258" r:id="rId41"/>
    <p:sldId id="259" r:id="rId42"/>
    <p:sldId id="260" r:id="rId43"/>
    <p:sldId id="261" r:id="rId44"/>
    <p:sldId id="262" r:id="rId45"/>
    <p:sldId id="263" r:id="rId46"/>
    <p:sldId id="264" r:id="rId47"/>
    <p:sldId id="265" r:id="rId48"/>
    <p:sldId id="266" r:id="rId49"/>
    <p:sldId id="267" r:id="rId50"/>
    <p:sldId id="268" r:id="rId51"/>
    <p:sldId id="269" r:id="rId52"/>
    <p:sldId id="270" r:id="rId53"/>
    <p:sldId id="271" r:id="rId54"/>
    <p:sldId id="272" r:id="rId55"/>
    <p:sldId id="273" r:id="rId56"/>
    <p:sldId id="274" r:id="rId57"/>
    <p:sldId id="275" r:id="rId58"/>
    <p:sldId id="276" r:id="rId59"/>
    <p:sldId id="277" r:id="rId60"/>
    <p:sldId id="278" r:id="rId61"/>
    <p:sldId id="279" r:id="rId62"/>
    <p:sldId id="280" r:id="rId63"/>
    <p:sldId id="281" r:id="rId64"/>
    <p:sldId id="282" r:id="rId65"/>
    <p:sldId id="283" r:id="rId66"/>
    <p:sldId id="284" r:id="rId67"/>
    <p:sldId id="285" r:id="rId68"/>
    <p:sldId id="286" r:id="rId69"/>
    <p:sldId id="287" r:id="rId70"/>
    <p:sldId id="288" r:id="rId71"/>
    <p:sldId id="289" r:id="rId72"/>
    <p:sldId id="290" r:id="rId73"/>
    <p:sldId id="291" r:id="rId74"/>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notesMaster" Target="notesMasters/notesMaster1.xml"/><Relationship Id="rId39" Type="http://schemas.openxmlformats.org/officeDocument/2006/relationships/slide" Target="slides/slide1.xml"/><Relationship Id="rId40" Type="http://schemas.openxmlformats.org/officeDocument/2006/relationships/slide" Target="slides/slide2.xml"/><Relationship Id="rId41" Type="http://schemas.openxmlformats.org/officeDocument/2006/relationships/slide" Target="slides/slide3.xml"/><Relationship Id="rId42" Type="http://schemas.openxmlformats.org/officeDocument/2006/relationships/slide" Target="slides/slide4.xml"/><Relationship Id="rId43" Type="http://schemas.openxmlformats.org/officeDocument/2006/relationships/slide" Target="slides/slide5.xml"/><Relationship Id="rId44" Type="http://schemas.openxmlformats.org/officeDocument/2006/relationships/slide" Target="slides/slide6.xml"/><Relationship Id="rId45" Type="http://schemas.openxmlformats.org/officeDocument/2006/relationships/slide" Target="slides/slide7.xml"/><Relationship Id="rId46" Type="http://schemas.openxmlformats.org/officeDocument/2006/relationships/slide" Target="slides/slide8.xml"/><Relationship Id="rId47" Type="http://schemas.openxmlformats.org/officeDocument/2006/relationships/slide" Target="slides/slide9.xml"/><Relationship Id="rId48" Type="http://schemas.openxmlformats.org/officeDocument/2006/relationships/slide" Target="slides/slide10.xml"/><Relationship Id="rId49" Type="http://schemas.openxmlformats.org/officeDocument/2006/relationships/slide" Target="slides/slide11.xml"/><Relationship Id="rId50" Type="http://schemas.openxmlformats.org/officeDocument/2006/relationships/slide" Target="slides/slide12.xml"/><Relationship Id="rId51" Type="http://schemas.openxmlformats.org/officeDocument/2006/relationships/slide" Target="slides/slide13.xml"/><Relationship Id="rId52" Type="http://schemas.openxmlformats.org/officeDocument/2006/relationships/slide" Target="slides/slide14.xml"/><Relationship Id="rId53" Type="http://schemas.openxmlformats.org/officeDocument/2006/relationships/slide" Target="slides/slide15.xml"/><Relationship Id="rId54" Type="http://schemas.openxmlformats.org/officeDocument/2006/relationships/slide" Target="slides/slide16.xml"/><Relationship Id="rId55" Type="http://schemas.openxmlformats.org/officeDocument/2006/relationships/slide" Target="slides/slide17.xml"/><Relationship Id="rId56" Type="http://schemas.openxmlformats.org/officeDocument/2006/relationships/slide" Target="slides/slide18.xml"/><Relationship Id="rId57" Type="http://schemas.openxmlformats.org/officeDocument/2006/relationships/slide" Target="slides/slide19.xml"/><Relationship Id="rId58" Type="http://schemas.openxmlformats.org/officeDocument/2006/relationships/slide" Target="slides/slide20.xml"/><Relationship Id="rId59" Type="http://schemas.openxmlformats.org/officeDocument/2006/relationships/slide" Target="slides/slide21.xml"/><Relationship Id="rId60" Type="http://schemas.openxmlformats.org/officeDocument/2006/relationships/slide" Target="slides/slide22.xml"/><Relationship Id="rId61" Type="http://schemas.openxmlformats.org/officeDocument/2006/relationships/slide" Target="slides/slide23.xml"/><Relationship Id="rId62" Type="http://schemas.openxmlformats.org/officeDocument/2006/relationships/slide" Target="slides/slide24.xml"/><Relationship Id="rId63" Type="http://schemas.openxmlformats.org/officeDocument/2006/relationships/slide" Target="slides/slide25.xml"/><Relationship Id="rId64" Type="http://schemas.openxmlformats.org/officeDocument/2006/relationships/slide" Target="slides/slide26.xml"/><Relationship Id="rId65" Type="http://schemas.openxmlformats.org/officeDocument/2006/relationships/slide" Target="slides/slide27.xml"/><Relationship Id="rId66" Type="http://schemas.openxmlformats.org/officeDocument/2006/relationships/slide" Target="slides/slide28.xml"/><Relationship Id="rId67" Type="http://schemas.openxmlformats.org/officeDocument/2006/relationships/slide" Target="slides/slide29.xml"/><Relationship Id="rId68" Type="http://schemas.openxmlformats.org/officeDocument/2006/relationships/slide" Target="slides/slide30.xml"/><Relationship Id="rId69" Type="http://schemas.openxmlformats.org/officeDocument/2006/relationships/slide" Target="slides/slide31.xml"/><Relationship Id="rId70" Type="http://schemas.openxmlformats.org/officeDocument/2006/relationships/slide" Target="slides/slide32.xml"/><Relationship Id="rId71" Type="http://schemas.openxmlformats.org/officeDocument/2006/relationships/slide" Target="slides/slide33.xml"/><Relationship Id="rId72" Type="http://schemas.openxmlformats.org/officeDocument/2006/relationships/slide" Target="slides/slide34.xml"/><Relationship Id="rId73" Type="http://schemas.openxmlformats.org/officeDocument/2006/relationships/slide" Target="slides/slide35.xml"/><Relationship Id="rId74" Type="http://schemas.openxmlformats.org/officeDocument/2006/relationships/slide" Target="slides/slide36.xml"/><Relationship Id="rId7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s-AR" sz="4400" spc="-1" strike="noStrike">
                <a:solidFill>
                  <a:srgbClr val="000000"/>
                </a:solidFill>
                <a:latin typeface="Arial"/>
              </a:rPr>
              <a:t>Pulse para desplazar la diapositiva</a:t>
            </a:r>
            <a:endParaRPr b="0" lang="es-AR" sz="4400" spc="-1" strike="noStrike">
              <a:solidFill>
                <a:srgbClr val="000000"/>
              </a:solidFill>
              <a:latin typeface="Arial"/>
            </a:endParaRPr>
          </a:p>
        </p:txBody>
      </p:sp>
      <p:sp>
        <p:nvSpPr>
          <p:cNvPr id="1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AR" sz="2000" spc="-1" strike="noStrike">
                <a:solidFill>
                  <a:srgbClr val="000000"/>
                </a:solidFill>
                <a:latin typeface="Arial"/>
              </a:rPr>
              <a:t>Pulse para editar el formato de las notas</a:t>
            </a:r>
            <a:endParaRPr b="0" lang="es-AR" sz="2000" spc="-1" strike="noStrike">
              <a:solidFill>
                <a:srgbClr val="000000"/>
              </a:solidFill>
              <a:latin typeface="Arial"/>
            </a:endParaRPr>
          </a:p>
        </p:txBody>
      </p:sp>
      <p:sp>
        <p:nvSpPr>
          <p:cNvPr id="19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AR" sz="1400" spc="-1" strike="noStrike">
                <a:solidFill>
                  <a:srgbClr val="000000"/>
                </a:solidFill>
                <a:latin typeface="Times New Roman"/>
              </a:rPr>
              <a:t>&lt;cabecera&gt;</a:t>
            </a:r>
            <a:endParaRPr b="0" lang="es-AR" sz="1400" spc="-1" strike="noStrike">
              <a:solidFill>
                <a:srgbClr val="000000"/>
              </a:solidFill>
              <a:latin typeface="Times New Roman"/>
            </a:endParaRPr>
          </a:p>
        </p:txBody>
      </p:sp>
      <p:sp>
        <p:nvSpPr>
          <p:cNvPr id="19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s-AR" sz="1400" spc="-1" strike="noStrike">
                <a:solidFill>
                  <a:srgbClr val="000000"/>
                </a:solidFill>
                <a:latin typeface="Times New Roman"/>
              </a:defRPr>
            </a:lvl1pPr>
          </a:lstStyle>
          <a:p>
            <a:pPr indent="0" algn="r">
              <a:buNone/>
            </a:pPr>
            <a:r>
              <a:rPr b="0" lang="es-AR" sz="1400" spc="-1" strike="noStrike">
                <a:solidFill>
                  <a:srgbClr val="000000"/>
                </a:solidFill>
                <a:latin typeface="Times New Roman"/>
              </a:rPr>
              <a:t>&lt;fecha/hora&gt;</a:t>
            </a:r>
            <a:endParaRPr b="0" lang="es-AR" sz="1400" spc="-1" strike="noStrike">
              <a:solidFill>
                <a:srgbClr val="000000"/>
              </a:solidFill>
              <a:latin typeface="Times New Roman"/>
            </a:endParaRPr>
          </a:p>
        </p:txBody>
      </p:sp>
      <p:sp>
        <p:nvSpPr>
          <p:cNvPr id="19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s-AR" sz="1400" spc="-1" strike="noStrike">
                <a:solidFill>
                  <a:srgbClr val="000000"/>
                </a:solidFill>
                <a:latin typeface="Times New Roman"/>
              </a:defRPr>
            </a:lvl1pPr>
          </a:lstStyle>
          <a:p>
            <a:pPr indent="0">
              <a:buNone/>
            </a:pPr>
            <a:r>
              <a:rPr b="0" lang="es-AR" sz="1400" spc="-1" strike="noStrike">
                <a:solidFill>
                  <a:srgbClr val="000000"/>
                </a:solidFill>
                <a:latin typeface="Times New Roman"/>
              </a:rPr>
              <a:t>&lt;pie de página&gt;</a:t>
            </a:r>
            <a:endParaRPr b="0" lang="es-AR" sz="1400" spc="-1" strike="noStrike">
              <a:solidFill>
                <a:srgbClr val="000000"/>
              </a:solidFill>
              <a:latin typeface="Times New Roman"/>
            </a:endParaRPr>
          </a:p>
        </p:txBody>
      </p:sp>
      <p:sp>
        <p:nvSpPr>
          <p:cNvPr id="19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s-AR" sz="1400" spc="-1" strike="noStrike">
                <a:solidFill>
                  <a:srgbClr val="000000"/>
                </a:solidFill>
                <a:latin typeface="Times New Roman"/>
              </a:defRPr>
            </a:lvl1pPr>
          </a:lstStyle>
          <a:p>
            <a:pPr indent="0" algn="r">
              <a:buNone/>
            </a:pPr>
            <a:fld id="{F3A034B2-6F12-4087-8ABC-A1A87ADA70F3}" type="slidenum">
              <a:rPr b="0" lang="es-AR" sz="1400" spc="-1" strike="noStrike">
                <a:solidFill>
                  <a:srgbClr val="000000"/>
                </a:solidFill>
                <a:latin typeface="Times New Roman"/>
              </a:rPr>
              <a:t>&lt;número&gt;</a:t>
            </a:fld>
            <a:endParaRPr b="0" lang="es-A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381240" y="685800"/>
            <a:ext cx="6093720" cy="3426840"/>
          </a:xfrm>
          <a:prstGeom prst="rect">
            <a:avLst/>
          </a:prstGeom>
          <a:ln w="0">
            <a:noFill/>
          </a:ln>
        </p:spPr>
      </p:sp>
      <p:sp>
        <p:nvSpPr>
          <p:cNvPr id="324" name="PlaceHolder 2"/>
          <p:cNvSpPr>
            <a:spLocks noGrp="1"/>
          </p:cNvSpPr>
          <p:nvPr>
            <p:ph type="body"/>
          </p:nvPr>
        </p:nvSpPr>
        <p:spPr>
          <a:xfrm>
            <a:off x="685800" y="4343400"/>
            <a:ext cx="5484240" cy="4112640"/>
          </a:xfrm>
          <a:prstGeom prst="rect">
            <a:avLst/>
          </a:prstGeom>
          <a:noFill/>
          <a:ln w="0">
            <a:noFill/>
          </a:ln>
        </p:spPr>
        <p:txBody>
          <a:bodyPr lIns="0" rIns="0" tIns="91440" bIns="91440" anchor="t">
            <a:noAutofit/>
          </a:bodyPr>
          <a:p>
            <a:pPr marL="216000" indent="-216000">
              <a:lnSpc>
                <a:spcPct val="100000"/>
              </a:lnSpc>
              <a:buNone/>
              <a:tabLst>
                <a:tab algn="l" pos="0"/>
              </a:tabLst>
            </a:pPr>
            <a:r>
              <a:rPr b="0" lang="es-AR" sz="1200" spc="-1" strike="noStrike">
                <a:solidFill>
                  <a:srgbClr val="000000"/>
                </a:solidFill>
                <a:latin typeface="Calibri"/>
                <a:ea typeface="Calibri"/>
              </a:rPr>
              <a:t>El cálculo lambda es un sistema formal diseñado para investigar la definición de función, la noción de aplicación de funciones y la recursión. Fue introducido por Alonzo Church y Stephen Kleene en la década de 1930; Church usó el cálculo lambda en 1936 para resolver el Entscheidungsproblem. Puede ser usado para definir de manera limpia y precisa qué es una "función computable".</a:t>
            </a:r>
            <a:endParaRPr b="0" lang="es-AR" sz="1200" spc="-1" strike="noStrike">
              <a:solidFill>
                <a:srgbClr val="000000"/>
              </a:solidFill>
              <a:latin typeface="Arial"/>
            </a:endParaRPr>
          </a:p>
          <a:p>
            <a:pPr marL="216000" indent="-216000">
              <a:lnSpc>
                <a:spcPct val="100000"/>
              </a:lnSpc>
              <a:buNone/>
              <a:tabLst>
                <a:tab algn="l" pos="0"/>
              </a:tabLst>
            </a:pPr>
            <a:endParaRPr b="0" lang="es-AR" sz="1200" spc="-1" strike="noStrike">
              <a:solidFill>
                <a:srgbClr val="000000"/>
              </a:solidFill>
              <a:latin typeface="Arial"/>
            </a:endParaRPr>
          </a:p>
          <a:p>
            <a:pPr marL="216000" indent="-216000">
              <a:lnSpc>
                <a:spcPct val="100000"/>
              </a:lnSpc>
              <a:buNone/>
              <a:tabLst>
                <a:tab algn="l" pos="0"/>
              </a:tabLst>
            </a:pPr>
            <a:r>
              <a:rPr b="0" lang="es-AR" sz="1200" spc="-1" strike="noStrike">
                <a:solidFill>
                  <a:srgbClr val="000000"/>
                </a:solidFill>
                <a:latin typeface="Calibri"/>
                <a:ea typeface="Calibri"/>
              </a:rPr>
              <a:t>El interrogante de si dos expresiones del cálculo lambda son equivalentes no puede ser resuelto por un algoritmo general. Esta fue la primera pregunta, incluso antes que el problema de la parada, cuya indecidibilidad fue probada. El cálculo lambda tiene una gran influencia sobre los lenguajes funcionales, como Lisp, ML y Haskell.</a:t>
            </a:r>
            <a:endParaRPr b="0" lang="es-AR" sz="1200" spc="-1" strike="noStrike">
              <a:solidFill>
                <a:srgbClr val="000000"/>
              </a:solidFill>
              <a:latin typeface="Arial"/>
            </a:endParaRPr>
          </a:p>
          <a:p>
            <a:pPr marL="216000" indent="-216000">
              <a:lnSpc>
                <a:spcPct val="100000"/>
              </a:lnSpc>
              <a:buNone/>
              <a:tabLst>
                <a:tab algn="l" pos="0"/>
              </a:tabLst>
            </a:pPr>
            <a:endParaRPr b="0" lang="es-AR" sz="1200" spc="-1" strike="noStrike">
              <a:solidFill>
                <a:srgbClr val="000000"/>
              </a:solidFill>
              <a:latin typeface="Arial"/>
            </a:endParaRPr>
          </a:p>
          <a:p>
            <a:pPr marL="216000" indent="-216000">
              <a:lnSpc>
                <a:spcPct val="100000"/>
              </a:lnSpc>
              <a:buNone/>
              <a:tabLst>
                <a:tab algn="l" pos="0"/>
              </a:tabLst>
            </a:pPr>
            <a:r>
              <a:rPr b="0" lang="es-AR" sz="1200" spc="-1" strike="noStrike">
                <a:solidFill>
                  <a:srgbClr val="000000"/>
                </a:solidFill>
                <a:latin typeface="Calibri"/>
                <a:ea typeface="Calibri"/>
              </a:rPr>
              <a:t>Se puede considerar al cálculo lambda como el lenguaje universal de programación más pequeño. Consiste en una regla de transformación simple (sustitución de variables) y un esquema simple para definir funciones.</a:t>
            </a:r>
            <a:endParaRPr b="0" lang="es-AR" sz="1200" spc="-1" strike="noStrike">
              <a:solidFill>
                <a:srgbClr val="000000"/>
              </a:solidFill>
              <a:latin typeface="Arial"/>
            </a:endParaRPr>
          </a:p>
          <a:p>
            <a:pPr marL="216000" indent="-216000">
              <a:lnSpc>
                <a:spcPct val="100000"/>
              </a:lnSpc>
              <a:buNone/>
              <a:tabLst>
                <a:tab algn="l" pos="0"/>
              </a:tabLst>
            </a:pPr>
            <a:endParaRPr b="0" lang="es-AR" sz="1200" spc="-1" strike="noStrike">
              <a:solidFill>
                <a:srgbClr val="000000"/>
              </a:solidFill>
              <a:latin typeface="Arial"/>
            </a:endParaRPr>
          </a:p>
          <a:p>
            <a:pPr marL="216000" indent="-216000">
              <a:lnSpc>
                <a:spcPct val="100000"/>
              </a:lnSpc>
              <a:buNone/>
              <a:tabLst>
                <a:tab algn="l" pos="0"/>
              </a:tabLst>
            </a:pPr>
            <a:r>
              <a:rPr b="0" lang="es-AR" sz="1200" spc="-1" strike="noStrike">
                <a:solidFill>
                  <a:srgbClr val="000000"/>
                </a:solidFill>
                <a:latin typeface="Calibri"/>
                <a:ea typeface="Calibri"/>
              </a:rPr>
              <a:t>El cálculo lambda es universal porque cualquier función computable puede ser expresada y evaluada a través de él. Por lo tanto, es equivalente a las máquinas de Turing. Sin embargo, el cálculo lambda no hace énfasis en el uso de reglas de transformación y no considera las máquinas reales que pueden implementarlo. Se trata de una propuesta más cercana al software que al hardware.</a:t>
            </a:r>
            <a:endParaRPr b="0" lang="es-AR" sz="1200" spc="-1" strike="noStrike">
              <a:solidFill>
                <a:srgbClr val="000000"/>
              </a:solidFill>
              <a:latin typeface="Arial"/>
            </a:endParaRPr>
          </a:p>
          <a:p>
            <a:pPr marL="216000" indent="-216000">
              <a:lnSpc>
                <a:spcPct val="100000"/>
              </a:lnSpc>
              <a:buNone/>
              <a:tabLst>
                <a:tab algn="l" pos="0"/>
              </a:tabLst>
            </a:pPr>
            <a:endParaRPr b="0" lang="es-AR" sz="1200" spc="-1" strike="noStrike">
              <a:solidFill>
                <a:srgbClr val="000000"/>
              </a:solidFill>
              <a:latin typeface="Arial"/>
            </a:endParaRPr>
          </a:p>
          <a:p>
            <a:pPr marL="216000" indent="-216000">
              <a:lnSpc>
                <a:spcPct val="100000"/>
              </a:lnSpc>
              <a:buNone/>
              <a:tabLst>
                <a:tab algn="l" pos="0"/>
              </a:tabLst>
            </a:pPr>
            <a:r>
              <a:rPr b="0" lang="es-AR" sz="1200" spc="-1" strike="noStrike">
                <a:solidFill>
                  <a:srgbClr val="000000"/>
                </a:solidFill>
                <a:latin typeface="Calibri"/>
                <a:ea typeface="Calibri"/>
              </a:rPr>
              <a:t>Este artículo se enfocará sobre el cálculo lambda sin tipos, como fue diseñado originalmente por Church. Desde entonces, algunos cálculo lambda tipados fueron creados.</a:t>
            </a:r>
            <a:endParaRPr b="0" lang="es-AR"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2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3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3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4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4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5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5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5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6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6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6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7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1">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7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7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2">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8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8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8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8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5">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9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6">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0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7">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0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0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8">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9">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10">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1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1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1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11">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2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2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Predeterminado 12">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3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3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3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Predeterminado 13">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4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4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Predeterminado 14">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4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4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5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5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Predeterminado 17">
    <p:spTree>
      <p:nvGrpSpPr>
        <p:cNvPr id="1" name=""/>
        <p:cNvGrpSpPr/>
        <p:nvPr/>
      </p:nvGrpSpPr>
      <p:grpSpPr>
        <a:xfrm>
          <a:off x="0" y="0"/>
          <a:ext cx="0" cy="0"/>
          <a:chOff x="0" y="0"/>
          <a:chExt cx="0" cy="0"/>
        </a:xfrm>
      </p:grpSpPr>
      <p:sp>
        <p:nvSpPr>
          <p:cNvPr id="1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6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18">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6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9">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7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7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0">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Predeterminado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Predeterminado 22">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8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Predeterminado 23">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s-AR" sz="4400" spc="-1" strike="noStrike">
              <a:solidFill>
                <a:srgbClr val="000000"/>
              </a:solidFill>
              <a:latin typeface="Arial"/>
            </a:endParaRPr>
          </a:p>
        </p:txBody>
      </p:sp>
      <p:sp>
        <p:nvSpPr>
          <p:cNvPr id="18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9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
        <p:nvSpPr>
          <p:cNvPr id="19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s-AR"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a:t>
            </a:r>
            <a:r>
              <a:rPr b="0" lang="es-AR" sz="1800" spc="-1" strike="noStrike">
                <a:solidFill>
                  <a:srgbClr val="000000"/>
                </a:solidFill>
                <a:latin typeface="Arial"/>
              </a:rPr>
              <a:t>texto de título</a:t>
            </a:r>
            <a:endParaRPr b="0" lang="es-AR" sz="1800" spc="-1" strike="noStrike">
              <a:solidFill>
                <a:srgbClr val="000000"/>
              </a:solidFill>
              <a:latin typeface="Arial"/>
            </a:endParaRPr>
          </a:p>
        </p:txBody>
      </p:sp>
      <p:sp>
        <p:nvSpPr>
          <p:cNvPr id="1"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3"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a:t>
            </a:r>
            <a:r>
              <a:rPr b="0" lang="es-AR" sz="1800" spc="-1" strike="noStrike">
                <a:solidFill>
                  <a:srgbClr val="000000"/>
                </a:solidFill>
                <a:latin typeface="Arial"/>
              </a:rPr>
              <a:t>e </a:t>
            </a:r>
            <a:r>
              <a:rPr b="0" lang="es-AR" sz="1800" spc="-1" strike="noStrike">
                <a:solidFill>
                  <a:srgbClr val="000000"/>
                </a:solidFill>
                <a:latin typeface="Arial"/>
              </a:rPr>
              <a:t>para </a:t>
            </a:r>
            <a:r>
              <a:rPr b="0" lang="es-AR" sz="1800" spc="-1" strike="noStrike">
                <a:solidFill>
                  <a:srgbClr val="000000"/>
                </a:solidFill>
                <a:latin typeface="Arial"/>
              </a:rPr>
              <a:t>edita</a:t>
            </a:r>
            <a:r>
              <a:rPr b="0" lang="es-AR" sz="1800" spc="-1" strike="noStrike">
                <a:solidFill>
                  <a:srgbClr val="000000"/>
                </a:solidFill>
                <a:latin typeface="Arial"/>
              </a:rPr>
              <a:t>r el </a:t>
            </a:r>
            <a:r>
              <a:rPr b="0" lang="es-AR" sz="1800" spc="-1" strike="noStrike">
                <a:solidFill>
                  <a:srgbClr val="000000"/>
                </a:solidFill>
                <a:latin typeface="Arial"/>
              </a:rPr>
              <a:t>form</a:t>
            </a:r>
            <a:r>
              <a:rPr b="0" lang="es-AR" sz="1800" spc="-1" strike="noStrike">
                <a:solidFill>
                  <a:srgbClr val="000000"/>
                </a:solidFill>
                <a:latin typeface="Arial"/>
              </a:rPr>
              <a:t>ato </a:t>
            </a:r>
            <a:r>
              <a:rPr b="0" lang="es-AR" sz="1800" spc="-1" strike="noStrike">
                <a:solidFill>
                  <a:srgbClr val="000000"/>
                </a:solidFill>
                <a:latin typeface="Arial"/>
              </a:rPr>
              <a:t>del </a:t>
            </a:r>
            <a:r>
              <a:rPr b="0" lang="es-AR" sz="1800" spc="-1" strike="noStrike">
                <a:solidFill>
                  <a:srgbClr val="000000"/>
                </a:solidFill>
                <a:latin typeface="Arial"/>
              </a:rPr>
              <a:t>texto </a:t>
            </a:r>
            <a:r>
              <a:rPr b="0" lang="es-AR" sz="1800" spc="-1" strike="noStrike">
                <a:solidFill>
                  <a:srgbClr val="000000"/>
                </a:solidFill>
                <a:latin typeface="Arial"/>
              </a:rPr>
              <a:t>de </a:t>
            </a:r>
            <a:r>
              <a:rPr b="0" lang="es-AR" sz="1800" spc="-1" strike="noStrike">
                <a:solidFill>
                  <a:srgbClr val="000000"/>
                </a:solidFill>
                <a:latin typeface="Arial"/>
              </a:rPr>
              <a:t>título</a:t>
            </a:r>
            <a:endParaRPr b="0" lang="es-AR" sz="1800" spc="-1" strike="noStrike">
              <a:solidFill>
                <a:srgbClr val="000000"/>
              </a:solidFill>
              <a:latin typeface="Arial"/>
            </a:endParaRPr>
          </a:p>
        </p:txBody>
      </p:sp>
      <p:sp>
        <p:nvSpPr>
          <p:cNvPr id="9"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0"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a:t>
            </a:r>
            <a:r>
              <a:rPr b="0" lang="es-AR" sz="1800" spc="-1" strike="noStrike">
                <a:solidFill>
                  <a:srgbClr val="000000"/>
                </a:solidFill>
                <a:latin typeface="Arial"/>
              </a:rPr>
              <a:t>e </a:t>
            </a:r>
            <a:r>
              <a:rPr b="0" lang="es-AR" sz="1800" spc="-1" strike="noStrike">
                <a:solidFill>
                  <a:srgbClr val="000000"/>
                </a:solidFill>
                <a:latin typeface="Arial"/>
              </a:rPr>
              <a:t>para </a:t>
            </a:r>
            <a:r>
              <a:rPr b="0" lang="es-AR" sz="1800" spc="-1" strike="noStrike">
                <a:solidFill>
                  <a:srgbClr val="000000"/>
                </a:solidFill>
                <a:latin typeface="Arial"/>
              </a:rPr>
              <a:t>edita</a:t>
            </a:r>
            <a:r>
              <a:rPr b="0" lang="es-AR" sz="1800" spc="-1" strike="noStrike">
                <a:solidFill>
                  <a:srgbClr val="000000"/>
                </a:solidFill>
                <a:latin typeface="Arial"/>
              </a:rPr>
              <a:t>r el </a:t>
            </a:r>
            <a:r>
              <a:rPr b="0" lang="es-AR" sz="1800" spc="-1" strike="noStrike">
                <a:solidFill>
                  <a:srgbClr val="000000"/>
                </a:solidFill>
                <a:latin typeface="Arial"/>
              </a:rPr>
              <a:t>form</a:t>
            </a:r>
            <a:r>
              <a:rPr b="0" lang="es-AR" sz="1800" spc="-1" strike="noStrike">
                <a:solidFill>
                  <a:srgbClr val="000000"/>
                </a:solidFill>
                <a:latin typeface="Arial"/>
              </a:rPr>
              <a:t>ato </a:t>
            </a:r>
            <a:r>
              <a:rPr b="0" lang="es-AR" sz="1800" spc="-1" strike="noStrike">
                <a:solidFill>
                  <a:srgbClr val="000000"/>
                </a:solidFill>
                <a:latin typeface="Arial"/>
              </a:rPr>
              <a:t>del </a:t>
            </a:r>
            <a:r>
              <a:rPr b="0" lang="es-AR" sz="1800" spc="-1" strike="noStrike">
                <a:solidFill>
                  <a:srgbClr val="000000"/>
                </a:solidFill>
                <a:latin typeface="Arial"/>
              </a:rPr>
              <a:t>texto </a:t>
            </a:r>
            <a:r>
              <a:rPr b="0" lang="es-AR" sz="1800" spc="-1" strike="noStrike">
                <a:solidFill>
                  <a:srgbClr val="000000"/>
                </a:solidFill>
                <a:latin typeface="Arial"/>
              </a:rPr>
              <a:t>de </a:t>
            </a:r>
            <a:r>
              <a:rPr b="0" lang="es-AR" sz="1800" spc="-1" strike="noStrike">
                <a:solidFill>
                  <a:srgbClr val="000000"/>
                </a:solidFill>
                <a:latin typeface="Arial"/>
              </a:rPr>
              <a:t>título</a:t>
            </a:r>
            <a:endParaRPr b="0" lang="es-AR" sz="1800" spc="-1" strike="noStrike">
              <a:solidFill>
                <a:srgbClr val="000000"/>
              </a:solidFill>
              <a:latin typeface="Arial"/>
            </a:endParaRPr>
          </a:p>
        </p:txBody>
      </p:sp>
      <p:sp>
        <p:nvSpPr>
          <p:cNvPr id="1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7"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8"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25"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26"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27"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28"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29"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30"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AR" sz="4400" spc="-1" strike="noStrike">
                <a:solidFill>
                  <a:srgbClr val="000000"/>
                </a:solidFill>
                <a:latin typeface="Arial"/>
              </a:rPr>
              <a:t>Pulse para editar el formato del </a:t>
            </a:r>
            <a:r>
              <a:rPr b="0" lang="es-AR" sz="4400" spc="-1" strike="noStrike">
                <a:solidFill>
                  <a:srgbClr val="000000"/>
                </a:solidFill>
                <a:latin typeface="Arial"/>
              </a:rPr>
              <a:t>texto de título</a:t>
            </a:r>
            <a:endParaRPr b="0" lang="es-AR" sz="4400" spc="-1" strike="noStrike">
              <a:solidFill>
                <a:srgbClr val="000000"/>
              </a:solidFill>
              <a:latin typeface="Arial"/>
            </a:endParaRPr>
          </a:p>
        </p:txBody>
      </p:sp>
      <p:sp>
        <p:nvSpPr>
          <p:cNvPr id="3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3200" spc="-1" strike="noStrike">
                <a:solidFill>
                  <a:srgbClr val="000000"/>
                </a:solidFill>
                <a:latin typeface="Arial"/>
              </a:rPr>
              <a:t>Pulse para editar el formato de texto del esquema</a:t>
            </a:r>
            <a:endParaRPr b="0" lang="es-A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800" spc="-1" strike="noStrike">
                <a:solidFill>
                  <a:srgbClr val="000000"/>
                </a:solidFill>
                <a:latin typeface="Arial"/>
              </a:rPr>
              <a:t>Segundo nivel del esquema</a:t>
            </a:r>
            <a:endParaRPr b="0" lang="es-A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400" spc="-1" strike="noStrike">
                <a:solidFill>
                  <a:srgbClr val="000000"/>
                </a:solidFill>
                <a:latin typeface="Arial"/>
              </a:rPr>
              <a:t>Tercer nivel del esquema</a:t>
            </a:r>
            <a:endParaRPr b="0" lang="es-A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37"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a:t>
            </a:r>
            <a:r>
              <a:rPr b="0" lang="es-AR" sz="1800" spc="-1" strike="noStrike">
                <a:solidFill>
                  <a:srgbClr val="000000"/>
                </a:solidFill>
                <a:latin typeface="Arial"/>
              </a:rPr>
              <a:t>e </a:t>
            </a:r>
            <a:r>
              <a:rPr b="0" lang="es-AR" sz="1800" spc="-1" strike="noStrike">
                <a:solidFill>
                  <a:srgbClr val="000000"/>
                </a:solidFill>
                <a:latin typeface="Arial"/>
              </a:rPr>
              <a:t>para </a:t>
            </a:r>
            <a:r>
              <a:rPr b="0" lang="es-AR" sz="1800" spc="-1" strike="noStrike">
                <a:solidFill>
                  <a:srgbClr val="000000"/>
                </a:solidFill>
                <a:latin typeface="Arial"/>
              </a:rPr>
              <a:t>edita</a:t>
            </a:r>
            <a:r>
              <a:rPr b="0" lang="es-AR" sz="1800" spc="-1" strike="noStrike">
                <a:solidFill>
                  <a:srgbClr val="000000"/>
                </a:solidFill>
                <a:latin typeface="Arial"/>
              </a:rPr>
              <a:t>r el </a:t>
            </a:r>
            <a:r>
              <a:rPr b="0" lang="es-AR" sz="1800" spc="-1" strike="noStrike">
                <a:solidFill>
                  <a:srgbClr val="000000"/>
                </a:solidFill>
                <a:latin typeface="Arial"/>
              </a:rPr>
              <a:t>form</a:t>
            </a:r>
            <a:r>
              <a:rPr b="0" lang="es-AR" sz="1800" spc="-1" strike="noStrike">
                <a:solidFill>
                  <a:srgbClr val="000000"/>
                </a:solidFill>
                <a:latin typeface="Arial"/>
              </a:rPr>
              <a:t>ato </a:t>
            </a:r>
            <a:r>
              <a:rPr b="0" lang="es-AR" sz="1800" spc="-1" strike="noStrike">
                <a:solidFill>
                  <a:srgbClr val="000000"/>
                </a:solidFill>
                <a:latin typeface="Arial"/>
              </a:rPr>
              <a:t>del </a:t>
            </a:r>
            <a:r>
              <a:rPr b="0" lang="es-AR" sz="1800" spc="-1" strike="noStrike">
                <a:solidFill>
                  <a:srgbClr val="000000"/>
                </a:solidFill>
                <a:latin typeface="Arial"/>
              </a:rPr>
              <a:t>texto </a:t>
            </a:r>
            <a:r>
              <a:rPr b="0" lang="es-AR" sz="1800" spc="-1" strike="noStrike">
                <a:solidFill>
                  <a:srgbClr val="000000"/>
                </a:solidFill>
                <a:latin typeface="Arial"/>
              </a:rPr>
              <a:t>de </a:t>
            </a:r>
            <a:r>
              <a:rPr b="0" lang="es-AR" sz="1800" spc="-1" strike="noStrike">
                <a:solidFill>
                  <a:srgbClr val="000000"/>
                </a:solidFill>
                <a:latin typeface="Arial"/>
              </a:rPr>
              <a:t>título</a:t>
            </a:r>
            <a:endParaRPr b="0" lang="es-AR" sz="1800" spc="-1" strike="noStrike">
              <a:solidFill>
                <a:srgbClr val="000000"/>
              </a:solidFill>
              <a:latin typeface="Arial"/>
            </a:endParaRPr>
          </a:p>
        </p:txBody>
      </p:sp>
      <p:sp>
        <p:nvSpPr>
          <p:cNvPr id="4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42"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a:t>
            </a:r>
            <a:r>
              <a:rPr b="0" lang="es-AR" sz="1800" spc="-1" strike="noStrike">
                <a:solidFill>
                  <a:srgbClr val="000000"/>
                </a:solidFill>
                <a:latin typeface="Arial"/>
              </a:rPr>
              <a:t>e </a:t>
            </a:r>
            <a:r>
              <a:rPr b="0" lang="es-AR" sz="1800" spc="-1" strike="noStrike">
                <a:solidFill>
                  <a:srgbClr val="000000"/>
                </a:solidFill>
                <a:latin typeface="Arial"/>
              </a:rPr>
              <a:t>para </a:t>
            </a:r>
            <a:r>
              <a:rPr b="0" lang="es-AR" sz="1800" spc="-1" strike="noStrike">
                <a:solidFill>
                  <a:srgbClr val="000000"/>
                </a:solidFill>
                <a:latin typeface="Arial"/>
              </a:rPr>
              <a:t>edita</a:t>
            </a:r>
            <a:r>
              <a:rPr b="0" lang="es-AR" sz="1800" spc="-1" strike="noStrike">
                <a:solidFill>
                  <a:srgbClr val="000000"/>
                </a:solidFill>
                <a:latin typeface="Arial"/>
              </a:rPr>
              <a:t>r el </a:t>
            </a:r>
            <a:r>
              <a:rPr b="0" lang="es-AR" sz="1800" spc="-1" strike="noStrike">
                <a:solidFill>
                  <a:srgbClr val="000000"/>
                </a:solidFill>
                <a:latin typeface="Arial"/>
              </a:rPr>
              <a:t>form</a:t>
            </a:r>
            <a:r>
              <a:rPr b="0" lang="es-AR" sz="1800" spc="-1" strike="noStrike">
                <a:solidFill>
                  <a:srgbClr val="000000"/>
                </a:solidFill>
                <a:latin typeface="Arial"/>
              </a:rPr>
              <a:t>ato </a:t>
            </a:r>
            <a:r>
              <a:rPr b="0" lang="es-AR" sz="1800" spc="-1" strike="noStrike">
                <a:solidFill>
                  <a:srgbClr val="000000"/>
                </a:solidFill>
                <a:latin typeface="Arial"/>
              </a:rPr>
              <a:t>del </a:t>
            </a:r>
            <a:r>
              <a:rPr b="0" lang="es-AR" sz="1800" spc="-1" strike="noStrike">
                <a:solidFill>
                  <a:srgbClr val="000000"/>
                </a:solidFill>
                <a:latin typeface="Arial"/>
              </a:rPr>
              <a:t>texto </a:t>
            </a:r>
            <a:r>
              <a:rPr b="0" lang="es-AR" sz="1800" spc="-1" strike="noStrike">
                <a:solidFill>
                  <a:srgbClr val="000000"/>
                </a:solidFill>
                <a:latin typeface="Arial"/>
              </a:rPr>
              <a:t>de </a:t>
            </a:r>
            <a:r>
              <a:rPr b="0" lang="es-AR" sz="1800" spc="-1" strike="noStrike">
                <a:solidFill>
                  <a:srgbClr val="000000"/>
                </a:solidFill>
                <a:latin typeface="Arial"/>
              </a:rPr>
              <a:t>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4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50"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5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57"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58"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59"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65"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6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67"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73"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74"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7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8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81"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82"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89"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90"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91"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92"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93"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94"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AR" sz="4400" spc="-1" strike="noStrike">
                <a:solidFill>
                  <a:srgbClr val="000000"/>
                </a:solidFill>
                <a:latin typeface="Arial"/>
              </a:rPr>
              <a:t>Pulse para editar el formato del texto de título</a:t>
            </a:r>
            <a:endParaRPr b="0" lang="es-AR" sz="4400" spc="-1" strike="noStrike">
              <a:solidFill>
                <a:srgbClr val="000000"/>
              </a:solidFill>
              <a:latin typeface="Arial"/>
            </a:endParaRPr>
          </a:p>
        </p:txBody>
      </p:sp>
      <p:sp>
        <p:nvSpPr>
          <p:cNvPr id="96"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3200" spc="-1" strike="noStrike">
                <a:solidFill>
                  <a:srgbClr val="000000"/>
                </a:solidFill>
                <a:latin typeface="Arial"/>
              </a:rPr>
              <a:t>Pulse para editar el formato de texto del esquema</a:t>
            </a:r>
            <a:endParaRPr b="0" lang="es-A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800" spc="-1" strike="noStrike">
                <a:solidFill>
                  <a:srgbClr val="000000"/>
                </a:solidFill>
                <a:latin typeface="Arial"/>
              </a:rPr>
              <a:t>Segundo nivel del esquema</a:t>
            </a:r>
            <a:endParaRPr b="0" lang="es-A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400" spc="-1" strike="noStrike">
                <a:solidFill>
                  <a:srgbClr val="000000"/>
                </a:solidFill>
                <a:latin typeface="Arial"/>
              </a:rPr>
              <a:t>Tercer nivel del esquema</a:t>
            </a:r>
            <a:endParaRPr b="0" lang="es-A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01"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0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06"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1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1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1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21"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22"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23"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29"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30"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31" name="PlaceHolder 4"/>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37" name="PlaceHolder 2"/>
          <p:cNvSpPr>
            <a:spLocks noGrp="1"/>
          </p:cNvSpPr>
          <p:nvPr>
            <p:ph type="body"/>
          </p:nvPr>
        </p:nvSpPr>
        <p:spPr>
          <a:xfrm>
            <a:off x="457200" y="160452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38" name="PlaceHolder 3"/>
          <p:cNvSpPr>
            <a:spLocks noGrp="1"/>
          </p:cNvSpPr>
          <p:nvPr>
            <p:ph type="body"/>
          </p:nvPr>
        </p:nvSpPr>
        <p:spPr>
          <a:xfrm>
            <a:off x="457200" y="3682080"/>
            <a:ext cx="8228880" cy="189648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43"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44"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45"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46" name="PlaceHolder 5"/>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53" name="PlaceHolder 2"/>
          <p:cNvSpPr>
            <a:spLocks noGrp="1"/>
          </p:cNvSpPr>
          <p:nvPr>
            <p:ph type="body"/>
          </p:nvPr>
        </p:nvSpPr>
        <p:spPr>
          <a:xfrm>
            <a:off x="45720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54" name="PlaceHolder 3"/>
          <p:cNvSpPr>
            <a:spLocks noGrp="1"/>
          </p:cNvSpPr>
          <p:nvPr>
            <p:ph type="body"/>
          </p:nvPr>
        </p:nvSpPr>
        <p:spPr>
          <a:xfrm>
            <a:off x="323964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55" name="PlaceHolder 4"/>
          <p:cNvSpPr>
            <a:spLocks noGrp="1"/>
          </p:cNvSpPr>
          <p:nvPr>
            <p:ph type="body"/>
          </p:nvPr>
        </p:nvSpPr>
        <p:spPr>
          <a:xfrm>
            <a:off x="6022080" y="160452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56" name="PlaceHolder 5"/>
          <p:cNvSpPr>
            <a:spLocks noGrp="1"/>
          </p:cNvSpPr>
          <p:nvPr>
            <p:ph type="body"/>
          </p:nvPr>
        </p:nvSpPr>
        <p:spPr>
          <a:xfrm>
            <a:off x="45720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57" name="PlaceHolder 6"/>
          <p:cNvSpPr>
            <a:spLocks noGrp="1"/>
          </p:cNvSpPr>
          <p:nvPr>
            <p:ph type="body"/>
          </p:nvPr>
        </p:nvSpPr>
        <p:spPr>
          <a:xfrm>
            <a:off x="323964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58" name="PlaceHolder 7"/>
          <p:cNvSpPr>
            <a:spLocks noGrp="1"/>
          </p:cNvSpPr>
          <p:nvPr>
            <p:ph type="body"/>
          </p:nvPr>
        </p:nvSpPr>
        <p:spPr>
          <a:xfrm>
            <a:off x="6022080" y="3682080"/>
            <a:ext cx="2649240" cy="1896480"/>
          </a:xfrm>
          <a:prstGeom prst="rect">
            <a:avLst/>
          </a:prstGeom>
          <a:noFill/>
          <a:ln w="0">
            <a:noFill/>
          </a:ln>
        </p:spPr>
        <p:txBody>
          <a:bodyPr lIns="0" rIns="0" tIns="0" bIns="0" anchor="t">
            <a:normAutofit fontScale="18333" lnSpcReduction="2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s-AR" sz="4400" spc="-1" strike="noStrike">
                <a:solidFill>
                  <a:srgbClr val="000000"/>
                </a:solidFill>
                <a:latin typeface="Arial"/>
              </a:rPr>
              <a:t>Pulse para editar el formato del texto de título</a:t>
            </a:r>
            <a:endParaRPr b="0" lang="es-AR" sz="4400" spc="-1" strike="noStrike">
              <a:solidFill>
                <a:srgbClr val="000000"/>
              </a:solidFill>
              <a:latin typeface="Arial"/>
            </a:endParaRPr>
          </a:p>
        </p:txBody>
      </p:sp>
      <p:sp>
        <p:nvSpPr>
          <p:cNvPr id="16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3200" spc="-1" strike="noStrike">
                <a:solidFill>
                  <a:srgbClr val="000000"/>
                </a:solidFill>
                <a:latin typeface="Arial"/>
              </a:rPr>
              <a:t>Pulse para editar el formato de texto del esquema</a:t>
            </a:r>
            <a:endParaRPr b="0" lang="es-A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2800" spc="-1" strike="noStrike">
                <a:solidFill>
                  <a:srgbClr val="000000"/>
                </a:solidFill>
                <a:latin typeface="Arial"/>
              </a:rPr>
              <a:t>Segundo nivel del esquema</a:t>
            </a:r>
            <a:endParaRPr b="0" lang="es-A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2400" spc="-1" strike="noStrike">
                <a:solidFill>
                  <a:srgbClr val="000000"/>
                </a:solidFill>
                <a:latin typeface="Arial"/>
              </a:rPr>
              <a:t>Tercer nivel del esquema</a:t>
            </a:r>
            <a:endParaRPr b="0" lang="es-A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2000" spc="-1" strike="noStrike">
                <a:solidFill>
                  <a:srgbClr val="000000"/>
                </a:solidFill>
                <a:latin typeface="Arial"/>
              </a:rPr>
              <a:t>Cuarto nivel del esquema</a:t>
            </a:r>
            <a:endParaRPr b="0" lang="es-A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2000" spc="-1" strike="noStrike">
                <a:solidFill>
                  <a:srgbClr val="000000"/>
                </a:solidFill>
                <a:latin typeface="Arial"/>
              </a:rPr>
              <a:t>Quinto nivel del esquema</a:t>
            </a:r>
            <a:endParaRPr b="0" lang="es-A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2000" spc="-1" strike="noStrike">
                <a:solidFill>
                  <a:srgbClr val="000000"/>
                </a:solidFill>
                <a:latin typeface="Arial"/>
              </a:rPr>
              <a:t>Sexto nivel del esquema</a:t>
            </a:r>
            <a:endParaRPr b="0" lang="es-A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2000" spc="-1" strike="noStrike">
                <a:solidFill>
                  <a:srgbClr val="000000"/>
                </a:solidFill>
                <a:latin typeface="Arial"/>
              </a:rPr>
              <a:t>Séptimo nivel del esquema</a:t>
            </a:r>
            <a:endParaRPr b="0" lang="es-A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6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69"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70"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77" name="PlaceHolder 2"/>
          <p:cNvSpPr>
            <a:spLocks noGrp="1"/>
          </p:cNvSpPr>
          <p:nvPr>
            <p:ph type="body"/>
          </p:nvPr>
        </p:nvSpPr>
        <p:spPr>
          <a:xfrm>
            <a:off x="45720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78"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79" name="PlaceHolder 4"/>
          <p:cNvSpPr>
            <a:spLocks noGrp="1"/>
          </p:cNvSpPr>
          <p:nvPr>
            <p:ph type="body"/>
          </p:nvPr>
        </p:nvSpPr>
        <p:spPr>
          <a:xfrm>
            <a:off x="45720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s-AR" sz="1800" spc="-1" strike="noStrike">
                <a:solidFill>
                  <a:srgbClr val="000000"/>
                </a:solidFill>
                <a:latin typeface="Arial"/>
              </a:rPr>
              <a:t>Pulse para editar el formato del texto de título</a:t>
            </a:r>
            <a:endParaRPr b="0" lang="es-AR" sz="1800" spc="-1" strike="noStrike">
              <a:solidFill>
                <a:srgbClr val="000000"/>
              </a:solidFill>
              <a:latin typeface="Arial"/>
            </a:endParaRPr>
          </a:p>
        </p:txBody>
      </p:sp>
      <p:sp>
        <p:nvSpPr>
          <p:cNvPr id="185"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fontScale="93333"/>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86" name="PlaceHolder 3"/>
          <p:cNvSpPr>
            <a:spLocks noGrp="1"/>
          </p:cNvSpPr>
          <p:nvPr>
            <p:ph type="body"/>
          </p:nvPr>
        </p:nvSpPr>
        <p:spPr>
          <a:xfrm>
            <a:off x="4674240" y="160452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
        <p:nvSpPr>
          <p:cNvPr id="187" name="PlaceHolder 4"/>
          <p:cNvSpPr>
            <a:spLocks noGrp="1"/>
          </p:cNvSpPr>
          <p:nvPr>
            <p:ph type="body"/>
          </p:nvPr>
        </p:nvSpPr>
        <p:spPr>
          <a:xfrm>
            <a:off x="4674240" y="3682080"/>
            <a:ext cx="4015440" cy="1896480"/>
          </a:xfrm>
          <a:prstGeom prst="rect">
            <a:avLst/>
          </a:prstGeom>
          <a:noFill/>
          <a:ln w="0">
            <a:noFill/>
          </a:ln>
        </p:spPr>
        <p:txBody>
          <a:bodyPr lIns="0" rIns="0" tIns="0" bIns="0" anchor="t">
            <a:normAutofit fontScale="62222" lnSpcReduction="10000"/>
          </a:bodyPr>
          <a:p>
            <a:pPr marL="432000" indent="-324000">
              <a:spcBef>
                <a:spcPts val="1417"/>
              </a:spcBef>
              <a:buClr>
                <a:srgbClr val="000000"/>
              </a:buClr>
              <a:buSzPct val="45000"/>
              <a:buFont typeface="Wingdings" charset="2"/>
              <a:buChar char=""/>
            </a:pPr>
            <a:r>
              <a:rPr b="0" lang="es-AR" sz="1800" spc="-1" strike="noStrike">
                <a:solidFill>
                  <a:srgbClr val="000000"/>
                </a:solidFill>
                <a:latin typeface="Arial"/>
              </a:rPr>
              <a:t>Pulse para editar el formato de texto del esquema</a:t>
            </a:r>
            <a:endParaRPr b="0" lang="es-A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AR" sz="1800" spc="-1" strike="noStrike">
                <a:solidFill>
                  <a:srgbClr val="000000"/>
                </a:solidFill>
                <a:latin typeface="Arial"/>
              </a:rPr>
              <a:t>Segundo nivel del esquema</a:t>
            </a:r>
            <a:endParaRPr b="0" lang="es-A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AR" sz="1800" spc="-1" strike="noStrike">
                <a:solidFill>
                  <a:srgbClr val="000000"/>
                </a:solidFill>
                <a:latin typeface="Arial"/>
              </a:rPr>
              <a:t>Tercer nivel del esquema</a:t>
            </a:r>
            <a:endParaRPr b="0" lang="es-A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AR" sz="1800" spc="-1" strike="noStrike">
                <a:solidFill>
                  <a:srgbClr val="000000"/>
                </a:solidFill>
                <a:latin typeface="Arial"/>
              </a:rPr>
              <a:t>Cuarto nivel del esquema</a:t>
            </a:r>
            <a:endParaRPr b="0" lang="es-A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AR" sz="1800" spc="-1" strike="noStrike">
                <a:solidFill>
                  <a:srgbClr val="000000"/>
                </a:solidFill>
                <a:latin typeface="Arial"/>
              </a:rPr>
              <a:t>Quinto nivel del esquema</a:t>
            </a:r>
            <a:endParaRPr b="0" lang="es-A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AR" sz="1800" spc="-1" strike="noStrike">
                <a:solidFill>
                  <a:srgbClr val="000000"/>
                </a:solidFill>
                <a:latin typeface="Arial"/>
              </a:rPr>
              <a:t>Sexto nivel del esquema</a:t>
            </a:r>
            <a:endParaRPr b="0" lang="es-A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AR" sz="1800" spc="-1" strike="noStrike">
                <a:solidFill>
                  <a:srgbClr val="000000"/>
                </a:solidFill>
                <a:latin typeface="Arial"/>
              </a:rPr>
              <a:t>Séptimo nivel del esquema</a:t>
            </a:r>
            <a:endParaRPr b="0" lang="es-A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slideLayout" Target="../slideLayouts/slideLayout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8" name="Google Shape;88;p13" descr=""/>
          <p:cNvPicPr/>
          <p:nvPr/>
        </p:nvPicPr>
        <p:blipFill>
          <a:blip r:embed="rId1"/>
          <a:stretch/>
        </p:blipFill>
        <p:spPr>
          <a:xfrm>
            <a:off x="0" y="0"/>
            <a:ext cx="9141840" cy="6855840"/>
          </a:xfrm>
          <a:prstGeom prst="rect">
            <a:avLst/>
          </a:prstGeom>
          <a:ln w="0">
            <a:noFill/>
          </a:ln>
        </p:spPr>
      </p:pic>
      <p:sp>
        <p:nvSpPr>
          <p:cNvPr id="199" name="CustomShape 1"/>
          <p:cNvSpPr/>
          <p:nvPr/>
        </p:nvSpPr>
        <p:spPr>
          <a:xfrm>
            <a:off x="685800" y="1159560"/>
            <a:ext cx="7770240" cy="146772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r>
              <a:rPr b="0" lang="es-AR" sz="4860" spc="-1" strike="noStrike">
                <a:solidFill>
                  <a:srgbClr val="3d0e62"/>
                </a:solidFill>
                <a:latin typeface="Bitter"/>
                <a:ea typeface="Bitter"/>
              </a:rPr>
              <a:t>Programación IV</a:t>
            </a:r>
            <a:endParaRPr b="0" lang="es-AR" sz="4860" spc="-1" strike="noStrike">
              <a:solidFill>
                <a:srgbClr val="000000"/>
              </a:solidFill>
              <a:latin typeface="Arial"/>
            </a:endParaRPr>
          </a:p>
        </p:txBody>
      </p:sp>
      <p:sp>
        <p:nvSpPr>
          <p:cNvPr id="200" name="CustomShape 2"/>
          <p:cNvSpPr/>
          <p:nvPr/>
        </p:nvSpPr>
        <p:spPr>
          <a:xfrm>
            <a:off x="685800" y="3624480"/>
            <a:ext cx="6398640" cy="823320"/>
          </a:xfrm>
          <a:prstGeom prst="rect">
            <a:avLst/>
          </a:prstGeom>
          <a:noFill/>
          <a:ln w="0">
            <a:noFill/>
          </a:ln>
        </p:spPr>
        <p:style>
          <a:lnRef idx="0"/>
          <a:fillRef idx="0"/>
          <a:effectRef idx="0"/>
          <a:fontRef idx="minor"/>
        </p:style>
        <p:txBody>
          <a:bodyPr lIns="90000" rIns="90000" tIns="45000" bIns="45000" anchor="t">
            <a:noAutofit/>
          </a:bodyPr>
          <a:p>
            <a:pPr>
              <a:lnSpc>
                <a:spcPct val="108000"/>
              </a:lnSpc>
            </a:pPr>
            <a:r>
              <a:rPr b="0" lang="es-AR" sz="2400" spc="-1" strike="noStrike">
                <a:solidFill>
                  <a:srgbClr val="ffffff"/>
                </a:solidFill>
                <a:latin typeface="Open Sans"/>
                <a:ea typeface="Open Sans"/>
              </a:rPr>
              <a:t>Programación Funcional.</a:t>
            </a:r>
            <a:endParaRPr b="0" lang="es-AR" sz="2400" spc="-1" strike="noStrike">
              <a:solidFill>
                <a:srgbClr val="000000"/>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CustomShape 1"/>
          <p:cNvSpPr/>
          <p:nvPr/>
        </p:nvSpPr>
        <p:spPr>
          <a:xfrm>
            <a:off x="399960" y="35820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Funciones</a:t>
            </a:r>
            <a:endParaRPr b="0" lang="es-AR" sz="4400" spc="-1" strike="noStrike">
              <a:solidFill>
                <a:srgbClr val="000000"/>
              </a:solidFill>
              <a:latin typeface="Arial"/>
            </a:endParaRPr>
          </a:p>
        </p:txBody>
      </p:sp>
      <p:sp>
        <p:nvSpPr>
          <p:cNvPr id="202" name="CustomShape 2"/>
          <p:cNvSpPr/>
          <p:nvPr/>
        </p:nvSpPr>
        <p:spPr>
          <a:xfrm>
            <a:off x="1179720" y="1996200"/>
            <a:ext cx="2357640" cy="3058920"/>
          </a:xfrm>
          <a:prstGeom prst="ellipse">
            <a:avLst/>
          </a:prstGeom>
          <a:solidFill>
            <a:schemeClr val="lt2"/>
          </a:solidFill>
          <a:ln w="19080">
            <a:solidFill>
              <a:srgbClr val="1f497d"/>
            </a:solidFill>
            <a:roun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grpSp>
        <p:nvGrpSpPr>
          <p:cNvPr id="203" name="Group 3"/>
          <p:cNvGrpSpPr/>
          <p:nvPr/>
        </p:nvGrpSpPr>
        <p:grpSpPr>
          <a:xfrm>
            <a:off x="1930320" y="1996200"/>
            <a:ext cx="936360" cy="635040"/>
            <a:chOff x="1930320" y="1996200"/>
            <a:chExt cx="936360" cy="635040"/>
          </a:xfrm>
        </p:grpSpPr>
        <p:sp>
          <p:nvSpPr>
            <p:cNvPr id="204" name="CustomShape 4"/>
            <p:cNvSpPr/>
            <p:nvPr/>
          </p:nvSpPr>
          <p:spPr>
            <a:xfrm>
              <a:off x="2235600" y="231480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05" name="CustomShape 5"/>
            <p:cNvSpPr/>
            <p:nvPr/>
          </p:nvSpPr>
          <p:spPr>
            <a:xfrm>
              <a:off x="1930320" y="1996200"/>
              <a:ext cx="93636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Haskell</a:t>
              </a:r>
              <a:endParaRPr b="0" lang="es-AR" sz="1400" spc="-1" strike="noStrike">
                <a:solidFill>
                  <a:srgbClr val="000000"/>
                </a:solidFill>
                <a:latin typeface="Arial"/>
              </a:endParaRPr>
            </a:p>
          </p:txBody>
        </p:sp>
      </p:grpSp>
      <p:grpSp>
        <p:nvGrpSpPr>
          <p:cNvPr id="206" name="Group 6"/>
          <p:cNvGrpSpPr/>
          <p:nvPr/>
        </p:nvGrpSpPr>
        <p:grpSpPr>
          <a:xfrm>
            <a:off x="1489680" y="3699720"/>
            <a:ext cx="741240" cy="635040"/>
            <a:chOff x="1489680" y="3699720"/>
            <a:chExt cx="741240" cy="635040"/>
          </a:xfrm>
        </p:grpSpPr>
        <p:sp>
          <p:nvSpPr>
            <p:cNvPr id="207" name="CustomShape 7"/>
            <p:cNvSpPr/>
            <p:nvPr/>
          </p:nvSpPr>
          <p:spPr>
            <a:xfrm>
              <a:off x="1725840" y="401832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08" name="CustomShape 8"/>
            <p:cNvSpPr/>
            <p:nvPr/>
          </p:nvSpPr>
          <p:spPr>
            <a:xfrm>
              <a:off x="1489680" y="369972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Java</a:t>
              </a:r>
              <a:endParaRPr b="0" lang="es-AR" sz="1400" spc="-1" strike="noStrike">
                <a:solidFill>
                  <a:srgbClr val="000000"/>
                </a:solidFill>
                <a:latin typeface="Arial"/>
              </a:endParaRPr>
            </a:p>
          </p:txBody>
        </p:sp>
      </p:grpSp>
      <p:grpSp>
        <p:nvGrpSpPr>
          <p:cNvPr id="209" name="Group 9"/>
          <p:cNvGrpSpPr/>
          <p:nvPr/>
        </p:nvGrpSpPr>
        <p:grpSpPr>
          <a:xfrm>
            <a:off x="2311560" y="4248720"/>
            <a:ext cx="741240" cy="635040"/>
            <a:chOff x="2311560" y="4248720"/>
            <a:chExt cx="741240" cy="635040"/>
          </a:xfrm>
        </p:grpSpPr>
        <p:sp>
          <p:nvSpPr>
            <p:cNvPr id="210" name="CustomShape 10"/>
            <p:cNvSpPr/>
            <p:nvPr/>
          </p:nvSpPr>
          <p:spPr>
            <a:xfrm>
              <a:off x="2547360" y="456732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11" name="CustomShape 11"/>
            <p:cNvSpPr/>
            <p:nvPr/>
          </p:nvSpPr>
          <p:spPr>
            <a:xfrm>
              <a:off x="2311560" y="424872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PHP</a:t>
              </a:r>
              <a:endParaRPr b="0" lang="es-AR" sz="1400" spc="-1" strike="noStrike">
                <a:solidFill>
                  <a:srgbClr val="000000"/>
                </a:solidFill>
                <a:latin typeface="Arial"/>
              </a:endParaRPr>
            </a:p>
          </p:txBody>
        </p:sp>
      </p:grpSp>
      <p:sp>
        <p:nvSpPr>
          <p:cNvPr id="212" name="CustomShape 12"/>
          <p:cNvSpPr/>
          <p:nvPr/>
        </p:nvSpPr>
        <p:spPr>
          <a:xfrm>
            <a:off x="5769360" y="1996200"/>
            <a:ext cx="2357640" cy="3058920"/>
          </a:xfrm>
          <a:prstGeom prst="ellipse">
            <a:avLst/>
          </a:prstGeom>
          <a:solidFill>
            <a:schemeClr val="lt2"/>
          </a:solidFill>
          <a:ln w="19080">
            <a:solidFill>
              <a:srgbClr val="1f497d"/>
            </a:solidFill>
            <a:roun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grpSp>
        <p:nvGrpSpPr>
          <p:cNvPr id="213" name="Group 13"/>
          <p:cNvGrpSpPr/>
          <p:nvPr/>
        </p:nvGrpSpPr>
        <p:grpSpPr>
          <a:xfrm>
            <a:off x="6577560" y="2155680"/>
            <a:ext cx="741240" cy="635040"/>
            <a:chOff x="6577560" y="2155680"/>
            <a:chExt cx="741240" cy="635040"/>
          </a:xfrm>
        </p:grpSpPr>
        <p:sp>
          <p:nvSpPr>
            <p:cNvPr id="214" name="CustomShape 14"/>
            <p:cNvSpPr/>
            <p:nvPr/>
          </p:nvSpPr>
          <p:spPr>
            <a:xfrm>
              <a:off x="6813720" y="247428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15" name="CustomShape 15"/>
            <p:cNvSpPr/>
            <p:nvPr/>
          </p:nvSpPr>
          <p:spPr>
            <a:xfrm>
              <a:off x="6577560" y="215568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1987</a:t>
              </a:r>
              <a:endParaRPr b="0" lang="es-AR" sz="1400" spc="-1" strike="noStrike">
                <a:solidFill>
                  <a:srgbClr val="000000"/>
                </a:solidFill>
                <a:latin typeface="Arial"/>
              </a:endParaRPr>
            </a:p>
          </p:txBody>
        </p:sp>
      </p:grpSp>
      <p:grpSp>
        <p:nvGrpSpPr>
          <p:cNvPr id="216" name="Group 16"/>
          <p:cNvGrpSpPr/>
          <p:nvPr/>
        </p:nvGrpSpPr>
        <p:grpSpPr>
          <a:xfrm>
            <a:off x="6577560" y="3699720"/>
            <a:ext cx="741240" cy="635040"/>
            <a:chOff x="6577560" y="3699720"/>
            <a:chExt cx="741240" cy="635040"/>
          </a:xfrm>
        </p:grpSpPr>
        <p:sp>
          <p:nvSpPr>
            <p:cNvPr id="217" name="CustomShape 17"/>
            <p:cNvSpPr/>
            <p:nvPr/>
          </p:nvSpPr>
          <p:spPr>
            <a:xfrm>
              <a:off x="6813720" y="401832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18" name="CustomShape 18"/>
            <p:cNvSpPr/>
            <p:nvPr/>
          </p:nvSpPr>
          <p:spPr>
            <a:xfrm>
              <a:off x="6577560" y="369972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1995</a:t>
              </a:r>
              <a:endParaRPr b="0" lang="es-AR" sz="1400" spc="-1" strike="noStrike">
                <a:solidFill>
                  <a:srgbClr val="000000"/>
                </a:solidFill>
                <a:latin typeface="Arial"/>
              </a:endParaRPr>
            </a:p>
            <a:p>
              <a:pPr algn="ctr">
                <a:lnSpc>
                  <a:spcPct val="100000"/>
                </a:lnSpc>
              </a:pPr>
              <a:endParaRPr b="0" lang="es-AR" sz="1400" spc="-1" strike="noStrike">
                <a:solidFill>
                  <a:srgbClr val="000000"/>
                </a:solidFill>
                <a:latin typeface="Arial"/>
              </a:endParaRPr>
            </a:p>
          </p:txBody>
        </p:sp>
      </p:grpSp>
      <p:sp>
        <p:nvSpPr>
          <p:cNvPr id="219" name="CustomShape 19"/>
          <p:cNvSpPr/>
          <p:nvPr/>
        </p:nvSpPr>
        <p:spPr>
          <a:xfrm>
            <a:off x="2507400" y="2474280"/>
            <a:ext cx="4304520" cy="157320"/>
          </a:xfrm>
          <a:custGeom>
            <a:avLst/>
            <a:gdLst>
              <a:gd name="textAreaLeft" fmla="*/ 0 w 4304520"/>
              <a:gd name="textAreaRight" fmla="*/ 4304880 w 4304520"/>
              <a:gd name="textAreaTop" fmla="*/ 0 h 157320"/>
              <a:gd name="textAreaBottom" fmla="*/ 157680 h 157320"/>
            </a:gdLst>
            <a:ahLst/>
            <a:rect l="textAreaLeft" t="textAreaTop" r="textAreaRight" b="textAreaBottom"/>
            <a:pathLst>
              <a:path w="21600" h="21600">
                <a:moveTo>
                  <a:pt x="0" y="0"/>
                </a:moveTo>
                <a:lnTo>
                  <a:pt x="21600" y="21600"/>
                </a:lnTo>
              </a:path>
            </a:pathLst>
          </a:custGeom>
          <a:noFill/>
          <a:ln w="28440">
            <a:solidFill>
              <a:srgbClr val="1f497d"/>
            </a:solidFill>
            <a:round/>
            <a:tailEnd len="med" type="triangle"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20" name="CustomShape 20"/>
          <p:cNvSpPr/>
          <p:nvPr/>
        </p:nvSpPr>
        <p:spPr>
          <a:xfrm>
            <a:off x="1997280" y="4177800"/>
            <a:ext cx="4814280" cy="360"/>
          </a:xfrm>
          <a:custGeom>
            <a:avLst/>
            <a:gdLst>
              <a:gd name="textAreaLeft" fmla="*/ 0 w 4814280"/>
              <a:gd name="textAreaRight" fmla="*/ 4814640 w 4814280"/>
              <a:gd name="textAreaTop" fmla="*/ 0 h 360"/>
              <a:gd name="textAreaBottom" fmla="*/ 720 h 360"/>
            </a:gdLst>
            <a:ahLst/>
            <a:rect l="textAreaLeft" t="textAreaTop" r="textAreaRight" b="textAreaBottom"/>
            <a:pathLst>
              <a:path w="21600" h="21600">
                <a:moveTo>
                  <a:pt x="0" y="0"/>
                </a:moveTo>
                <a:lnTo>
                  <a:pt x="21600" y="21600"/>
                </a:lnTo>
              </a:path>
            </a:pathLst>
          </a:custGeom>
          <a:noFill/>
          <a:ln w="28440">
            <a:solidFill>
              <a:srgbClr val="1f497d"/>
            </a:solidFill>
            <a:round/>
            <a:tailEnd len="med" type="triangle" w="med"/>
          </a:ln>
        </p:spPr>
        <p:style>
          <a:lnRef idx="0"/>
          <a:fillRef idx="0"/>
          <a:effectRef idx="0"/>
          <a:fontRef idx="minor"/>
        </p:style>
        <p:txBody>
          <a:bodyPr lIns="90000" rIns="90000" tIns="-44280" bIns="-44280" anchor="t">
            <a:noAutofit/>
          </a:bodyPr>
          <a:p>
            <a:endParaRPr b="0" lang="es-AR" sz="1800" spc="-1" strike="noStrike">
              <a:solidFill>
                <a:srgbClr val="000000"/>
              </a:solidFill>
              <a:latin typeface="Arial"/>
            </a:endParaRPr>
          </a:p>
        </p:txBody>
      </p:sp>
      <p:sp>
        <p:nvSpPr>
          <p:cNvPr id="221" name="CustomShape 21"/>
          <p:cNvSpPr/>
          <p:nvPr/>
        </p:nvSpPr>
        <p:spPr>
          <a:xfrm flipH="1" rot="10800000">
            <a:off x="2818800" y="4179960"/>
            <a:ext cx="3992760" cy="546840"/>
          </a:xfrm>
          <a:custGeom>
            <a:avLst/>
            <a:gdLst>
              <a:gd name="textAreaLeft" fmla="*/ -360 w 3992760"/>
              <a:gd name="textAreaRight" fmla="*/ 3992760 w 3992760"/>
              <a:gd name="textAreaTop" fmla="*/ 0 h 546840"/>
              <a:gd name="textAreaBottom" fmla="*/ 547200 h 546840"/>
            </a:gdLst>
            <a:ahLst/>
            <a:rect l="textAreaLeft" t="textAreaTop" r="textAreaRight" b="textAreaBottom"/>
            <a:pathLst>
              <a:path w="21600" h="21600">
                <a:moveTo>
                  <a:pt x="0" y="0"/>
                </a:moveTo>
                <a:lnTo>
                  <a:pt x="21600" y="21600"/>
                </a:lnTo>
              </a:path>
            </a:pathLst>
          </a:custGeom>
          <a:noFill/>
          <a:ln w="28440">
            <a:solidFill>
              <a:srgbClr val="1f497d"/>
            </a:solidFill>
            <a:round/>
            <a:tailEnd len="med" type="triangle"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22" name="CustomShape 22"/>
          <p:cNvSpPr/>
          <p:nvPr/>
        </p:nvSpPr>
        <p:spPr>
          <a:xfrm>
            <a:off x="2625120" y="5115240"/>
            <a:ext cx="3813840" cy="349920"/>
          </a:xfrm>
          <a:prstGeom prst="rect">
            <a:avLst/>
          </a:prstGeom>
          <a:noFill/>
          <a:ln w="0">
            <a:noFill/>
          </a:ln>
        </p:spPr>
        <p:style>
          <a:lnRef idx="0"/>
          <a:fillRef idx="0"/>
          <a:effectRef idx="0"/>
          <a:fontRef idx="minor"/>
        </p:style>
        <p:txBody>
          <a:bodyPr lIns="90000" rIns="90000" tIns="174960" bIns="174960" anchor="t">
            <a:noAutofit/>
          </a:bodyPr>
          <a:p>
            <a:pPr algn="ctr">
              <a:lnSpc>
                <a:spcPct val="100000"/>
              </a:lnSpc>
            </a:pPr>
            <a:r>
              <a:rPr b="0" lang="es-AR" sz="1800" spc="-1" strike="noStrike">
                <a:solidFill>
                  <a:srgbClr val="ffffff"/>
                </a:solidFill>
                <a:latin typeface="Courier New"/>
                <a:ea typeface="Courier New"/>
              </a:rPr>
              <a:t>Lenguaje</a:t>
            </a:r>
            <a:r>
              <a:rPr b="0" lang="es-AR" sz="1800" spc="-1" strike="noStrike">
                <a:solidFill>
                  <a:srgbClr val="f6b26b"/>
                </a:solidFill>
                <a:latin typeface="Courier New"/>
                <a:ea typeface="Courier New"/>
              </a:rPr>
              <a:t> -&gt; </a:t>
            </a:r>
            <a:r>
              <a:rPr b="0" lang="es-AR" sz="1800" spc="-1" strike="noStrike">
                <a:solidFill>
                  <a:srgbClr val="ffffff"/>
                </a:solidFill>
                <a:latin typeface="Courier New"/>
                <a:ea typeface="Courier New"/>
              </a:rPr>
              <a:t>Año</a:t>
            </a:r>
            <a:endParaRPr b="0" lang="es-AR" sz="1800" spc="-1" strike="noStrike">
              <a:solidFill>
                <a:srgbClr val="000000"/>
              </a:solidFill>
              <a:latin typeface="Arial"/>
            </a:endParaRPr>
          </a:p>
        </p:txBody>
      </p:sp>
      <p:grpSp>
        <p:nvGrpSpPr>
          <p:cNvPr id="223" name="Group 23"/>
          <p:cNvGrpSpPr/>
          <p:nvPr/>
        </p:nvGrpSpPr>
        <p:grpSpPr>
          <a:xfrm>
            <a:off x="6157440" y="3062520"/>
            <a:ext cx="741240" cy="635040"/>
            <a:chOff x="6157440" y="3062520"/>
            <a:chExt cx="741240" cy="635040"/>
          </a:xfrm>
        </p:grpSpPr>
        <p:sp>
          <p:nvSpPr>
            <p:cNvPr id="224" name="CustomShape 24"/>
            <p:cNvSpPr/>
            <p:nvPr/>
          </p:nvSpPr>
          <p:spPr>
            <a:xfrm>
              <a:off x="6393600" y="338112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25" name="CustomShape 25"/>
            <p:cNvSpPr/>
            <p:nvPr/>
          </p:nvSpPr>
          <p:spPr>
            <a:xfrm>
              <a:off x="6157440" y="306252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2003</a:t>
              </a:r>
              <a:endParaRPr b="0" lang="es-AR" sz="1400" spc="-1" strike="noStrike">
                <a:solidFill>
                  <a:srgbClr val="000000"/>
                </a:solidFill>
                <a:latin typeface="Arial"/>
              </a:endParaRPr>
            </a:p>
          </p:txBody>
        </p:sp>
      </p:grpSp>
      <p:grpSp>
        <p:nvGrpSpPr>
          <p:cNvPr id="226" name="Group 26"/>
          <p:cNvGrpSpPr/>
          <p:nvPr/>
        </p:nvGrpSpPr>
        <p:grpSpPr>
          <a:xfrm>
            <a:off x="2027880" y="2982960"/>
            <a:ext cx="741240" cy="635040"/>
            <a:chOff x="2027880" y="2982960"/>
            <a:chExt cx="741240" cy="635040"/>
          </a:xfrm>
        </p:grpSpPr>
        <p:sp>
          <p:nvSpPr>
            <p:cNvPr id="227" name="CustomShape 27"/>
            <p:cNvSpPr/>
            <p:nvPr/>
          </p:nvSpPr>
          <p:spPr>
            <a:xfrm>
              <a:off x="2263680" y="3301560"/>
              <a:ext cx="269280" cy="316440"/>
            </a:xfrm>
            <a:prstGeom prst="flowChartConnector">
              <a:avLst/>
            </a:prstGeom>
            <a:solidFill>
              <a:srgbClr val="434343"/>
            </a:solidFill>
            <a:ln w="9360">
              <a:solidFill>
                <a:srgbClr val="ffffff"/>
              </a:solidFill>
              <a:round/>
            </a:ln>
          </p:spPr>
          <p:style>
            <a:lnRef idx="0"/>
            <a:fillRef idx="0"/>
            <a:effectRef idx="0"/>
            <a:fontRef idx="minor"/>
          </p:style>
          <p:txBody>
            <a:bodyPr lIns="90000" rIns="90000" tIns="45000" bIns="45000" anchor="t">
              <a:noAutofit/>
            </a:bodyPr>
            <a:p>
              <a:endParaRPr b="0" lang="es-AR" sz="1800" spc="-1" strike="noStrike">
                <a:solidFill>
                  <a:srgbClr val="ffffff"/>
                </a:solidFill>
                <a:latin typeface="Arial"/>
              </a:endParaRPr>
            </a:p>
          </p:txBody>
        </p:sp>
        <p:sp>
          <p:nvSpPr>
            <p:cNvPr id="228" name="CustomShape 28"/>
            <p:cNvSpPr/>
            <p:nvPr/>
          </p:nvSpPr>
          <p:spPr>
            <a:xfrm>
              <a:off x="2027880" y="2982960"/>
              <a:ext cx="741240" cy="316440"/>
            </a:xfrm>
            <a:prstGeom prst="rect">
              <a:avLst/>
            </a:prstGeom>
            <a:noFill/>
            <a:ln w="0">
              <a:noFill/>
            </a:ln>
          </p:spPr>
          <p:style>
            <a:lnRef idx="0"/>
            <a:fillRef idx="0"/>
            <a:effectRef idx="0"/>
            <a:fontRef idx="minor"/>
          </p:style>
          <p:txBody>
            <a:bodyPr lIns="90000" rIns="90000" tIns="158400" bIns="158400" anchor="t">
              <a:noAutofit/>
            </a:bodyPr>
            <a:p>
              <a:pPr algn="ctr">
                <a:lnSpc>
                  <a:spcPct val="100000"/>
                </a:lnSpc>
              </a:pPr>
              <a:r>
                <a:rPr b="0" lang="es-AR" sz="1400" spc="-1" strike="noStrike">
                  <a:solidFill>
                    <a:srgbClr val="4f81bd"/>
                  </a:solidFill>
                  <a:latin typeface="Arial"/>
                  <a:ea typeface="Arial"/>
                </a:rPr>
                <a:t>Scala</a:t>
              </a:r>
              <a:endParaRPr b="0" lang="es-AR" sz="1400" spc="-1" strike="noStrike">
                <a:solidFill>
                  <a:srgbClr val="000000"/>
                </a:solidFill>
                <a:latin typeface="Arial"/>
              </a:endParaRPr>
            </a:p>
          </p:txBody>
        </p:sp>
      </p:grpSp>
      <p:sp>
        <p:nvSpPr>
          <p:cNvPr id="229" name="CustomShape 29"/>
          <p:cNvSpPr/>
          <p:nvPr/>
        </p:nvSpPr>
        <p:spPr>
          <a:xfrm>
            <a:off x="2535120" y="3461040"/>
            <a:ext cx="3856320" cy="77400"/>
          </a:xfrm>
          <a:custGeom>
            <a:avLst/>
            <a:gdLst>
              <a:gd name="textAreaLeft" fmla="*/ 0 w 3856320"/>
              <a:gd name="textAreaRight" fmla="*/ 3856680 w 3856320"/>
              <a:gd name="textAreaTop" fmla="*/ 0 h 77400"/>
              <a:gd name="textAreaBottom" fmla="*/ 77760 h 77400"/>
            </a:gdLst>
            <a:ahLst/>
            <a:rect l="textAreaLeft" t="textAreaTop" r="textAreaRight" b="textAreaBottom"/>
            <a:pathLst>
              <a:path w="21600" h="21600">
                <a:moveTo>
                  <a:pt x="0" y="0"/>
                </a:moveTo>
                <a:lnTo>
                  <a:pt x="21600" y="21600"/>
                </a:lnTo>
              </a:path>
            </a:pathLst>
          </a:custGeom>
          <a:noFill/>
          <a:ln w="28440">
            <a:solidFill>
              <a:srgbClr val="1f497d"/>
            </a:solidFill>
            <a:round/>
            <a:tailEnd len="med" type="triangle" w="med"/>
          </a:ln>
        </p:spPr>
        <p:style>
          <a:lnRef idx="0"/>
          <a:fillRef idx="0"/>
          <a:effectRef idx="0"/>
          <a:fontRef idx="minor"/>
        </p:style>
        <p:txBody>
          <a:bodyPr lIns="90000" rIns="90000" tIns="32760" bIns="32760" anchor="t">
            <a:noAutofit/>
          </a:bodyPr>
          <a:p>
            <a:endParaRPr b="0" lang="es-A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CustomShape 1"/>
          <p:cNvSpPr/>
          <p:nvPr/>
        </p:nvSpPr>
        <p:spPr>
          <a:xfrm>
            <a:off x="311760" y="6404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endParaRPr b="0" lang="es-AR" sz="4400" spc="-1" strike="noStrike">
              <a:solidFill>
                <a:srgbClr val="000000"/>
              </a:solidFill>
              <a:latin typeface="Arial"/>
            </a:endParaRPr>
          </a:p>
        </p:txBody>
      </p:sp>
      <p:sp>
        <p:nvSpPr>
          <p:cNvPr id="231" name="CustomShape 2"/>
          <p:cNvSpPr/>
          <p:nvPr/>
        </p:nvSpPr>
        <p:spPr>
          <a:xfrm>
            <a:off x="311760" y="2009880"/>
            <a:ext cx="8518320" cy="341424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Char char="•"/>
            </a:pPr>
            <a:r>
              <a:rPr b="0" lang="es-AR" sz="3200" spc="-1" strike="noStrike">
                <a:solidFill>
                  <a:srgbClr val="000000"/>
                </a:solidFill>
                <a:latin typeface="Calibri"/>
                <a:ea typeface="Calibri"/>
              </a:rPr>
              <a:t>Formalización del "comportamiento" (la construcción y uso) de la función</a:t>
            </a:r>
            <a:endParaRPr b="0" lang="es-AR" sz="3200" spc="-1" strike="noStrike">
              <a:solidFill>
                <a:srgbClr val="000000"/>
              </a:solidFill>
              <a:latin typeface="Arial"/>
            </a:endParaRPr>
          </a:p>
          <a:p>
            <a:pPr marL="457200" indent="-342360">
              <a:lnSpc>
                <a:spcPct val="100000"/>
              </a:lnSpc>
              <a:buClr>
                <a:srgbClr val="cacaca"/>
              </a:buClr>
              <a:buFont typeface="Arial"/>
              <a:buChar char="•"/>
            </a:pPr>
            <a:r>
              <a:rPr b="0" lang="es-AR" sz="3200" spc="-1" strike="noStrike">
                <a:solidFill>
                  <a:srgbClr val="000000"/>
                </a:solidFill>
                <a:latin typeface="Calibri"/>
                <a:ea typeface="Calibri"/>
              </a:rPr>
              <a:t>Permite razonamiento "mecánico" sobre la computación</a:t>
            </a:r>
            <a:endParaRPr b="0" lang="es-AR" sz="3200" spc="-1" strike="noStrike">
              <a:solidFill>
                <a:srgbClr val="000000"/>
              </a:solidFill>
              <a:latin typeface="Arial"/>
            </a:endParaRPr>
          </a:p>
          <a:p>
            <a:pPr marL="457200" indent="-342360">
              <a:lnSpc>
                <a:spcPct val="100000"/>
              </a:lnSpc>
              <a:buClr>
                <a:srgbClr val="cacaca"/>
              </a:buClr>
              <a:buFont typeface="Arial"/>
              <a:buChar char="•"/>
            </a:pPr>
            <a:r>
              <a:rPr b="0" lang="es-AR" sz="3200" spc="-1" strike="noStrike">
                <a:solidFill>
                  <a:srgbClr val="000000"/>
                </a:solidFill>
                <a:latin typeface="Calibri"/>
                <a:ea typeface="Calibri"/>
              </a:rPr>
              <a:t>Es el modelo computacional de los lenguajes funcionales</a:t>
            </a:r>
            <a:endParaRPr b="0" lang="es-AR" sz="3200" spc="-1" strike="noStrike">
              <a:solidFill>
                <a:srgbClr val="000000"/>
              </a:solidFill>
              <a:latin typeface="Arial"/>
            </a:endParaRPr>
          </a:p>
          <a:p>
            <a:pPr marL="457200" indent="-342360">
              <a:lnSpc>
                <a:spcPct val="100000"/>
              </a:lnSpc>
              <a:buClr>
                <a:srgbClr val="cacaca"/>
              </a:buClr>
              <a:buFont typeface="Arial"/>
              <a:buChar char="•"/>
            </a:pPr>
            <a:r>
              <a:rPr b="0" lang="es-AR" sz="3200" spc="-1" strike="noStrike">
                <a:solidFill>
                  <a:srgbClr val="000000"/>
                </a:solidFill>
                <a:latin typeface="Calibri"/>
                <a:ea typeface="Calibri"/>
              </a:rPr>
              <a:t>Su razón de existir es describir nociones de computación formalmente</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CustomShape 1"/>
          <p:cNvSpPr/>
          <p:nvPr/>
        </p:nvSpPr>
        <p:spPr>
          <a:xfrm>
            <a:off x="311760" y="6818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endParaRPr b="0" lang="es-AR" sz="4400" spc="-1" strike="noStrike">
              <a:solidFill>
                <a:srgbClr val="000000"/>
              </a:solidFill>
              <a:latin typeface="Arial"/>
            </a:endParaRPr>
          </a:p>
        </p:txBody>
      </p:sp>
      <p:sp>
        <p:nvSpPr>
          <p:cNvPr id="233" name="CustomShape 2"/>
          <p:cNvSpPr/>
          <p:nvPr/>
        </p:nvSpPr>
        <p:spPr>
          <a:xfrm>
            <a:off x="311760" y="2009880"/>
            <a:ext cx="8518320" cy="341424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pPr>
            <a:r>
              <a:rPr b="0" lang="es-AR" sz="2000" spc="-1" strike="noStrike">
                <a:solidFill>
                  <a:srgbClr val="000000"/>
                </a:solidFill>
                <a:latin typeface="Calibri"/>
                <a:ea typeface="Calibri"/>
              </a:rPr>
              <a:t>Una función puede aceptar como argumento a otra función, siempre y cuando esta otra función tenga ella misma un sólo argumento.</a:t>
            </a:r>
            <a:br>
              <a:rPr sz="1800"/>
            </a:br>
            <a:br>
              <a:rPr sz="1800"/>
            </a:br>
            <a:r>
              <a:rPr b="0" lang="es-AR" sz="2000" spc="-1" strike="noStrike">
                <a:solidFill>
                  <a:srgbClr val="000000"/>
                </a:solidFill>
                <a:latin typeface="Calibri"/>
                <a:ea typeface="Calibri"/>
              </a:rPr>
              <a:t>En el cálculo lambda, las funciones están definidas por expresiones lambda, que dicen qué se hace con su argumento. Por ejemplo, la función "sumar 2",  f(x) = x + 2  se expresa en cálculo lambda así:  λ x. x + 2  (o, equivalentemente,  λ y. y + 2 ya que el nombre de su argumento no es importante). Y el número f(3) sería escrito como  (λ x. x + 2) 3. La aplicación de funciones es asociativa a izquierda:  f x y = (f x) y.  Considerando la función que aplica una función al número 3: λ f. f 3. , podemos pasarle "sumar 2", quedando así:  (λ f. f 3) (λ x. x + 2).</a:t>
            </a:r>
            <a:endParaRPr b="0" lang="es-A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CustomShape 1"/>
          <p:cNvSpPr/>
          <p:nvPr/>
        </p:nvSpPr>
        <p:spPr>
          <a:xfrm>
            <a:off x="311760" y="6404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endParaRPr b="0" lang="es-AR" sz="4400" spc="-1" strike="noStrike">
              <a:solidFill>
                <a:srgbClr val="000000"/>
              </a:solidFill>
              <a:latin typeface="Arial"/>
            </a:endParaRPr>
          </a:p>
        </p:txBody>
      </p:sp>
      <p:sp>
        <p:nvSpPr>
          <p:cNvPr id="235" name="CustomShape 2"/>
          <p:cNvSpPr/>
          <p:nvPr/>
        </p:nvSpPr>
        <p:spPr>
          <a:xfrm>
            <a:off x="311760" y="2009880"/>
            <a:ext cx="8518320" cy="34142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 = V | Λ Λ | (λV.Λ)</a:t>
            </a:r>
            <a:endParaRPr b="0" lang="es-AR" sz="3000" spc="-1" strike="noStrike">
              <a:solidFill>
                <a:srgbClr val="000000"/>
              </a:solidFill>
              <a:latin typeface="Arial"/>
            </a:endParaRPr>
          </a:p>
          <a:p>
            <a:pPr algn="ctr">
              <a:lnSpc>
                <a:spcPct val="100000"/>
              </a:lnSpc>
              <a:spcBef>
                <a:spcPts val="1599"/>
              </a:spcBef>
            </a:pPr>
            <a:r>
              <a:rPr b="0" lang="es-AR" sz="3200" spc="-1" strike="noStrike">
                <a:solidFill>
                  <a:srgbClr val="000000"/>
                </a:solidFill>
                <a:latin typeface="Calibri"/>
                <a:ea typeface="Calibri"/>
              </a:rPr>
              <a:t>Tres Principios de Construcción</a:t>
            </a:r>
            <a:endParaRPr b="0" lang="es-AR" sz="3200" spc="-1" strike="noStrike">
              <a:solidFill>
                <a:srgbClr val="000000"/>
              </a:solidFill>
              <a:latin typeface="Arial"/>
            </a:endParaRPr>
          </a:p>
          <a:p>
            <a:pPr algn="ctr">
              <a:lnSpc>
                <a:spcPct val="100000"/>
              </a:lnSpc>
              <a:spcBef>
                <a:spcPts val="1599"/>
              </a:spcBef>
              <a:spcAft>
                <a:spcPts val="1599"/>
              </a:spcAft>
            </a:pPr>
            <a:r>
              <a:rPr b="0" lang="es-AR" sz="3200" spc="-1" strike="noStrike">
                <a:solidFill>
                  <a:srgbClr val="000000"/>
                </a:solidFill>
                <a:latin typeface="Calibri"/>
                <a:ea typeface="Calibri"/>
              </a:rPr>
              <a:t>(Suponer un set infinito V de variables: V = { x, y, z, …})</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CustomShape 1"/>
          <p:cNvSpPr/>
          <p:nvPr/>
        </p:nvSpPr>
        <p:spPr>
          <a:xfrm>
            <a:off x="311760" y="75996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br>
              <a:rPr sz="4400"/>
            </a:br>
            <a:endParaRPr b="0" lang="es-AR" sz="4400" spc="-1" strike="noStrike">
              <a:solidFill>
                <a:srgbClr val="000000"/>
              </a:solidFill>
              <a:latin typeface="Arial"/>
            </a:endParaRPr>
          </a:p>
        </p:txBody>
      </p:sp>
      <p:sp>
        <p:nvSpPr>
          <p:cNvPr id="237" name="CustomShape 2"/>
          <p:cNvSpPr/>
          <p:nvPr/>
        </p:nvSpPr>
        <p:spPr>
          <a:xfrm>
            <a:off x="311760" y="2009880"/>
            <a:ext cx="8518320" cy="7934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 = V | Λ Λ | (λV.Λ)</a:t>
            </a:r>
            <a:endParaRPr b="0" lang="es-AR" sz="3000" spc="-1" strike="noStrike">
              <a:solidFill>
                <a:srgbClr val="000000"/>
              </a:solidFill>
              <a:latin typeface="Arial"/>
            </a:endParaRPr>
          </a:p>
          <a:p>
            <a:pPr>
              <a:lnSpc>
                <a:spcPct val="100000"/>
              </a:lnSpc>
              <a:spcBef>
                <a:spcPts val="1599"/>
              </a:spcBef>
              <a:spcAft>
                <a:spcPts val="1599"/>
              </a:spcAft>
            </a:pPr>
            <a:endParaRPr b="0" lang="es-AR" sz="3000" spc="-1" strike="noStrike">
              <a:solidFill>
                <a:srgbClr val="000000"/>
              </a:solidFill>
              <a:latin typeface="Arial"/>
            </a:endParaRPr>
          </a:p>
        </p:txBody>
      </p:sp>
      <p:sp>
        <p:nvSpPr>
          <p:cNvPr id="238" name="CustomShape 3"/>
          <p:cNvSpPr/>
          <p:nvPr/>
        </p:nvSpPr>
        <p:spPr>
          <a:xfrm>
            <a:off x="311760" y="2940120"/>
            <a:ext cx="8518320" cy="217224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x 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y 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(λx.x z)</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(λx.x z) y</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(λy.(λz. x))</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CustomShape 1"/>
          <p:cNvSpPr/>
          <p:nvPr/>
        </p:nvSpPr>
        <p:spPr>
          <a:xfrm>
            <a:off x="301320" y="5090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r>
              <a:rPr b="0" lang="zh-CN" sz="4400" spc="-1" strike="noStrike">
                <a:solidFill>
                  <a:srgbClr val="000000"/>
                </a:solidFill>
                <a:latin typeface="Calibri"/>
                <a:ea typeface="Calibri"/>
              </a:rPr>
              <a:t>・</a:t>
            </a:r>
            <a:r>
              <a:rPr b="0" lang="es-AR" sz="4400" spc="-1" strike="noStrike">
                <a:solidFill>
                  <a:srgbClr val="000000"/>
                </a:solidFill>
                <a:latin typeface="Calibri"/>
                <a:ea typeface="Calibri"/>
              </a:rPr>
              <a:t>Construcción</a:t>
            </a:r>
            <a:r>
              <a:rPr b="0" lang="zh-CN" sz="4400" spc="-1" strike="noStrike">
                <a:solidFill>
                  <a:srgbClr val="000000"/>
                </a:solidFill>
                <a:latin typeface="Calibri"/>
                <a:ea typeface="Calibri"/>
              </a:rPr>
              <a:t>・</a:t>
            </a:r>
            <a:r>
              <a:rPr b="0" lang="es-AR" sz="4400" spc="-1" strike="noStrike">
                <a:solidFill>
                  <a:srgbClr val="000000"/>
                </a:solidFill>
                <a:latin typeface="Calibri"/>
                <a:ea typeface="Calibri"/>
              </a:rPr>
              <a:t>Ejemplos</a:t>
            </a:r>
            <a:endParaRPr b="0" lang="es-AR" sz="4400" spc="-1" strike="noStrike">
              <a:solidFill>
                <a:srgbClr val="000000"/>
              </a:solidFill>
              <a:latin typeface="Arial"/>
            </a:endParaRPr>
          </a:p>
        </p:txBody>
      </p:sp>
      <p:sp>
        <p:nvSpPr>
          <p:cNvPr id="240" name="CustomShape 2"/>
          <p:cNvSpPr/>
          <p:nvPr/>
        </p:nvSpPr>
        <p:spPr>
          <a:xfrm>
            <a:off x="311760" y="2009880"/>
            <a:ext cx="8518320" cy="7934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 = </a:t>
            </a:r>
            <a:r>
              <a:rPr b="0" lang="es-AR" sz="3000" spc="-1" strike="noStrike">
                <a:solidFill>
                  <a:srgbClr val="4bacc6"/>
                </a:solidFill>
                <a:latin typeface="Calibri"/>
                <a:ea typeface="Calibri"/>
              </a:rPr>
              <a:t>V</a:t>
            </a:r>
            <a:r>
              <a:rPr b="0" lang="es-AR" sz="3000" spc="-1" strike="noStrike">
                <a:solidFill>
                  <a:srgbClr val="000000"/>
                </a:solidFill>
                <a:latin typeface="Calibri"/>
                <a:ea typeface="Calibri"/>
              </a:rPr>
              <a:t> | </a:t>
            </a:r>
            <a:r>
              <a:rPr b="0" lang="es-AR" sz="3000" spc="-1" strike="noStrike">
                <a:solidFill>
                  <a:srgbClr val="6d9eeb"/>
                </a:solidFill>
                <a:latin typeface="Calibri"/>
                <a:ea typeface="Calibri"/>
              </a:rPr>
              <a:t>Λ Λ</a:t>
            </a:r>
            <a:r>
              <a:rPr b="0" lang="es-AR" sz="3000" spc="-1" strike="noStrike">
                <a:solidFill>
                  <a:srgbClr val="000000"/>
                </a:solidFill>
                <a:latin typeface="Calibri"/>
                <a:ea typeface="Calibri"/>
              </a:rPr>
              <a:t> | </a:t>
            </a:r>
            <a:r>
              <a:rPr b="0" lang="es-AR" sz="3000" spc="-1" strike="noStrike">
                <a:solidFill>
                  <a:srgbClr val="93c47d"/>
                </a:solidFill>
                <a:latin typeface="Calibri"/>
                <a:ea typeface="Calibri"/>
              </a:rPr>
              <a:t>(λV.Λ)</a:t>
            </a:r>
            <a:endParaRPr b="0" lang="es-AR" sz="3000" spc="-1" strike="noStrike">
              <a:solidFill>
                <a:srgbClr val="000000"/>
              </a:solidFill>
              <a:latin typeface="Arial"/>
            </a:endParaRPr>
          </a:p>
          <a:p>
            <a:pPr>
              <a:lnSpc>
                <a:spcPct val="100000"/>
              </a:lnSpc>
              <a:spcBef>
                <a:spcPts val="1599"/>
              </a:spcBef>
              <a:spcAft>
                <a:spcPts val="1599"/>
              </a:spcAft>
            </a:pPr>
            <a:endParaRPr b="0" lang="es-AR" sz="3000" spc="-1" strike="noStrike">
              <a:solidFill>
                <a:srgbClr val="000000"/>
              </a:solidFill>
              <a:latin typeface="Arial"/>
            </a:endParaRPr>
          </a:p>
        </p:txBody>
      </p:sp>
      <p:sp>
        <p:nvSpPr>
          <p:cNvPr id="241" name="CustomShape 3"/>
          <p:cNvSpPr/>
          <p:nvPr/>
        </p:nvSpPr>
        <p:spPr>
          <a:xfrm>
            <a:off x="311760" y="2940120"/>
            <a:ext cx="8518320" cy="217224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4bacc6"/>
              </a:buClr>
              <a:buFont typeface="Arial"/>
              <a:buAutoNum type="arabicPeriod"/>
            </a:pPr>
            <a:r>
              <a:rPr b="0" lang="es-AR" sz="3200" spc="-1" strike="noStrike">
                <a:solidFill>
                  <a:srgbClr val="4bacc6"/>
                </a:solidFill>
                <a:latin typeface="Calibri"/>
                <a:ea typeface="Calibri"/>
              </a:rPr>
              <a:t>x</a:t>
            </a:r>
            <a:endParaRPr b="0" lang="es-AR" sz="3200" spc="-1" strike="noStrike">
              <a:solidFill>
                <a:srgbClr val="000000"/>
              </a:solidFill>
              <a:latin typeface="Arial"/>
            </a:endParaRPr>
          </a:p>
          <a:p>
            <a:pPr marL="457200" indent="-342360">
              <a:lnSpc>
                <a:spcPct val="100000"/>
              </a:lnSpc>
              <a:buClr>
                <a:srgbClr val="6d9eeb"/>
              </a:buClr>
              <a:buFont typeface="Arial"/>
              <a:buAutoNum type="arabicPeriod"/>
            </a:pPr>
            <a:r>
              <a:rPr b="0" lang="es-AR" sz="3200" spc="-1" strike="noStrike">
                <a:solidFill>
                  <a:srgbClr val="6d9eeb"/>
                </a:solidFill>
                <a:latin typeface="Calibri"/>
                <a:ea typeface="Calibri"/>
              </a:rPr>
              <a:t>x x</a:t>
            </a:r>
            <a:endParaRPr b="0" lang="es-AR" sz="3200" spc="-1" strike="noStrike">
              <a:solidFill>
                <a:srgbClr val="000000"/>
              </a:solidFill>
              <a:latin typeface="Arial"/>
            </a:endParaRPr>
          </a:p>
          <a:p>
            <a:pPr marL="457200" indent="-342360">
              <a:lnSpc>
                <a:spcPct val="100000"/>
              </a:lnSpc>
              <a:buClr>
                <a:srgbClr val="6d9eeb"/>
              </a:buClr>
              <a:buFont typeface="Arial"/>
              <a:buAutoNum type="arabicPeriod"/>
            </a:pPr>
            <a:r>
              <a:rPr b="0" lang="es-AR" sz="3200" spc="-1" strike="noStrike">
                <a:solidFill>
                  <a:srgbClr val="6d9eeb"/>
                </a:solidFill>
                <a:latin typeface="Calibri"/>
                <a:ea typeface="Calibri"/>
              </a:rPr>
              <a:t>y x</a:t>
            </a:r>
            <a:endParaRPr b="0" lang="es-AR" sz="3200" spc="-1" strike="noStrike">
              <a:solidFill>
                <a:srgbClr val="000000"/>
              </a:solidFill>
              <a:latin typeface="Arial"/>
            </a:endParaRPr>
          </a:p>
          <a:p>
            <a:pPr marL="457200" indent="-342360">
              <a:lnSpc>
                <a:spcPct val="100000"/>
              </a:lnSpc>
              <a:buClr>
                <a:srgbClr val="93c47d"/>
              </a:buClr>
              <a:buFont typeface="Arial"/>
              <a:buAutoNum type="arabicPeriod"/>
            </a:pPr>
            <a:r>
              <a:rPr b="0" lang="es-AR" sz="3200" spc="-1" strike="noStrike">
                <a:solidFill>
                  <a:srgbClr val="93c47d"/>
                </a:solidFill>
                <a:latin typeface="Calibri"/>
                <a:ea typeface="Calibri"/>
              </a:rPr>
              <a:t>(λx.x z)</a:t>
            </a:r>
            <a:endParaRPr b="0" lang="es-AR" sz="3200" spc="-1" strike="noStrike">
              <a:solidFill>
                <a:srgbClr val="000000"/>
              </a:solidFill>
              <a:latin typeface="Arial"/>
            </a:endParaRPr>
          </a:p>
          <a:p>
            <a:pPr marL="457200" indent="-342360">
              <a:lnSpc>
                <a:spcPct val="100000"/>
              </a:lnSpc>
              <a:buClr>
                <a:srgbClr val="6d9eeb"/>
              </a:buClr>
              <a:buFont typeface="Arial"/>
              <a:buAutoNum type="arabicPeriod"/>
            </a:pPr>
            <a:r>
              <a:rPr b="0" lang="es-AR" sz="3200" spc="-1" strike="noStrike">
                <a:solidFill>
                  <a:srgbClr val="6d9eeb"/>
                </a:solidFill>
                <a:latin typeface="Calibri"/>
                <a:ea typeface="Calibri"/>
              </a:rPr>
              <a:t>(λx.x z) y</a:t>
            </a:r>
            <a:endParaRPr b="0" lang="es-AR" sz="3200" spc="-1" strike="noStrike">
              <a:solidFill>
                <a:srgbClr val="000000"/>
              </a:solidFill>
              <a:latin typeface="Arial"/>
            </a:endParaRPr>
          </a:p>
          <a:p>
            <a:pPr marL="457200" indent="-342360">
              <a:lnSpc>
                <a:spcPct val="100000"/>
              </a:lnSpc>
              <a:buClr>
                <a:srgbClr val="93c47d"/>
              </a:buClr>
              <a:buFont typeface="Arial"/>
              <a:buAutoNum type="arabicPeriod"/>
            </a:pPr>
            <a:r>
              <a:rPr b="0" lang="es-AR" sz="3200" spc="-1" strike="noStrike">
                <a:solidFill>
                  <a:srgbClr val="93c47d"/>
                </a:solidFill>
                <a:latin typeface="Calibri"/>
                <a:ea typeface="Calibri"/>
              </a:rPr>
              <a:t>(λy.(λz .x))</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CustomShape 1"/>
          <p:cNvSpPr/>
          <p:nvPr/>
        </p:nvSpPr>
        <p:spPr>
          <a:xfrm>
            <a:off x="311760" y="6818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 - Variables</a:t>
            </a:r>
            <a:endParaRPr b="0" lang="es-AR" sz="4400" spc="-1" strike="noStrike">
              <a:solidFill>
                <a:srgbClr val="000000"/>
              </a:solidFill>
              <a:latin typeface="Arial"/>
            </a:endParaRPr>
          </a:p>
        </p:txBody>
      </p:sp>
      <p:sp>
        <p:nvSpPr>
          <p:cNvPr id="243" name="CustomShape 2"/>
          <p:cNvSpPr/>
          <p:nvPr/>
        </p:nvSpPr>
        <p:spPr>
          <a:xfrm>
            <a:off x="311760" y="2009880"/>
            <a:ext cx="8518320" cy="7934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b050"/>
                </a:solidFill>
                <a:latin typeface="Calibri"/>
                <a:ea typeface="Calibri"/>
              </a:rPr>
              <a:t>Ligaduras</a:t>
            </a:r>
            <a:r>
              <a:rPr b="0" lang="es-AR" sz="3000" spc="-1" strike="noStrike">
                <a:solidFill>
                  <a:srgbClr val="000000"/>
                </a:solidFill>
                <a:latin typeface="Calibri"/>
                <a:ea typeface="Calibri"/>
              </a:rPr>
              <a:t>, </a:t>
            </a:r>
            <a:r>
              <a:rPr b="0" lang="es-AR" sz="3000" spc="-1" strike="noStrike">
                <a:solidFill>
                  <a:srgbClr val="a4c2f4"/>
                </a:solidFill>
                <a:latin typeface="Calibri"/>
                <a:ea typeface="Calibri"/>
              </a:rPr>
              <a:t>Ligadas</a:t>
            </a:r>
            <a:r>
              <a:rPr b="0" lang="es-AR" sz="3000" spc="-1" strike="noStrike">
                <a:solidFill>
                  <a:srgbClr val="000000"/>
                </a:solidFill>
                <a:latin typeface="Calibri"/>
                <a:ea typeface="Calibri"/>
              </a:rPr>
              <a:t>, y </a:t>
            </a:r>
            <a:r>
              <a:rPr b="0" lang="es-AR" sz="3000" spc="-1" strike="noStrike">
                <a:solidFill>
                  <a:srgbClr val="ff0000"/>
                </a:solidFill>
                <a:latin typeface="Calibri"/>
                <a:ea typeface="Calibri"/>
              </a:rPr>
              <a:t>Libres</a:t>
            </a:r>
            <a:endParaRPr b="0" lang="es-AR" sz="3000" spc="-1" strike="noStrike">
              <a:solidFill>
                <a:srgbClr val="000000"/>
              </a:solidFill>
              <a:latin typeface="Arial"/>
            </a:endParaRPr>
          </a:p>
          <a:p>
            <a:pPr>
              <a:lnSpc>
                <a:spcPct val="100000"/>
              </a:lnSpc>
              <a:spcBef>
                <a:spcPts val="1599"/>
              </a:spcBef>
              <a:spcAft>
                <a:spcPts val="1599"/>
              </a:spcAft>
            </a:pPr>
            <a:endParaRPr b="0" lang="es-AR" sz="3000" spc="-1" strike="noStrike">
              <a:solidFill>
                <a:srgbClr val="000000"/>
              </a:solidFill>
              <a:latin typeface="Arial"/>
            </a:endParaRPr>
          </a:p>
        </p:txBody>
      </p:sp>
      <p:sp>
        <p:nvSpPr>
          <p:cNvPr id="244" name="CustomShape 3"/>
          <p:cNvSpPr/>
          <p:nvPr/>
        </p:nvSpPr>
        <p:spPr>
          <a:xfrm>
            <a:off x="311760" y="2940120"/>
            <a:ext cx="8518320" cy="217224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AutoNum type="arabicPeriod"/>
            </a:pPr>
            <a:r>
              <a:rPr b="0" lang="es-AR" sz="3200" spc="-1" strike="noStrike">
                <a:solidFill>
                  <a:srgbClr val="ff0000"/>
                </a:solidFill>
                <a:latin typeface="Calibri"/>
                <a:ea typeface="Calibri"/>
              </a:rPr>
              <a:t>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ff0000"/>
                </a:solidFill>
                <a:latin typeface="Calibri"/>
                <a:ea typeface="Calibri"/>
              </a:rPr>
              <a:t>x 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ff0000"/>
                </a:solidFill>
                <a:latin typeface="Calibri"/>
                <a:ea typeface="Calibri"/>
              </a:rPr>
              <a:t>y x</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a:t>
            </a:r>
            <a:r>
              <a:rPr b="0" lang="es-AR" sz="3200" spc="-1" strike="noStrike">
                <a:solidFill>
                  <a:srgbClr val="00b050"/>
                </a:solidFill>
                <a:latin typeface="Calibri"/>
                <a:ea typeface="Calibri"/>
              </a:rPr>
              <a:t>x</a:t>
            </a:r>
            <a:r>
              <a:rPr b="0" lang="es-AR" sz="3200" spc="-1" strike="noStrike">
                <a:solidFill>
                  <a:srgbClr val="000000"/>
                </a:solidFill>
                <a:latin typeface="Calibri"/>
                <a:ea typeface="Calibri"/>
              </a:rPr>
              <a:t>.</a:t>
            </a:r>
            <a:r>
              <a:rPr b="0" lang="es-AR" sz="3200" spc="-1" strike="noStrike">
                <a:solidFill>
                  <a:srgbClr val="6d9eeb"/>
                </a:solidFill>
                <a:latin typeface="Calibri"/>
                <a:ea typeface="Calibri"/>
              </a:rPr>
              <a:t>x </a:t>
            </a:r>
            <a:r>
              <a:rPr b="0" lang="es-AR" sz="3200" spc="-1" strike="noStrike">
                <a:solidFill>
                  <a:srgbClr val="ff0000"/>
                </a:solidFill>
                <a:latin typeface="Calibri"/>
                <a:ea typeface="Calibri"/>
              </a:rPr>
              <a:t>z</a:t>
            </a:r>
            <a:r>
              <a:rPr b="0" lang="es-AR" sz="3200" spc="-1" strike="noStrike">
                <a:solidFill>
                  <a:srgbClr val="000000"/>
                </a:solidFill>
                <a:latin typeface="Calibri"/>
                <a:ea typeface="Calibri"/>
              </a:rPr>
              <a:t>)</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a:t>
            </a:r>
            <a:r>
              <a:rPr b="0" lang="es-AR" sz="3200" spc="-1" strike="noStrike">
                <a:solidFill>
                  <a:srgbClr val="00b050"/>
                </a:solidFill>
                <a:latin typeface="Calibri"/>
                <a:ea typeface="Calibri"/>
              </a:rPr>
              <a:t>x</a:t>
            </a:r>
            <a:r>
              <a:rPr b="0" lang="es-AR" sz="3200" spc="-1" strike="noStrike">
                <a:solidFill>
                  <a:srgbClr val="000000"/>
                </a:solidFill>
                <a:latin typeface="Calibri"/>
                <a:ea typeface="Calibri"/>
              </a:rPr>
              <a:t>.</a:t>
            </a:r>
            <a:r>
              <a:rPr b="0" lang="es-AR" sz="3200" spc="-1" strike="noStrike">
                <a:solidFill>
                  <a:srgbClr val="6d9eeb"/>
                </a:solidFill>
                <a:latin typeface="Calibri"/>
                <a:ea typeface="Calibri"/>
              </a:rPr>
              <a:t>x </a:t>
            </a:r>
            <a:r>
              <a:rPr b="0" lang="es-AR" sz="3200" spc="-1" strike="noStrike">
                <a:solidFill>
                  <a:srgbClr val="ff0000"/>
                </a:solidFill>
                <a:latin typeface="Calibri"/>
                <a:ea typeface="Calibri"/>
              </a:rPr>
              <a:t>z</a:t>
            </a:r>
            <a:r>
              <a:rPr b="0" lang="es-AR" sz="3200" spc="-1" strike="noStrike">
                <a:solidFill>
                  <a:srgbClr val="000000"/>
                </a:solidFill>
                <a:latin typeface="Calibri"/>
                <a:ea typeface="Calibri"/>
              </a:rPr>
              <a:t>) </a:t>
            </a:r>
            <a:r>
              <a:rPr b="0" lang="es-AR" sz="3200" spc="-1" strike="noStrike">
                <a:solidFill>
                  <a:srgbClr val="ff0000"/>
                </a:solidFill>
                <a:latin typeface="Calibri"/>
                <a:ea typeface="Calibri"/>
              </a:rPr>
              <a:t>y</a:t>
            </a:r>
            <a:endParaRPr b="0" lang="es-AR" sz="3200" spc="-1" strike="noStrike">
              <a:solidFill>
                <a:srgbClr val="000000"/>
              </a:solidFill>
              <a:latin typeface="Arial"/>
            </a:endParaRPr>
          </a:p>
          <a:p>
            <a:pPr marL="457200" indent="-342360">
              <a:lnSpc>
                <a:spcPct val="100000"/>
              </a:lnSpc>
              <a:buClr>
                <a:srgbClr val="000000"/>
              </a:buClr>
              <a:buFont typeface="Arial"/>
              <a:buAutoNum type="arabicPeriod"/>
            </a:pPr>
            <a:r>
              <a:rPr b="0" lang="es-AR" sz="3200" spc="-1" strike="noStrike">
                <a:solidFill>
                  <a:srgbClr val="000000"/>
                </a:solidFill>
                <a:latin typeface="Calibri"/>
                <a:ea typeface="Calibri"/>
              </a:rPr>
              <a:t>(λ</a:t>
            </a:r>
            <a:r>
              <a:rPr b="0" lang="es-AR" sz="3200" spc="-1" strike="noStrike">
                <a:solidFill>
                  <a:srgbClr val="00b050"/>
                </a:solidFill>
                <a:latin typeface="Calibri"/>
                <a:ea typeface="Calibri"/>
              </a:rPr>
              <a:t>y</a:t>
            </a:r>
            <a:r>
              <a:rPr b="0" lang="es-AR" sz="3200" spc="-1" strike="noStrike">
                <a:solidFill>
                  <a:srgbClr val="000000"/>
                </a:solidFill>
                <a:latin typeface="Calibri"/>
                <a:ea typeface="Calibri"/>
              </a:rPr>
              <a:t>.(λ</a:t>
            </a:r>
            <a:r>
              <a:rPr b="0" lang="es-AR" sz="3200" spc="-1" strike="noStrike">
                <a:solidFill>
                  <a:srgbClr val="00b050"/>
                </a:solidFill>
                <a:latin typeface="Calibri"/>
                <a:ea typeface="Calibri"/>
              </a:rPr>
              <a:t>z</a:t>
            </a:r>
            <a:r>
              <a:rPr b="0" lang="es-AR" sz="3200" spc="-1" strike="noStrike">
                <a:solidFill>
                  <a:srgbClr val="000000"/>
                </a:solidFill>
                <a:latin typeface="Calibri"/>
                <a:ea typeface="Calibri"/>
              </a:rPr>
              <a:t>. </a:t>
            </a:r>
            <a:r>
              <a:rPr b="0" lang="es-AR" sz="3200" spc="-1" strike="noStrike">
                <a:solidFill>
                  <a:srgbClr val="ff0000"/>
                </a:solidFill>
                <a:latin typeface="Calibri"/>
                <a:ea typeface="Calibri"/>
              </a:rPr>
              <a:t>x</a:t>
            </a:r>
            <a:r>
              <a:rPr b="0" lang="es-AR" sz="3200" spc="-1" strike="noStrike">
                <a:solidFill>
                  <a:srgbClr val="000000"/>
                </a:solidFill>
                <a:latin typeface="Calibri"/>
                <a:ea typeface="Calibri"/>
              </a:rPr>
              <a:t>))</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CustomShape 1"/>
          <p:cNvSpPr/>
          <p:nvPr/>
        </p:nvSpPr>
        <p:spPr>
          <a:xfrm>
            <a:off x="311760" y="35496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Variables en la programación funcional</a:t>
            </a:r>
            <a:endParaRPr b="0" lang="es-AR" sz="4400" spc="-1" strike="noStrike">
              <a:solidFill>
                <a:srgbClr val="000000"/>
              </a:solidFill>
              <a:latin typeface="Arial"/>
            </a:endParaRPr>
          </a:p>
        </p:txBody>
      </p:sp>
      <p:sp>
        <p:nvSpPr>
          <p:cNvPr id="246" name="CustomShape 2"/>
          <p:cNvSpPr/>
          <p:nvPr/>
        </p:nvSpPr>
        <p:spPr>
          <a:xfrm>
            <a:off x="311760" y="2009880"/>
            <a:ext cx="8518320" cy="36115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2400" spc="-1" strike="noStrike">
                <a:solidFill>
                  <a:srgbClr val="000000"/>
                </a:solidFill>
                <a:latin typeface="Calibri"/>
                <a:ea typeface="Calibri"/>
              </a:rPr>
              <a:t>“</a:t>
            </a:r>
            <a:r>
              <a:rPr b="0" lang="es-AR" sz="2400" spc="-1" strike="noStrike">
                <a:solidFill>
                  <a:srgbClr val="000000"/>
                </a:solidFill>
                <a:latin typeface="Calibri"/>
                <a:ea typeface="Calibri"/>
              </a:rPr>
              <a:t>Es dónde va el valor de input dentro de una expresión.” </a:t>
            </a:r>
            <a:endParaRPr b="0" lang="es-AR" sz="2400" spc="-1" strike="noStrike">
              <a:solidFill>
                <a:srgbClr val="000000"/>
              </a:solidFill>
              <a:latin typeface="Arial"/>
            </a:endParaRPr>
          </a:p>
          <a:p>
            <a:pPr algn="ctr">
              <a:lnSpc>
                <a:spcPct val="100000"/>
              </a:lnSpc>
              <a:spcBef>
                <a:spcPts val="1599"/>
              </a:spcBef>
            </a:pPr>
            <a:r>
              <a:rPr b="0" lang="es-AR" sz="3000" spc="-1" strike="noStrike">
                <a:solidFill>
                  <a:srgbClr val="ffffff"/>
                </a:solidFill>
                <a:latin typeface="Calibri"/>
                <a:ea typeface="Calibri"/>
              </a:rPr>
              <a:t>Nada más.</a:t>
            </a:r>
            <a:endParaRPr b="0" lang="es-AR" sz="3000" spc="-1" strike="noStrike">
              <a:solidFill>
                <a:srgbClr val="000000"/>
              </a:solidFill>
              <a:latin typeface="Arial"/>
            </a:endParaRPr>
          </a:p>
          <a:p>
            <a:pPr algn="ctr">
              <a:lnSpc>
                <a:spcPct val="100000"/>
              </a:lnSpc>
              <a:spcBef>
                <a:spcPts val="1599"/>
              </a:spcBef>
            </a:pPr>
            <a:r>
              <a:rPr b="0" lang="es-AR" sz="2400" spc="-1" strike="noStrike">
                <a:solidFill>
                  <a:srgbClr val="ff0000"/>
                </a:solidFill>
                <a:latin typeface="Calibri"/>
                <a:ea typeface="Calibri"/>
              </a:rPr>
              <a:t>NO</a:t>
            </a:r>
            <a:r>
              <a:rPr b="0" lang="es-AR" sz="2400" spc="-1" strike="noStrike">
                <a:solidFill>
                  <a:srgbClr val="000000"/>
                </a:solidFill>
                <a:latin typeface="Calibri"/>
                <a:ea typeface="Calibri"/>
              </a:rPr>
              <a:t> tiene que ver con:</a:t>
            </a:r>
            <a:endParaRPr b="0" lang="es-AR" sz="2400" spc="-1" strike="noStrike">
              <a:solidFill>
                <a:srgbClr val="000000"/>
              </a:solidFill>
              <a:latin typeface="Arial"/>
            </a:endParaRPr>
          </a:p>
          <a:p>
            <a:pPr marL="457200" indent="-380160">
              <a:lnSpc>
                <a:spcPct val="100000"/>
              </a:lnSpc>
              <a:spcBef>
                <a:spcPts val="1599"/>
              </a:spcBef>
              <a:buClr>
                <a:srgbClr val="000000"/>
              </a:buClr>
              <a:buFont typeface="Arial"/>
              <a:buChar char="●"/>
            </a:pPr>
            <a:r>
              <a:rPr b="0" lang="es-AR" sz="2400" spc="-1" strike="noStrike">
                <a:solidFill>
                  <a:srgbClr val="000000"/>
                </a:solidFill>
                <a:latin typeface="Calibri"/>
                <a:ea typeface="Calibri"/>
              </a:rPr>
              <a:t>Asignación (</a:t>
            </a:r>
            <a:r>
              <a:rPr b="0" lang="es-AR" sz="2400" spc="-1" strike="noStrike">
                <a:solidFill>
                  <a:srgbClr val="ff0000"/>
                </a:solidFill>
                <a:latin typeface="Courier New"/>
                <a:ea typeface="Courier New"/>
              </a:rPr>
              <a:t>var x ... x=42 ... x=y ...</a:t>
            </a:r>
            <a:r>
              <a:rPr b="0" lang="es-AR" sz="2400" spc="-1" strike="noStrike">
                <a:solidFill>
                  <a:srgbClr val="000000"/>
                </a:solidFill>
                <a:latin typeface="Calibri"/>
                <a:ea typeface="Calibri"/>
              </a:rPr>
              <a:t>)</a:t>
            </a:r>
            <a:endParaRPr b="0" lang="es-AR" sz="2400" spc="-1" strike="noStrike">
              <a:solidFill>
                <a:srgbClr val="000000"/>
              </a:solidFill>
              <a:latin typeface="Arial"/>
            </a:endParaRPr>
          </a:p>
          <a:p>
            <a:pPr marL="457200" indent="-380160">
              <a:lnSpc>
                <a:spcPct val="100000"/>
              </a:lnSpc>
              <a:buClr>
                <a:srgbClr val="000000"/>
              </a:buClr>
              <a:buFont typeface="Arial"/>
              <a:buChar char="●"/>
            </a:pPr>
            <a:r>
              <a:rPr b="0" lang="es-AR" sz="2400" spc="-1" strike="noStrike">
                <a:solidFill>
                  <a:srgbClr val="000000"/>
                </a:solidFill>
                <a:latin typeface="Calibri"/>
                <a:ea typeface="Calibri"/>
              </a:rPr>
              <a:t>Mutación (</a:t>
            </a:r>
            <a:r>
              <a:rPr b="0" lang="es-AR" sz="2400" spc="-1" strike="noStrike">
                <a:solidFill>
                  <a:srgbClr val="ff0000"/>
                </a:solidFill>
                <a:latin typeface="Courier New"/>
                <a:ea typeface="Courier New"/>
              </a:rPr>
              <a:t>for i=0 ... i++ ... i-- ...</a:t>
            </a:r>
            <a:r>
              <a:rPr b="0" lang="es-AR" sz="2400" spc="-1" strike="noStrike">
                <a:solidFill>
                  <a:srgbClr val="000000"/>
                </a:solidFill>
                <a:latin typeface="Calibri"/>
                <a:ea typeface="Calibri"/>
              </a:rPr>
              <a:t>) </a:t>
            </a:r>
            <a:endParaRPr b="0" lang="es-AR" sz="2400" spc="-1" strike="noStrike">
              <a:solidFill>
                <a:srgbClr val="000000"/>
              </a:solidFill>
              <a:latin typeface="Arial"/>
            </a:endParaRPr>
          </a:p>
          <a:p>
            <a:pPr marL="457200" indent="-380160">
              <a:lnSpc>
                <a:spcPct val="100000"/>
              </a:lnSpc>
              <a:buClr>
                <a:srgbClr val="000000"/>
              </a:buClr>
              <a:buFont typeface="Arial"/>
              <a:buChar char="●"/>
            </a:pPr>
            <a:r>
              <a:rPr b="0" lang="es-AR" sz="2400" spc="-1" strike="noStrike">
                <a:solidFill>
                  <a:srgbClr val="000000"/>
                </a:solidFill>
                <a:latin typeface="Calibri"/>
                <a:ea typeface="Calibri"/>
              </a:rPr>
              <a:t>Cajitas con estado mutable, contadores, etc.</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CustomShape 1"/>
          <p:cNvSpPr/>
          <p:nvPr/>
        </p:nvSpPr>
        <p:spPr>
          <a:xfrm>
            <a:off x="573480" y="29016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Variables en la programación funcional</a:t>
            </a:r>
            <a:endParaRPr b="0" lang="es-AR" sz="4400" spc="-1" strike="noStrike">
              <a:solidFill>
                <a:srgbClr val="000000"/>
              </a:solidFill>
              <a:latin typeface="Arial"/>
            </a:endParaRPr>
          </a:p>
        </p:txBody>
      </p:sp>
      <p:sp>
        <p:nvSpPr>
          <p:cNvPr id="248" name="CustomShape 2"/>
          <p:cNvSpPr/>
          <p:nvPr/>
        </p:nvSpPr>
        <p:spPr>
          <a:xfrm>
            <a:off x="311760" y="2009880"/>
            <a:ext cx="8518320" cy="38005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2400" spc="-1" strike="noStrike">
                <a:solidFill>
                  <a:srgbClr val="000000"/>
                </a:solidFill>
                <a:latin typeface="Calibri"/>
                <a:ea typeface="Calibri"/>
              </a:rPr>
              <a:t>“</a:t>
            </a:r>
            <a:r>
              <a:rPr b="0" lang="es-AR" sz="2400" spc="-1" strike="noStrike">
                <a:solidFill>
                  <a:srgbClr val="000000"/>
                </a:solidFill>
                <a:latin typeface="Calibri"/>
                <a:ea typeface="Calibri"/>
              </a:rPr>
              <a:t>Es dónde va el valor de input dentro de una expresión.” </a:t>
            </a:r>
            <a:endParaRPr b="0" lang="es-AR" sz="2400" spc="-1" strike="noStrike">
              <a:solidFill>
                <a:srgbClr val="000000"/>
              </a:solidFill>
              <a:latin typeface="Arial"/>
            </a:endParaRPr>
          </a:p>
          <a:p>
            <a:pPr algn="ctr">
              <a:lnSpc>
                <a:spcPct val="100000"/>
              </a:lnSpc>
              <a:spcBef>
                <a:spcPts val="1599"/>
              </a:spcBef>
            </a:pPr>
            <a:r>
              <a:rPr b="0" lang="es-AR" sz="3000" spc="-1" strike="noStrike">
                <a:solidFill>
                  <a:srgbClr val="ffffff"/>
                </a:solidFill>
                <a:latin typeface="Calibri"/>
                <a:ea typeface="Calibri"/>
              </a:rPr>
              <a:t>Nada más.</a:t>
            </a:r>
            <a:endParaRPr b="0" lang="es-AR" sz="3000" spc="-1" strike="noStrike">
              <a:solidFill>
                <a:srgbClr val="000000"/>
              </a:solidFill>
              <a:latin typeface="Arial"/>
            </a:endParaRPr>
          </a:p>
          <a:p>
            <a:pPr algn="ctr">
              <a:lnSpc>
                <a:spcPct val="100000"/>
              </a:lnSpc>
              <a:spcBef>
                <a:spcPts val="1599"/>
              </a:spcBef>
            </a:pPr>
            <a:r>
              <a:rPr b="0" lang="es-AR" sz="2400" spc="-1" strike="noStrike">
                <a:solidFill>
                  <a:srgbClr val="000000"/>
                </a:solidFill>
                <a:latin typeface="Calibri"/>
                <a:ea typeface="Calibri"/>
              </a:rPr>
              <a:t>SÍ tiene que ver con:</a:t>
            </a:r>
            <a:endParaRPr b="0" lang="es-AR" sz="2400" spc="-1" strike="noStrike">
              <a:solidFill>
                <a:srgbClr val="000000"/>
              </a:solidFill>
              <a:latin typeface="Arial"/>
            </a:endParaRPr>
          </a:p>
          <a:p>
            <a:pPr marL="457200" indent="-380160">
              <a:lnSpc>
                <a:spcPct val="100000"/>
              </a:lnSpc>
              <a:spcBef>
                <a:spcPts val="1599"/>
              </a:spcBef>
              <a:buClr>
                <a:srgbClr val="000000"/>
              </a:buClr>
              <a:buFont typeface="Arial"/>
              <a:buChar char="●"/>
            </a:pPr>
            <a:r>
              <a:rPr b="0" lang="es-AR" sz="2400" spc="-1" strike="noStrike">
                <a:solidFill>
                  <a:srgbClr val="000000"/>
                </a:solidFill>
                <a:latin typeface="Calibri"/>
                <a:ea typeface="Calibri"/>
              </a:rPr>
              <a:t>Abstracción</a:t>
            </a:r>
            <a:endParaRPr b="0" lang="es-AR" sz="2400" spc="-1" strike="noStrike">
              <a:solidFill>
                <a:srgbClr val="000000"/>
              </a:solidFill>
              <a:latin typeface="Arial"/>
            </a:endParaRPr>
          </a:p>
          <a:p>
            <a:pPr marL="457200" indent="-380160">
              <a:lnSpc>
                <a:spcPct val="100000"/>
              </a:lnSpc>
              <a:buClr>
                <a:srgbClr val="000000"/>
              </a:buClr>
              <a:buFont typeface="Arial"/>
              <a:buChar char="●"/>
            </a:pPr>
            <a:r>
              <a:rPr b="0" lang="es-AR" sz="2400" spc="-1" strike="noStrike">
                <a:solidFill>
                  <a:srgbClr val="000000"/>
                </a:solidFill>
                <a:latin typeface="Calibri"/>
                <a:ea typeface="Calibri"/>
              </a:rPr>
              <a:t>Reutilización</a:t>
            </a:r>
            <a:endParaRPr b="0" lang="es-AR" sz="2400" spc="-1" strike="noStrike">
              <a:solidFill>
                <a:srgbClr val="000000"/>
              </a:solidFill>
              <a:latin typeface="Arial"/>
            </a:endParaRPr>
          </a:p>
          <a:p>
            <a:pPr marL="457200" indent="-380160">
              <a:lnSpc>
                <a:spcPct val="100000"/>
              </a:lnSpc>
              <a:buClr>
                <a:srgbClr val="000000"/>
              </a:buClr>
              <a:buFont typeface="Arial"/>
              <a:buChar char="●"/>
            </a:pPr>
            <a:r>
              <a:rPr b="0" lang="es-AR" sz="2400" spc="-1" strike="noStrike">
                <a:solidFill>
                  <a:srgbClr val="000000"/>
                </a:solidFill>
                <a:latin typeface="Calibri"/>
                <a:ea typeface="Calibri"/>
              </a:rPr>
              <a:t>Razonamiento ecuacional, y universalidad de patrones</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CustomShape 1"/>
          <p:cNvSpPr/>
          <p:nvPr/>
        </p:nvSpPr>
        <p:spPr>
          <a:xfrm>
            <a:off x="410040" y="2894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Variables en la programación funcional</a:t>
            </a:r>
            <a:endParaRPr b="0" lang="es-AR" sz="4400" spc="-1" strike="noStrike">
              <a:solidFill>
                <a:srgbClr val="000000"/>
              </a:solidFill>
              <a:latin typeface="Arial"/>
            </a:endParaRPr>
          </a:p>
        </p:txBody>
      </p:sp>
      <p:sp>
        <p:nvSpPr>
          <p:cNvPr id="250" name="CustomShape 2"/>
          <p:cNvSpPr/>
          <p:nvPr/>
        </p:nvSpPr>
        <p:spPr>
          <a:xfrm>
            <a:off x="311760" y="307152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1 * 2</a:t>
            </a:r>
            <a:endParaRPr b="0" lang="es-AR" sz="3000" spc="-1" strike="noStrike">
              <a:solidFill>
                <a:srgbClr val="000000"/>
              </a:solidFill>
              <a:latin typeface="Arial"/>
            </a:endParaRPr>
          </a:p>
        </p:txBody>
      </p:sp>
      <p:sp>
        <p:nvSpPr>
          <p:cNvPr id="251" name="CustomShape 3"/>
          <p:cNvSpPr/>
          <p:nvPr/>
        </p:nvSpPr>
        <p:spPr>
          <a:xfrm>
            <a:off x="3973320" y="307152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5 * 2</a:t>
            </a:r>
            <a:endParaRPr b="0" lang="es-AR" sz="3000" spc="-1" strike="noStrike">
              <a:solidFill>
                <a:srgbClr val="000000"/>
              </a:solidFill>
              <a:latin typeface="Arial"/>
            </a:endParaRPr>
          </a:p>
        </p:txBody>
      </p:sp>
      <p:sp>
        <p:nvSpPr>
          <p:cNvPr id="252" name="CustomShape 4"/>
          <p:cNvSpPr/>
          <p:nvPr/>
        </p:nvSpPr>
        <p:spPr>
          <a:xfrm>
            <a:off x="7634880" y="307152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9 * 2</a:t>
            </a:r>
            <a:endParaRPr b="0" lang="es-AR" sz="3000" spc="-1" strike="noStrike">
              <a:solidFill>
                <a:srgbClr val="000000"/>
              </a:solidFill>
              <a:latin typeface="Arial"/>
            </a:endParaRPr>
          </a:p>
        </p:txBody>
      </p:sp>
      <p:sp>
        <p:nvSpPr>
          <p:cNvPr id="253" name="CustomShape 5"/>
          <p:cNvSpPr/>
          <p:nvPr/>
        </p:nvSpPr>
        <p:spPr>
          <a:xfrm>
            <a:off x="2142360" y="307152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3 * 2</a:t>
            </a:r>
            <a:endParaRPr b="0" lang="es-AR" sz="3000" spc="-1" strike="noStrike">
              <a:solidFill>
                <a:srgbClr val="000000"/>
              </a:solidFill>
              <a:latin typeface="Arial"/>
            </a:endParaRPr>
          </a:p>
        </p:txBody>
      </p:sp>
      <p:sp>
        <p:nvSpPr>
          <p:cNvPr id="254" name="CustomShape 6"/>
          <p:cNvSpPr/>
          <p:nvPr/>
        </p:nvSpPr>
        <p:spPr>
          <a:xfrm>
            <a:off x="5804280" y="307152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7 * 2</a:t>
            </a:r>
            <a:endParaRPr b="0" lang="es-AR" sz="3000" spc="-1" strike="noStrike">
              <a:solidFill>
                <a:srgbClr val="000000"/>
              </a:solidFill>
              <a:latin typeface="Arial"/>
            </a:endParaRPr>
          </a:p>
        </p:txBody>
      </p:sp>
      <p:sp>
        <p:nvSpPr>
          <p:cNvPr id="255" name="CustomShape 7"/>
          <p:cNvSpPr/>
          <p:nvPr/>
        </p:nvSpPr>
        <p:spPr>
          <a:xfrm>
            <a:off x="311760" y="3778920"/>
            <a:ext cx="8518320" cy="16466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Muchas expresiones con el mismo patrón o noción.</a:t>
            </a:r>
            <a:endParaRPr b="0" lang="es-AR" sz="3000" spc="-1" strike="noStrike">
              <a:solidFill>
                <a:srgbClr val="000000"/>
              </a:solidFill>
              <a:latin typeface="Arial"/>
            </a:endParaRPr>
          </a:p>
          <a:p>
            <a:pPr algn="ctr">
              <a:lnSpc>
                <a:spcPct val="100000"/>
              </a:lnSpc>
              <a:spcBef>
                <a:spcPts val="1599"/>
              </a:spcBef>
              <a:spcAft>
                <a:spcPts val="1599"/>
              </a:spcAft>
            </a:pPr>
            <a:r>
              <a:rPr b="0" lang="es-AR" sz="3000" spc="-1" strike="noStrike">
                <a:solidFill>
                  <a:srgbClr val="000000"/>
                </a:solidFill>
                <a:latin typeface="Calibri"/>
                <a:ea typeface="Calibri"/>
              </a:rPr>
              <a:t>Buscamos una expresión que lo abstraiga.</a:t>
            </a:r>
            <a:endParaRPr b="0" lang="es-A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CustomShape 1"/>
          <p:cNvSpPr/>
          <p:nvPr/>
        </p:nvSpPr>
        <p:spPr>
          <a:xfrm>
            <a:off x="3678840" y="3521880"/>
            <a:ext cx="1784520" cy="844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600" spc="-1" strike="noStrike">
                <a:solidFill>
                  <a:srgbClr val="002060"/>
                </a:solidFill>
                <a:latin typeface="Calibri"/>
                <a:ea typeface="Calibri"/>
              </a:rPr>
              <a:t>x</a:t>
            </a:r>
            <a:r>
              <a:rPr b="0" lang="es-AR" sz="3600" spc="-1" strike="noStrike">
                <a:solidFill>
                  <a:srgbClr val="000000"/>
                </a:solidFill>
                <a:latin typeface="Calibri"/>
                <a:ea typeface="Calibri"/>
              </a:rPr>
              <a:t> * 2</a:t>
            </a:r>
            <a:endParaRPr b="0" lang="es-AR" sz="3600" spc="-1" strike="noStrike">
              <a:solidFill>
                <a:srgbClr val="000000"/>
              </a:solidFill>
              <a:latin typeface="Arial"/>
            </a:endParaRPr>
          </a:p>
        </p:txBody>
      </p:sp>
      <p:sp>
        <p:nvSpPr>
          <p:cNvPr id="257" name="CustomShape 2"/>
          <p:cNvSpPr/>
          <p:nvPr/>
        </p:nvSpPr>
        <p:spPr>
          <a:xfrm>
            <a:off x="312480" y="63288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Variables en la programación funcional</a:t>
            </a:r>
            <a:endParaRPr b="0" lang="es-AR" sz="4400" spc="-1" strike="noStrike">
              <a:solidFill>
                <a:srgbClr val="000000"/>
              </a:solidFill>
              <a:latin typeface="Arial"/>
            </a:endParaRPr>
          </a:p>
        </p:txBody>
      </p:sp>
      <p:sp>
        <p:nvSpPr>
          <p:cNvPr id="258" name="CustomShape 3"/>
          <p:cNvSpPr/>
          <p:nvPr/>
        </p:nvSpPr>
        <p:spPr>
          <a:xfrm>
            <a:off x="311760" y="251568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1 * 2</a:t>
            </a:r>
            <a:endParaRPr b="0" lang="es-AR" sz="3000" spc="-1" strike="noStrike">
              <a:solidFill>
                <a:srgbClr val="000000"/>
              </a:solidFill>
              <a:latin typeface="Arial"/>
            </a:endParaRPr>
          </a:p>
        </p:txBody>
      </p:sp>
      <p:sp>
        <p:nvSpPr>
          <p:cNvPr id="259" name="CustomShape 4"/>
          <p:cNvSpPr/>
          <p:nvPr/>
        </p:nvSpPr>
        <p:spPr>
          <a:xfrm>
            <a:off x="3973320" y="251568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5 * 2</a:t>
            </a:r>
            <a:endParaRPr b="0" lang="es-AR" sz="3000" spc="-1" strike="noStrike">
              <a:solidFill>
                <a:srgbClr val="000000"/>
              </a:solidFill>
              <a:latin typeface="Arial"/>
            </a:endParaRPr>
          </a:p>
        </p:txBody>
      </p:sp>
      <p:sp>
        <p:nvSpPr>
          <p:cNvPr id="260" name="CustomShape 5"/>
          <p:cNvSpPr/>
          <p:nvPr/>
        </p:nvSpPr>
        <p:spPr>
          <a:xfrm>
            <a:off x="7634880" y="251568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9 * 2</a:t>
            </a:r>
            <a:endParaRPr b="0" lang="es-AR" sz="3000" spc="-1" strike="noStrike">
              <a:solidFill>
                <a:srgbClr val="000000"/>
              </a:solidFill>
              <a:latin typeface="Arial"/>
            </a:endParaRPr>
          </a:p>
        </p:txBody>
      </p:sp>
      <p:sp>
        <p:nvSpPr>
          <p:cNvPr id="261" name="CustomShape 6"/>
          <p:cNvSpPr/>
          <p:nvPr/>
        </p:nvSpPr>
        <p:spPr>
          <a:xfrm>
            <a:off x="4025520" y="3683160"/>
            <a:ext cx="402120" cy="43344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62" name="CustomShape 7"/>
          <p:cNvSpPr/>
          <p:nvPr/>
        </p:nvSpPr>
        <p:spPr>
          <a:xfrm>
            <a:off x="2142360" y="251568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3 * 2</a:t>
            </a:r>
            <a:endParaRPr b="0" lang="es-AR" sz="3000" spc="-1" strike="noStrike">
              <a:solidFill>
                <a:srgbClr val="000000"/>
              </a:solidFill>
              <a:latin typeface="Arial"/>
            </a:endParaRPr>
          </a:p>
        </p:txBody>
      </p:sp>
      <p:sp>
        <p:nvSpPr>
          <p:cNvPr id="263" name="CustomShape 8"/>
          <p:cNvSpPr/>
          <p:nvPr/>
        </p:nvSpPr>
        <p:spPr>
          <a:xfrm>
            <a:off x="5804280" y="2515680"/>
            <a:ext cx="1195200" cy="570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pPr>
            <a:r>
              <a:rPr b="0" lang="es-AR" sz="3000" spc="-1" strike="noStrike">
                <a:solidFill>
                  <a:srgbClr val="000000"/>
                </a:solidFill>
                <a:latin typeface="Calibri"/>
                <a:ea typeface="Calibri"/>
              </a:rPr>
              <a:t>7 * 2</a:t>
            </a:r>
            <a:endParaRPr b="0" lang="es-AR" sz="3000" spc="-1" strike="noStrike">
              <a:solidFill>
                <a:srgbClr val="000000"/>
              </a:solidFill>
              <a:latin typeface="Arial"/>
            </a:endParaRPr>
          </a:p>
        </p:txBody>
      </p:sp>
      <p:sp>
        <p:nvSpPr>
          <p:cNvPr id="264" name="CustomShape 9"/>
          <p:cNvSpPr/>
          <p:nvPr/>
        </p:nvSpPr>
        <p:spPr>
          <a:xfrm flipV="1" rot="5400000">
            <a:off x="1874160" y="1749240"/>
            <a:ext cx="875880" cy="3422520"/>
          </a:xfrm>
          <a:prstGeom prst="curvedConnector2">
            <a:avLst/>
          </a:prstGeom>
          <a:noFill/>
          <a:ln w="28440">
            <a:solidFill>
              <a:srgbClr val="1f497d"/>
            </a:solidFill>
            <a:round/>
            <a:tailEnd len="med" type="stealth"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65" name="CustomShape 10"/>
          <p:cNvSpPr/>
          <p:nvPr/>
        </p:nvSpPr>
        <p:spPr>
          <a:xfrm flipV="1" rot="5400000">
            <a:off x="2920320" y="2583000"/>
            <a:ext cx="721800" cy="1602000"/>
          </a:xfrm>
          <a:prstGeom prst="curvedConnector3">
            <a:avLst>
              <a:gd name="adj1" fmla="val 45614"/>
            </a:avLst>
          </a:prstGeom>
          <a:noFill/>
          <a:ln w="28440">
            <a:solidFill>
              <a:srgbClr val="1f497d"/>
            </a:solidFill>
            <a:round/>
            <a:tailEnd len="med" type="stealth"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66" name="CustomShape 11"/>
          <p:cNvSpPr/>
          <p:nvPr/>
        </p:nvSpPr>
        <p:spPr>
          <a:xfrm rot="5400000">
            <a:off x="3920760" y="3332520"/>
            <a:ext cx="658080" cy="39600"/>
          </a:xfrm>
          <a:prstGeom prst="curvedConnector3">
            <a:avLst>
              <a:gd name="adj1" fmla="val 50000"/>
            </a:avLst>
          </a:prstGeom>
          <a:noFill/>
          <a:ln w="28440">
            <a:solidFill>
              <a:srgbClr val="1f497d"/>
            </a:solidFill>
            <a:round/>
            <a:tailEnd len="med" type="stealth" w="med"/>
          </a:ln>
        </p:spPr>
        <p:style>
          <a:lnRef idx="0"/>
          <a:fillRef idx="0"/>
          <a:effectRef idx="0"/>
          <a:fontRef idx="minor"/>
        </p:style>
        <p:txBody>
          <a:bodyPr lIns="90000" rIns="90000" tIns="-5040" bIns="-5040" anchor="t">
            <a:noAutofit/>
          </a:bodyPr>
          <a:p>
            <a:endParaRPr b="0" lang="es-AR" sz="1800" spc="-1" strike="noStrike">
              <a:solidFill>
                <a:srgbClr val="000000"/>
              </a:solidFill>
              <a:latin typeface="Arial"/>
            </a:endParaRPr>
          </a:p>
        </p:txBody>
      </p:sp>
      <p:sp>
        <p:nvSpPr>
          <p:cNvPr id="267" name="CustomShape 12"/>
          <p:cNvSpPr/>
          <p:nvPr/>
        </p:nvSpPr>
        <p:spPr>
          <a:xfrm rot="5400000">
            <a:off x="4884480" y="2511360"/>
            <a:ext cx="721800" cy="1745280"/>
          </a:xfrm>
          <a:prstGeom prst="curvedConnector3">
            <a:avLst>
              <a:gd name="adj1" fmla="val 45614"/>
            </a:avLst>
          </a:prstGeom>
          <a:noFill/>
          <a:ln w="28440">
            <a:solidFill>
              <a:srgbClr val="1f497d"/>
            </a:solidFill>
            <a:round/>
            <a:tailEnd len="med" type="stealth"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68" name="CustomShape 13"/>
          <p:cNvSpPr/>
          <p:nvPr/>
        </p:nvSpPr>
        <p:spPr>
          <a:xfrm rot="5400000">
            <a:off x="5551560" y="1699560"/>
            <a:ext cx="1093680" cy="3736800"/>
          </a:xfrm>
          <a:prstGeom prst="curvedConnector3">
            <a:avLst>
              <a:gd name="adj1" fmla="val 121727"/>
            </a:avLst>
          </a:prstGeom>
          <a:noFill/>
          <a:ln w="28440">
            <a:solidFill>
              <a:srgbClr val="1f497d"/>
            </a:solidFill>
            <a:round/>
            <a:tailEnd len="med" type="stealth" w="med"/>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69" name="CustomShape 14"/>
          <p:cNvSpPr/>
          <p:nvPr/>
        </p:nvSpPr>
        <p:spPr>
          <a:xfrm>
            <a:off x="440280" y="2646000"/>
            <a:ext cx="318240" cy="37512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70" name="CustomShape 15"/>
          <p:cNvSpPr/>
          <p:nvPr/>
        </p:nvSpPr>
        <p:spPr>
          <a:xfrm>
            <a:off x="2319840" y="2646000"/>
            <a:ext cx="318240" cy="37512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71" name="CustomShape 16"/>
          <p:cNvSpPr/>
          <p:nvPr/>
        </p:nvSpPr>
        <p:spPr>
          <a:xfrm>
            <a:off x="4109040" y="2646000"/>
            <a:ext cx="318240" cy="37512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72" name="CustomShape 17"/>
          <p:cNvSpPr/>
          <p:nvPr/>
        </p:nvSpPr>
        <p:spPr>
          <a:xfrm>
            <a:off x="5957640" y="2646000"/>
            <a:ext cx="318240" cy="37512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73" name="CustomShape 18"/>
          <p:cNvSpPr/>
          <p:nvPr/>
        </p:nvSpPr>
        <p:spPr>
          <a:xfrm>
            <a:off x="7806240" y="2646000"/>
            <a:ext cx="318240" cy="375120"/>
          </a:xfrm>
          <a:prstGeom prst="flowChartConnector">
            <a:avLst/>
          </a:prstGeom>
          <a:noFill/>
          <a:ln w="0">
            <a:noFill/>
          </a:ln>
        </p:spPr>
        <p:style>
          <a:lnRef idx="0"/>
          <a:fillRef idx="0"/>
          <a:effectRef idx="0"/>
          <a:fontRef idx="minor"/>
        </p:style>
        <p:txBody>
          <a:bodyPr lIns="90000" rIns="90000" tIns="45000" bIns="45000" anchor="t">
            <a:noAutofit/>
          </a:bodyPr>
          <a:p>
            <a:endParaRPr b="0" lang="es-AR" sz="1800" spc="-1" strike="noStrike">
              <a:solidFill>
                <a:srgbClr val="000000"/>
              </a:solidFill>
              <a:latin typeface="Arial"/>
            </a:endParaRPr>
          </a:p>
        </p:txBody>
      </p:sp>
      <p:sp>
        <p:nvSpPr>
          <p:cNvPr id="274" name="CustomShape 19"/>
          <p:cNvSpPr/>
          <p:nvPr/>
        </p:nvSpPr>
        <p:spPr>
          <a:xfrm>
            <a:off x="312480" y="4713840"/>
            <a:ext cx="8518320" cy="13705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Usamos una variable para abstraer la idea de:</a:t>
            </a:r>
            <a:endParaRPr b="0" lang="es-AR" sz="3000" spc="-1" strike="noStrike">
              <a:solidFill>
                <a:srgbClr val="000000"/>
              </a:solidFill>
              <a:latin typeface="Arial"/>
            </a:endParaRPr>
          </a:p>
          <a:p>
            <a:pPr algn="ctr">
              <a:lnSpc>
                <a:spcPct val="100000"/>
              </a:lnSpc>
              <a:spcBef>
                <a:spcPts val="1599"/>
              </a:spcBef>
              <a:spcAft>
                <a:spcPts val="1599"/>
              </a:spcAft>
            </a:pPr>
            <a:r>
              <a:rPr b="0" lang="es-AR" sz="3000" spc="-1" strike="noStrike">
                <a:solidFill>
                  <a:srgbClr val="000000"/>
                </a:solidFill>
                <a:latin typeface="Calibri"/>
                <a:ea typeface="Calibri"/>
              </a:rPr>
              <a:t>“</a:t>
            </a:r>
            <a:r>
              <a:rPr b="0" lang="es-AR" sz="3000" spc="-1" strike="noStrike">
                <a:solidFill>
                  <a:srgbClr val="000000"/>
                </a:solidFill>
                <a:latin typeface="Calibri"/>
                <a:ea typeface="Calibri"/>
              </a:rPr>
              <a:t>Multiplicar por dos” / “El doble”</a:t>
            </a:r>
            <a:endParaRPr b="0" lang="es-A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CustomShape 1"/>
          <p:cNvSpPr/>
          <p:nvPr/>
        </p:nvSpPr>
        <p:spPr>
          <a:xfrm>
            <a:off x="442440" y="50220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r>
              <a:rPr b="0" lang="zh-CN" sz="4400" spc="-1" strike="noStrike">
                <a:solidFill>
                  <a:srgbClr val="000000"/>
                </a:solidFill>
                <a:latin typeface="Calibri"/>
                <a:ea typeface="Calibri"/>
              </a:rPr>
              <a:t>・</a:t>
            </a:r>
            <a:r>
              <a:rPr b="0" lang="es-AR" sz="4400" spc="-1" strike="noStrike">
                <a:solidFill>
                  <a:srgbClr val="000000"/>
                </a:solidFill>
                <a:latin typeface="Calibri"/>
                <a:ea typeface="Calibri"/>
              </a:rPr>
              <a:t>Abstracción</a:t>
            </a:r>
            <a:endParaRPr b="0" lang="es-AR" sz="4400" spc="-1" strike="noStrike">
              <a:solidFill>
                <a:srgbClr val="000000"/>
              </a:solidFill>
              <a:latin typeface="Arial"/>
            </a:endParaRPr>
          </a:p>
        </p:txBody>
      </p:sp>
      <p:sp>
        <p:nvSpPr>
          <p:cNvPr id="276" name="CustomShape 2"/>
          <p:cNvSpPr/>
          <p:nvPr/>
        </p:nvSpPr>
        <p:spPr>
          <a:xfrm>
            <a:off x="311760" y="1422360"/>
            <a:ext cx="8518320" cy="7934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 = V | Λ Λ | </a:t>
            </a:r>
            <a:r>
              <a:rPr b="0" lang="es-AR" sz="3000" spc="-1" strike="noStrike">
                <a:solidFill>
                  <a:srgbClr val="ffffff"/>
                </a:solidFill>
                <a:latin typeface="Calibri"/>
                <a:ea typeface="Calibri"/>
              </a:rPr>
              <a:t>(</a:t>
            </a:r>
            <a:r>
              <a:rPr b="0" lang="es-AR" sz="3000" spc="-1" strike="noStrike">
                <a:solidFill>
                  <a:srgbClr val="93c47d"/>
                </a:solidFill>
                <a:latin typeface="Calibri"/>
                <a:ea typeface="Calibri"/>
              </a:rPr>
              <a:t>λ</a:t>
            </a:r>
            <a:r>
              <a:rPr b="0" lang="es-AR" sz="3000" spc="-1" strike="noStrike">
                <a:solidFill>
                  <a:srgbClr val="ffd966"/>
                </a:solidFill>
                <a:latin typeface="Calibri"/>
                <a:ea typeface="Calibri"/>
              </a:rPr>
              <a:t>V</a:t>
            </a:r>
            <a:r>
              <a:rPr b="0" lang="es-AR" sz="3000" spc="-1" strike="noStrike">
                <a:solidFill>
                  <a:srgbClr val="ffffff"/>
                </a:solidFill>
                <a:latin typeface="Calibri"/>
                <a:ea typeface="Calibri"/>
              </a:rPr>
              <a:t>.Λ)</a:t>
            </a:r>
            <a:endParaRPr b="0" lang="es-AR" sz="3000" spc="-1" strike="noStrike">
              <a:solidFill>
                <a:srgbClr val="000000"/>
              </a:solidFill>
              <a:latin typeface="Arial"/>
            </a:endParaRPr>
          </a:p>
          <a:p>
            <a:pPr>
              <a:lnSpc>
                <a:spcPct val="100000"/>
              </a:lnSpc>
              <a:spcBef>
                <a:spcPts val="1599"/>
              </a:spcBef>
              <a:spcAft>
                <a:spcPts val="1599"/>
              </a:spcAft>
            </a:pPr>
            <a:endParaRPr b="0" lang="es-AR" sz="3000" spc="-1" strike="noStrike">
              <a:solidFill>
                <a:srgbClr val="000000"/>
              </a:solidFill>
              <a:latin typeface="Arial"/>
            </a:endParaRPr>
          </a:p>
        </p:txBody>
      </p:sp>
      <p:sp>
        <p:nvSpPr>
          <p:cNvPr id="277" name="CustomShape 3"/>
          <p:cNvSpPr/>
          <p:nvPr/>
        </p:nvSpPr>
        <p:spPr>
          <a:xfrm>
            <a:off x="311760" y="2217960"/>
            <a:ext cx="8518320" cy="27817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2400" spc="-1" strike="noStrike">
                <a:solidFill>
                  <a:srgbClr val="ffffff"/>
                </a:solidFill>
                <a:latin typeface="Calibri"/>
                <a:ea typeface="Calibri"/>
              </a:rPr>
              <a:t>El</a:t>
            </a:r>
            <a:endParaRPr b="0" lang="es-AR" sz="2400" spc="-1" strike="noStrike">
              <a:solidFill>
                <a:srgbClr val="000000"/>
              </a:solidFill>
              <a:latin typeface="Arial"/>
            </a:endParaRPr>
          </a:p>
          <a:p>
            <a:pPr>
              <a:lnSpc>
                <a:spcPct val="100000"/>
              </a:lnSpc>
              <a:spcBef>
                <a:spcPts val="1599"/>
              </a:spcBef>
            </a:pPr>
            <a:r>
              <a:rPr b="0" lang="es-AR" sz="2400" spc="-1" strike="noStrike">
                <a:solidFill>
                  <a:srgbClr val="000000"/>
                </a:solidFill>
                <a:latin typeface="Calibri"/>
                <a:ea typeface="Calibri"/>
              </a:rPr>
              <a:t>Varias maneras de describir esta aparente limitación:</a:t>
            </a:r>
            <a:endParaRPr b="0" lang="es-AR" sz="2400" spc="-1" strike="noStrike">
              <a:solidFill>
                <a:srgbClr val="000000"/>
              </a:solidFill>
              <a:latin typeface="Arial"/>
            </a:endParaRPr>
          </a:p>
          <a:p>
            <a:pPr marL="457200" indent="-342360">
              <a:lnSpc>
                <a:spcPct val="100000"/>
              </a:lnSpc>
              <a:spcBef>
                <a:spcPts val="1599"/>
              </a:spcBef>
              <a:buClr>
                <a:srgbClr val="000000"/>
              </a:buClr>
              <a:buFont typeface="Arial"/>
              <a:buChar char="●"/>
            </a:pPr>
            <a:r>
              <a:rPr b="0" lang="es-AR" sz="2400" spc="-1" strike="noStrike">
                <a:solidFill>
                  <a:srgbClr val="000000"/>
                </a:solidFill>
                <a:latin typeface="Calibri"/>
                <a:ea typeface="Calibri"/>
              </a:rPr>
              <a:t>La ligadura en una abstracción lambda solo liga una variable</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La abstracción lambda formaliza la noción de función de una variable</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Una lambda es una función anónima que “recibe” un argumento</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La lambda agrega/declara una nueva variable en el “scope”</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CustomShape 1"/>
          <p:cNvSpPr/>
          <p:nvPr/>
        </p:nvSpPr>
        <p:spPr>
          <a:xfrm>
            <a:off x="459000" y="50220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r>
              <a:rPr b="0" lang="zh-CN" sz="4400" spc="-1" strike="noStrike">
                <a:solidFill>
                  <a:srgbClr val="000000"/>
                </a:solidFill>
                <a:latin typeface="Calibri"/>
                <a:ea typeface="Calibri"/>
              </a:rPr>
              <a:t>・</a:t>
            </a:r>
            <a:r>
              <a:rPr b="0" lang="es-AR" sz="4400" spc="-1" strike="noStrike">
                <a:solidFill>
                  <a:srgbClr val="000000"/>
                </a:solidFill>
                <a:latin typeface="Calibri"/>
                <a:ea typeface="Calibri"/>
              </a:rPr>
              <a:t>Currying</a:t>
            </a:r>
            <a:endParaRPr b="0" lang="es-AR" sz="4400" spc="-1" strike="noStrike">
              <a:solidFill>
                <a:srgbClr val="000000"/>
              </a:solidFill>
              <a:latin typeface="Arial"/>
            </a:endParaRPr>
          </a:p>
        </p:txBody>
      </p:sp>
      <p:sp>
        <p:nvSpPr>
          <p:cNvPr id="279" name="CustomShape 2"/>
          <p:cNvSpPr/>
          <p:nvPr/>
        </p:nvSpPr>
        <p:spPr>
          <a:xfrm>
            <a:off x="311760" y="1356480"/>
            <a:ext cx="8518320" cy="7934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 = V | Λ Λ | (λV.Λ)</a:t>
            </a:r>
            <a:endParaRPr b="0" lang="es-AR" sz="3000" spc="-1" strike="noStrike">
              <a:solidFill>
                <a:srgbClr val="000000"/>
              </a:solidFill>
              <a:latin typeface="Arial"/>
            </a:endParaRPr>
          </a:p>
          <a:p>
            <a:pPr>
              <a:lnSpc>
                <a:spcPct val="100000"/>
              </a:lnSpc>
              <a:spcBef>
                <a:spcPts val="1599"/>
              </a:spcBef>
              <a:spcAft>
                <a:spcPts val="1599"/>
              </a:spcAft>
            </a:pPr>
            <a:endParaRPr b="0" lang="es-AR" sz="3000" spc="-1" strike="noStrike">
              <a:solidFill>
                <a:srgbClr val="000000"/>
              </a:solidFill>
              <a:latin typeface="Arial"/>
            </a:endParaRPr>
          </a:p>
        </p:txBody>
      </p:sp>
      <p:sp>
        <p:nvSpPr>
          <p:cNvPr id="280" name="CustomShape 3"/>
          <p:cNvSpPr/>
          <p:nvPr/>
        </p:nvSpPr>
        <p:spPr>
          <a:xfrm>
            <a:off x="311760" y="1937880"/>
            <a:ext cx="8518320" cy="297972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2400" spc="-1" strike="noStrike">
                <a:solidFill>
                  <a:srgbClr val="000000"/>
                </a:solidFill>
                <a:latin typeface="Calibri"/>
                <a:ea typeface="Calibri"/>
              </a:rPr>
              <a:t>Una función de 2 o más argumentos se expresa con 2 o más lambdas anidadas:</a:t>
            </a:r>
            <a:endParaRPr b="0" lang="es-AR" sz="2400" spc="-1" strike="noStrike">
              <a:solidFill>
                <a:srgbClr val="000000"/>
              </a:solidFill>
              <a:latin typeface="Arial"/>
            </a:endParaRPr>
          </a:p>
          <a:p>
            <a:pPr marL="457200" indent="-342360">
              <a:lnSpc>
                <a:spcPct val="100000"/>
              </a:lnSpc>
              <a:spcBef>
                <a:spcPts val="1599"/>
              </a:spcBef>
              <a:buClr>
                <a:srgbClr val="000000"/>
              </a:buClr>
              <a:buFont typeface="Arial"/>
              <a:buChar char="●"/>
            </a:pPr>
            <a:r>
              <a:rPr b="0" lang="es-AR" sz="2400" spc="-1" strike="noStrike">
                <a:solidFill>
                  <a:srgbClr val="000000"/>
                </a:solidFill>
                <a:latin typeface="Calibri"/>
                <a:ea typeface="Calibri"/>
              </a:rPr>
              <a:t>Ej.: f(a,b) = a+b, se representa con: (λa.(λb.a+b)) </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En general, una función de </a:t>
            </a:r>
            <a:r>
              <a:rPr b="0" lang="es-AR" sz="2400" spc="-1" strike="noStrike">
                <a:solidFill>
                  <a:srgbClr val="000000"/>
                </a:solidFill>
                <a:latin typeface="Courier New"/>
                <a:ea typeface="Courier New"/>
              </a:rPr>
              <a:t>N</a:t>
            </a:r>
            <a:r>
              <a:rPr b="0" lang="es-AR" sz="2400" spc="-1" strike="noStrike">
                <a:solidFill>
                  <a:srgbClr val="000000"/>
                </a:solidFill>
                <a:latin typeface="Calibri"/>
                <a:ea typeface="Calibri"/>
              </a:rPr>
              <a:t> argumentos = un árbol de </a:t>
            </a:r>
            <a:r>
              <a:rPr b="0" lang="es-AR" sz="2400" spc="-1" strike="noStrike">
                <a:solidFill>
                  <a:srgbClr val="000000"/>
                </a:solidFill>
                <a:latin typeface="Courier New"/>
                <a:ea typeface="Courier New"/>
              </a:rPr>
              <a:t>N</a:t>
            </a:r>
            <a:r>
              <a:rPr b="0" lang="es-AR" sz="2400" spc="-1" strike="noStrike">
                <a:solidFill>
                  <a:srgbClr val="000000"/>
                </a:solidFill>
                <a:latin typeface="Calibri"/>
                <a:ea typeface="Calibri"/>
              </a:rPr>
              <a:t> λ’s de 1 argumento</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a:t>
            </a:r>
            <a:r>
              <a:rPr b="0" lang="es-AR" sz="2400" spc="-1" strike="noStrike">
                <a:solidFill>
                  <a:srgbClr val="000000"/>
                </a:solidFill>
                <a:latin typeface="Calibri"/>
                <a:ea typeface="Calibri"/>
              </a:rPr>
              <a:t>Curry” por Haskell B. Curry (la técnica ya la usaba Schönfinkel en 1924)</a:t>
            </a:r>
            <a:endParaRPr b="0" lang="es-AR" sz="2400" spc="-1" strike="noStrike">
              <a:solidFill>
                <a:srgbClr val="000000"/>
              </a:solidFill>
              <a:latin typeface="Arial"/>
            </a:endParaRPr>
          </a:p>
          <a:p>
            <a:pPr algn="ctr">
              <a:lnSpc>
                <a:spcPct val="100000"/>
              </a:lnSpc>
              <a:spcBef>
                <a:spcPts val="1599"/>
              </a:spcBef>
              <a:spcAft>
                <a:spcPts val="1599"/>
              </a:spcAft>
            </a:pPr>
            <a:r>
              <a:rPr b="0" lang="es-AR" sz="2400" spc="-1" strike="noStrike">
                <a:solidFill>
                  <a:srgbClr val="000000"/>
                </a:solidFill>
                <a:latin typeface="Calibri"/>
                <a:ea typeface="Calibri"/>
              </a:rPr>
              <a:t>Entender currying ES CLAVE para entender la motivación y función de abstracciones fundamentales, y saber leer las anotaciones de tipado</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311760" y="7142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 </a:t>
            </a:r>
            <a:endParaRPr b="0" lang="es-AR" sz="4400" spc="-1" strike="noStrike">
              <a:solidFill>
                <a:srgbClr val="000000"/>
              </a:solidFill>
              <a:latin typeface="Arial"/>
            </a:endParaRPr>
          </a:p>
        </p:txBody>
      </p:sp>
      <p:sp>
        <p:nvSpPr>
          <p:cNvPr id="282" name="CustomShape 2"/>
          <p:cNvSpPr/>
          <p:nvPr/>
        </p:nvSpPr>
        <p:spPr>
          <a:xfrm>
            <a:off x="311760" y="1744200"/>
            <a:ext cx="8518320" cy="3872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2000" spc="-1" strike="noStrike">
                <a:solidFill>
                  <a:srgbClr val="000000"/>
                </a:solidFill>
                <a:latin typeface="Calibri"/>
                <a:ea typeface="Calibri"/>
              </a:rPr>
              <a:t>Inventado por Alonzo Church, para capturar la noción de “computabilidad”, nos da:</a:t>
            </a:r>
            <a:endParaRPr b="0" lang="es-AR" sz="2000" spc="-1" strike="noStrike">
              <a:solidFill>
                <a:srgbClr val="000000"/>
              </a:solidFill>
              <a:latin typeface="Arial"/>
            </a:endParaRPr>
          </a:p>
          <a:p>
            <a:pPr marL="457200" indent="-342360">
              <a:lnSpc>
                <a:spcPct val="100000"/>
              </a:lnSpc>
              <a:spcBef>
                <a:spcPts val="1599"/>
              </a:spcBef>
              <a:buClr>
                <a:srgbClr val="000000"/>
              </a:buClr>
              <a:buFont typeface="Arial"/>
              <a:buChar char="●"/>
            </a:pPr>
            <a:r>
              <a:rPr b="0" lang="es-AR" sz="2000" spc="-1" strike="noStrike">
                <a:solidFill>
                  <a:srgbClr val="000000"/>
                </a:solidFill>
                <a:latin typeface="Calibri"/>
                <a:ea typeface="Calibri"/>
              </a:rPr>
              <a:t>Una descripción precisa del comportamiento input-output de las funciones</a:t>
            </a:r>
            <a:endParaRPr b="0" lang="es-AR" sz="2000" spc="-1" strike="noStrike">
              <a:solidFill>
                <a:srgbClr val="000000"/>
              </a:solidFill>
              <a:latin typeface="Arial"/>
            </a:endParaRPr>
          </a:p>
          <a:p>
            <a:pPr marL="457200" indent="-342360">
              <a:lnSpc>
                <a:spcPct val="100000"/>
              </a:lnSpc>
              <a:buClr>
                <a:srgbClr val="000000"/>
              </a:buClr>
              <a:buFont typeface="Arial"/>
              <a:buChar char="●"/>
            </a:pPr>
            <a:r>
              <a:rPr b="0" lang="es-AR" sz="2000" spc="-1" strike="noStrike">
                <a:solidFill>
                  <a:srgbClr val="000000"/>
                </a:solidFill>
                <a:latin typeface="Calibri"/>
                <a:ea typeface="Calibri"/>
              </a:rPr>
              <a:t>Una base simple y consistente para razonar sobre “scope” de variables</a:t>
            </a:r>
            <a:endParaRPr b="0" lang="es-AR" sz="2000" spc="-1" strike="noStrike">
              <a:solidFill>
                <a:srgbClr val="000000"/>
              </a:solidFill>
              <a:latin typeface="Arial"/>
            </a:endParaRPr>
          </a:p>
          <a:p>
            <a:pPr marL="457200" indent="-342360">
              <a:lnSpc>
                <a:spcPct val="100000"/>
              </a:lnSpc>
              <a:buClr>
                <a:srgbClr val="000000"/>
              </a:buClr>
              <a:buFont typeface="Arial"/>
              <a:buChar char="●"/>
            </a:pPr>
            <a:r>
              <a:rPr b="0" lang="es-AR" sz="2000" spc="-1" strike="noStrike">
                <a:solidFill>
                  <a:srgbClr val="000000"/>
                </a:solidFill>
                <a:latin typeface="Calibri"/>
                <a:ea typeface="Calibri"/>
              </a:rPr>
              <a:t>La idea de “evaluación” como sustitución rigurosa de un término por otro</a:t>
            </a:r>
            <a:endParaRPr b="0" lang="es-AR" sz="2000" spc="-1" strike="noStrike">
              <a:solidFill>
                <a:srgbClr val="000000"/>
              </a:solidFill>
              <a:latin typeface="Arial"/>
            </a:endParaRPr>
          </a:p>
          <a:p>
            <a:pPr marL="457200" indent="-342360">
              <a:lnSpc>
                <a:spcPct val="100000"/>
              </a:lnSpc>
              <a:buClr>
                <a:srgbClr val="000000"/>
              </a:buClr>
              <a:buFont typeface="Arial"/>
              <a:buChar char="●"/>
            </a:pPr>
            <a:r>
              <a:rPr b="0" lang="es-AR" sz="2000" spc="-1" strike="noStrike">
                <a:solidFill>
                  <a:srgbClr val="000000"/>
                </a:solidFill>
                <a:latin typeface="Calibri"/>
                <a:ea typeface="Calibri"/>
              </a:rPr>
              <a:t>Paralelismo embebido</a:t>
            </a:r>
            <a:endParaRPr b="0" lang="es-AR" sz="2000" spc="-1" strike="noStrike">
              <a:solidFill>
                <a:srgbClr val="000000"/>
              </a:solidFill>
              <a:latin typeface="Arial"/>
            </a:endParaRPr>
          </a:p>
          <a:p>
            <a:pPr marL="114480">
              <a:lnSpc>
                <a:spcPct val="100000"/>
              </a:lnSpc>
            </a:pPr>
            <a:endParaRPr b="0" lang="es-AR" sz="2000" spc="-1" strike="noStrike">
              <a:solidFill>
                <a:srgbClr val="000000"/>
              </a:solidFill>
              <a:latin typeface="Arial"/>
            </a:endParaRPr>
          </a:p>
          <a:p>
            <a:pPr marL="114480">
              <a:lnSpc>
                <a:spcPct val="100000"/>
              </a:lnSpc>
            </a:pPr>
            <a:r>
              <a:rPr b="0" lang="es-AR" sz="2000" spc="-1" strike="noStrike">
                <a:solidFill>
                  <a:srgbClr val="000000"/>
                </a:solidFill>
                <a:latin typeface="Calibri"/>
                <a:ea typeface="Calibri"/>
              </a:rPr>
              <a:t>Quizás lo más relevante para la programación:</a:t>
            </a:r>
            <a:endParaRPr b="0" lang="es-AR" sz="2000" spc="-1" strike="noStrike">
              <a:solidFill>
                <a:srgbClr val="000000"/>
              </a:solidFill>
              <a:latin typeface="Arial"/>
            </a:endParaRPr>
          </a:p>
          <a:p>
            <a:pPr marL="114480" algn="ctr">
              <a:lnSpc>
                <a:spcPct val="100000"/>
              </a:lnSpc>
              <a:spcBef>
                <a:spcPts val="1599"/>
              </a:spcBef>
              <a:spcAft>
                <a:spcPts val="1599"/>
              </a:spcAft>
            </a:pPr>
            <a:r>
              <a:rPr b="0" lang="es-AR" sz="2000" spc="-1" strike="noStrike">
                <a:solidFill>
                  <a:srgbClr val="000000"/>
                </a:solidFill>
                <a:latin typeface="Calibri"/>
                <a:ea typeface="Calibri"/>
              </a:rPr>
              <a:t>Poder razonar sobre un programa de la misma manera que razonamos sobre ecuaciones y operaciones aritméticas puras.</a:t>
            </a:r>
            <a:endParaRPr b="0" lang="es-A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CustomShape 1"/>
          <p:cNvSpPr/>
          <p:nvPr/>
        </p:nvSpPr>
        <p:spPr>
          <a:xfrm>
            <a:off x="311760" y="4532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Variantes</a:t>
            </a:r>
            <a:endParaRPr b="0" lang="es-AR" sz="4400" spc="-1" strike="noStrike">
              <a:solidFill>
                <a:srgbClr val="000000"/>
              </a:solidFill>
              <a:latin typeface="Arial"/>
            </a:endParaRPr>
          </a:p>
        </p:txBody>
      </p:sp>
      <p:sp>
        <p:nvSpPr>
          <p:cNvPr id="284" name="CustomShape 2"/>
          <p:cNvSpPr/>
          <p:nvPr/>
        </p:nvSpPr>
        <p:spPr>
          <a:xfrm>
            <a:off x="311760" y="1403640"/>
            <a:ext cx="8518320" cy="40482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2400" spc="-1" strike="noStrike">
                <a:solidFill>
                  <a:srgbClr val="000000"/>
                </a:solidFill>
                <a:latin typeface="Calibri"/>
                <a:ea typeface="Calibri"/>
              </a:rPr>
              <a:t>El cálculo original, no tipado, tiene limitaciones, que hicieron surgir “variantes” tipadas:</a:t>
            </a:r>
            <a:endParaRPr b="0" lang="es-AR" sz="2400" spc="-1" strike="noStrike">
              <a:solidFill>
                <a:srgbClr val="000000"/>
              </a:solidFill>
              <a:latin typeface="Arial"/>
            </a:endParaRPr>
          </a:p>
          <a:p>
            <a:pPr marL="457200" indent="-342360">
              <a:lnSpc>
                <a:spcPct val="100000"/>
              </a:lnSpc>
              <a:spcBef>
                <a:spcPts val="1599"/>
              </a:spcBef>
              <a:buClr>
                <a:srgbClr val="000000"/>
              </a:buClr>
              <a:buFont typeface="Arial"/>
              <a:buChar char="●"/>
            </a:pPr>
            <a:r>
              <a:rPr b="0" lang="es-AR" sz="2400" spc="-1" strike="noStrike">
                <a:solidFill>
                  <a:srgbClr val="000000"/>
                </a:solidFill>
                <a:latin typeface="Calibri"/>
                <a:ea typeface="Calibri"/>
              </a:rPr>
              <a:t>Simplemente tipado (Simply-typed Lambda Calculus)</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Polimórficamente tipado (System-F)</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Dependentemente tipado (Lambda-Pi)</a:t>
            </a:r>
            <a:endParaRPr b="0" lang="es-AR" sz="2400" spc="-1" strike="noStrike">
              <a:solidFill>
                <a:srgbClr val="000000"/>
              </a:solidFill>
              <a:latin typeface="Arial"/>
            </a:endParaRPr>
          </a:p>
          <a:p>
            <a:pPr>
              <a:lnSpc>
                <a:spcPct val="100000"/>
              </a:lnSpc>
              <a:spcBef>
                <a:spcPts val="1599"/>
              </a:spcBef>
            </a:pPr>
            <a:r>
              <a:rPr b="0" lang="es-AR" sz="2400" spc="-1" strike="noStrike">
                <a:solidFill>
                  <a:srgbClr val="000000"/>
                </a:solidFill>
                <a:latin typeface="Calibri"/>
                <a:ea typeface="Calibri"/>
              </a:rPr>
              <a:t>Cada variante del cálculo tipado tiene distintos features en lo que concierne a:</a:t>
            </a:r>
            <a:endParaRPr b="0" lang="es-AR" sz="2400" spc="-1" strike="noStrike">
              <a:solidFill>
                <a:srgbClr val="000000"/>
              </a:solidFill>
              <a:latin typeface="Arial"/>
            </a:endParaRPr>
          </a:p>
          <a:p>
            <a:pPr marL="457200" indent="-342360">
              <a:lnSpc>
                <a:spcPct val="100000"/>
              </a:lnSpc>
              <a:spcBef>
                <a:spcPts val="1599"/>
              </a:spcBef>
              <a:buClr>
                <a:srgbClr val="000000"/>
              </a:buClr>
              <a:buFont typeface="Arial"/>
              <a:buChar char="●"/>
            </a:pPr>
            <a:r>
              <a:rPr b="0" lang="es-AR" sz="2400" spc="-1" strike="noStrike">
                <a:solidFill>
                  <a:srgbClr val="000000"/>
                </a:solidFill>
                <a:latin typeface="Calibri"/>
                <a:ea typeface="Calibri"/>
              </a:rPr>
              <a:t>Garantías de terminación</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Habilidad de expresión</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Etc.</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CustomShape 23"/>
          <p:cNvSpPr/>
          <p:nvPr/>
        </p:nvSpPr>
        <p:spPr>
          <a:xfrm>
            <a:off x="311760" y="3938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Cálculo λ</a:t>
            </a:r>
            <a:endParaRPr b="0" lang="es-AR" sz="4400" spc="-1" strike="noStrike">
              <a:solidFill>
                <a:srgbClr val="000000"/>
              </a:solidFill>
              <a:latin typeface="Arial"/>
            </a:endParaRPr>
          </a:p>
        </p:txBody>
      </p:sp>
      <p:sp>
        <p:nvSpPr>
          <p:cNvPr id="286" name="CustomShape 26"/>
          <p:cNvSpPr/>
          <p:nvPr/>
        </p:nvSpPr>
        <p:spPr>
          <a:xfrm>
            <a:off x="311760" y="1260000"/>
            <a:ext cx="8518320" cy="416412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pPr>
            <a:r>
              <a:rPr b="0" lang="es-AR" sz="1800" spc="-1" strike="noStrike">
                <a:solidFill>
                  <a:srgbClr val="000000"/>
                </a:solidFill>
                <a:latin typeface="Arial"/>
                <a:ea typeface="DejaVu Sans"/>
              </a:rPr>
              <a:t>El cálculo lambda es un sistema matemático que sirve para entender funciones y computación. Fue creado por el lógico Alonzo Church en la década de 1930, y es la base de muchos lenguajes de programación funcionales como Haskell y Scala.</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Funciones anónimas: En el cálculo lambda, todo gira en torno a funciones. Estas funciones no tienen nombres, solo se definen por lo que hacen. Por ejemplo, una función que suma 1 a su entrada sería así:</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   </a:t>
            </a:r>
            <a:r>
              <a:rPr b="0" lang="es-AR" sz="1800" spc="-1" strike="noStrike">
                <a:solidFill>
                  <a:srgbClr val="000000"/>
                </a:solidFill>
                <a:latin typeface="Arial"/>
                <a:ea typeface="DejaVu Sans"/>
              </a:rPr>
              <a:t>-λx.x+1</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   </a:t>
            </a:r>
            <a:r>
              <a:rPr b="0" lang="es-AR" sz="1800" spc="-1" strike="noStrike">
                <a:solidFill>
                  <a:srgbClr val="000000"/>
                </a:solidFill>
                <a:latin typeface="Arial"/>
                <a:ea typeface="DejaVu Sans"/>
              </a:rPr>
              <a:t>- Se lee como: "una función que toma un argumento `x` y devuelve `x + 1`".</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Aplicación de funciones: Para usar una función, simplemente se "aplica" a un valor. Por ejemplo:</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   </a:t>
            </a:r>
            <a:r>
              <a:rPr b="0" lang="es-AR" sz="1800" spc="-1" strike="noStrike">
                <a:solidFill>
                  <a:srgbClr val="000000"/>
                </a:solidFill>
                <a:latin typeface="Arial"/>
                <a:ea typeface="DejaVu Sans"/>
              </a:rPr>
              <a:t>- Si aplicas la función λx.x+1 al número 2, sería:</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   </a:t>
            </a:r>
            <a:r>
              <a:rPr b="0" lang="es-AR" sz="1800" spc="-1" strike="noStrike">
                <a:solidFill>
                  <a:srgbClr val="000000"/>
                </a:solidFill>
                <a:latin typeface="Arial"/>
                <a:ea typeface="DejaVu Sans"/>
              </a:rPr>
              <a:t>- (λx.x+1)(2) = 2+1=3.</a:t>
            </a:r>
            <a:endParaRPr b="0" lang="es-AR" sz="1800" spc="-1" strike="noStrike">
              <a:solidFill>
                <a:srgbClr val="000000"/>
              </a:solidFill>
              <a:latin typeface="Arial"/>
            </a:endParaRPr>
          </a:p>
          <a:p>
            <a:pPr>
              <a:lnSpc>
                <a:spcPct val="100000"/>
              </a:lnSpc>
              <a:spcAft>
                <a:spcPts val="1599"/>
              </a:spcAft>
            </a:pPr>
            <a:r>
              <a:rPr b="0" lang="es-AR" sz="1800" spc="-1" strike="noStrike">
                <a:solidFill>
                  <a:srgbClr val="000000"/>
                </a:solidFill>
                <a:latin typeface="Arial"/>
                <a:ea typeface="DejaVu Sans"/>
              </a:rPr>
              <a:t>Sustitución: Al aplicar una función, el valor reemplaza al parámetro. En el ejemplo anterior, el 2 sustituye a la `x`, así que `x + 1` se convierte en `2 + 1`.</a:t>
            </a:r>
            <a:endParaRPr b="0" lang="es-AR" sz="1800" spc="-1" strike="noStrike">
              <a:solidFill>
                <a:srgbClr val="000000"/>
              </a:solidFill>
              <a:latin typeface="Arial"/>
            </a:endParaRPr>
          </a:p>
          <a:p>
            <a:pPr>
              <a:lnSpc>
                <a:spcPct val="100000"/>
              </a:lnSpc>
              <a:spcAft>
                <a:spcPts val="1599"/>
              </a:spcAft>
            </a:pPr>
            <a:endParaRPr b="0" lang="es-AR" sz="1800" spc="-1" strike="noStrike">
              <a:solidFill>
                <a:srgbClr val="000000"/>
              </a:solidFill>
              <a:latin typeface="Arial"/>
            </a:endParaRPr>
          </a:p>
          <a:p>
            <a:pPr>
              <a:lnSpc>
                <a:spcPct val="100000"/>
              </a:lnSpc>
              <a:spcAft>
                <a:spcPts val="1599"/>
              </a:spcAft>
            </a:pPr>
            <a:endParaRPr b="0" lang="es-A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CustomShape 1"/>
          <p:cNvSpPr/>
          <p:nvPr/>
        </p:nvSpPr>
        <p:spPr>
          <a:xfrm>
            <a:off x="311760" y="453240"/>
            <a:ext cx="8518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Haskell: λ-calculus extendido</a:t>
            </a:r>
            <a:endParaRPr b="0" lang="es-AR" sz="4400" spc="-1" strike="noStrike">
              <a:solidFill>
                <a:srgbClr val="000000"/>
              </a:solidFill>
              <a:latin typeface="Arial"/>
            </a:endParaRPr>
          </a:p>
        </p:txBody>
      </p:sp>
      <p:sp>
        <p:nvSpPr>
          <p:cNvPr id="288" name="CustomShape 2"/>
          <p:cNvSpPr/>
          <p:nvPr/>
        </p:nvSpPr>
        <p:spPr>
          <a:xfrm>
            <a:off x="164520" y="5434200"/>
            <a:ext cx="8518320" cy="16120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3000" spc="-1" strike="noStrike">
                <a:solidFill>
                  <a:srgbClr val="000000"/>
                </a:solidFill>
                <a:latin typeface="Calibri"/>
                <a:ea typeface="Calibri"/>
              </a:rPr>
              <a:t>λ-calculus con tipos polimórficos.</a:t>
            </a:r>
            <a:endParaRPr b="0" lang="es-AR" sz="3000" spc="-1" strike="noStrike">
              <a:solidFill>
                <a:srgbClr val="000000"/>
              </a:solidFill>
              <a:latin typeface="Arial"/>
            </a:endParaRPr>
          </a:p>
        </p:txBody>
      </p:sp>
      <p:sp>
        <p:nvSpPr>
          <p:cNvPr id="289" name="CustomShape 3"/>
          <p:cNvSpPr/>
          <p:nvPr/>
        </p:nvSpPr>
        <p:spPr>
          <a:xfrm>
            <a:off x="311760" y="1287000"/>
            <a:ext cx="8518320" cy="221112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Char char="●"/>
            </a:pPr>
            <a:r>
              <a:rPr b="0" lang="es-AR" sz="2400" spc="-1" strike="noStrike">
                <a:solidFill>
                  <a:srgbClr val="000000"/>
                </a:solidFill>
                <a:latin typeface="Calibri"/>
                <a:ea typeface="Calibri"/>
              </a:rPr>
              <a:t>Es el LC extendido con constantes, syntax sugar, y un type system </a:t>
            </a:r>
            <a:r>
              <a:rPr b="0" lang="es-AR" sz="2400" spc="-1" strike="noStrike" u="sng">
                <a:solidFill>
                  <a:srgbClr val="000000"/>
                </a:solidFill>
                <a:uFillTx/>
                <a:latin typeface="Calibri"/>
                <a:ea typeface="Calibri"/>
              </a:rPr>
              <a:t>muy</a:t>
            </a:r>
            <a:r>
              <a:rPr b="0" lang="es-AR" sz="2400" spc="-1" strike="noStrike">
                <a:solidFill>
                  <a:srgbClr val="000000"/>
                </a:solidFill>
                <a:latin typeface="Calibri"/>
                <a:ea typeface="Calibri"/>
              </a:rPr>
              <a:t> expresivo.</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Nació como “unificador” (muchos papers de FP pura / lazy, poca consistencia)</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Diseñado por comité al principio. Luego de volverse robusto, se “liberó”</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(Nota: Ver “Frege”, actualmente (2016) el único lenguaje similar para la JVM)</a:t>
            </a:r>
            <a:endParaRPr b="0" lang="es-AR" sz="2400" spc="-1" strike="noStrike">
              <a:solidFill>
                <a:srgbClr val="000000"/>
              </a:solidFill>
              <a:latin typeface="Arial"/>
            </a:endParaRPr>
          </a:p>
          <a:p>
            <a:pPr marL="457200" indent="-342360">
              <a:lnSpc>
                <a:spcPct val="100000"/>
              </a:lnSpc>
              <a:buClr>
                <a:srgbClr val="000000"/>
              </a:buClr>
              <a:buFont typeface="Arial"/>
              <a:buChar char="●"/>
            </a:pPr>
            <a:r>
              <a:rPr b="0" lang="es-AR" sz="2400" spc="-1" strike="noStrike">
                <a:solidFill>
                  <a:srgbClr val="000000"/>
                </a:solidFill>
                <a:latin typeface="Calibri"/>
                <a:ea typeface="Calibri"/>
              </a:rPr>
              <a:t>Tipos: simples, polimórficos, existenciales, dinámicos, fantasmas, líquidos, …</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CustomShape 1"/>
          <p:cNvSpPr/>
          <p:nvPr/>
        </p:nvSpPr>
        <p:spPr>
          <a:xfrm>
            <a:off x="1109880" y="576000"/>
            <a:ext cx="6592320" cy="570600"/>
          </a:xfrm>
          <a:prstGeom prst="rect">
            <a:avLst/>
          </a:prstGeom>
          <a:noFill/>
          <a:ln w="0">
            <a:noFill/>
          </a:ln>
        </p:spPr>
        <p:style>
          <a:lnRef idx="0"/>
          <a:fillRef idx="0"/>
          <a:effectRef idx="0"/>
          <a:fontRef idx="minor"/>
        </p:style>
        <p:txBody>
          <a:bodyPr lIns="90000" rIns="90000" tIns="91440" bIns="91440" anchor="t">
            <a:noAutofit/>
          </a:bodyPr>
          <a:p>
            <a:pPr>
              <a:lnSpc>
                <a:spcPct val="100000"/>
              </a:lnSpc>
            </a:pPr>
            <a:r>
              <a:rPr b="0" lang="es-AR" sz="4400" spc="-1" strike="noStrike">
                <a:solidFill>
                  <a:srgbClr val="000000"/>
                </a:solidFill>
                <a:latin typeface="Calibri"/>
                <a:ea typeface="Calibri"/>
              </a:rPr>
              <a:t>Haskell: </a:t>
            </a:r>
            <a:endParaRPr b="0" lang="es-AR" sz="4400" spc="-1" strike="noStrike">
              <a:solidFill>
                <a:srgbClr val="000000"/>
              </a:solidFill>
              <a:latin typeface="Arial"/>
            </a:endParaRPr>
          </a:p>
        </p:txBody>
      </p:sp>
      <p:sp>
        <p:nvSpPr>
          <p:cNvPr id="291" name="CustomShape 2"/>
          <p:cNvSpPr/>
          <p:nvPr/>
        </p:nvSpPr>
        <p:spPr>
          <a:xfrm>
            <a:off x="335880" y="1523880"/>
            <a:ext cx="8518320" cy="279432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Char char="●"/>
            </a:pPr>
            <a:r>
              <a:rPr b="0" lang="es-AR" sz="3200" spc="-1" strike="noStrike">
                <a:solidFill>
                  <a:srgbClr val="000000"/>
                </a:solidFill>
                <a:latin typeface="Calibri"/>
                <a:ea typeface="Calibri"/>
              </a:rPr>
              <a:t>Sistema de tipado super expresivo (y extensiones que lo hacen aún más)</a:t>
            </a:r>
            <a:endParaRPr b="0" lang="es-AR" sz="3200" spc="-1" strike="noStrike">
              <a:solidFill>
                <a:srgbClr val="000000"/>
              </a:solidFill>
              <a:latin typeface="Arial"/>
            </a:endParaRPr>
          </a:p>
          <a:p>
            <a:pPr marL="457200" indent="-342360">
              <a:lnSpc>
                <a:spcPct val="100000"/>
              </a:lnSpc>
              <a:buClr>
                <a:srgbClr val="000000"/>
              </a:buClr>
              <a:buFont typeface="Arial"/>
              <a:buChar char="●"/>
            </a:pPr>
            <a:r>
              <a:rPr b="0" lang="es-AR" sz="3200" spc="-1" strike="noStrike">
                <a:solidFill>
                  <a:srgbClr val="000000"/>
                </a:solidFill>
                <a:latin typeface="Calibri"/>
                <a:ea typeface="Calibri"/>
              </a:rPr>
              <a:t>Cercanía sintáctica al cálculo lambda</a:t>
            </a:r>
            <a:endParaRPr b="0" lang="es-AR" sz="3200" spc="-1" strike="noStrike">
              <a:solidFill>
                <a:srgbClr val="000000"/>
              </a:solidFill>
              <a:latin typeface="Arial"/>
            </a:endParaRPr>
          </a:p>
          <a:p>
            <a:pPr marL="457200" indent="-342360">
              <a:lnSpc>
                <a:spcPct val="100000"/>
              </a:lnSpc>
              <a:buClr>
                <a:srgbClr val="000000"/>
              </a:buClr>
              <a:buFont typeface="Arial"/>
              <a:buChar char="●"/>
            </a:pPr>
            <a:r>
              <a:rPr b="0" lang="es-AR" sz="3200" spc="-1" strike="noStrike">
                <a:solidFill>
                  <a:srgbClr val="000000"/>
                </a:solidFill>
                <a:latin typeface="Calibri"/>
                <a:ea typeface="Calibri"/>
              </a:rPr>
              <a:t>Librerías diseñadas sobre conceptos matemáticos fundamentales</a:t>
            </a:r>
            <a:endParaRPr b="0" lang="es-AR" sz="3200" spc="-1" strike="noStrike">
              <a:solidFill>
                <a:srgbClr val="000000"/>
              </a:solidFill>
              <a:latin typeface="Arial"/>
            </a:endParaRPr>
          </a:p>
          <a:p>
            <a:pPr marL="457200" indent="-342360">
              <a:lnSpc>
                <a:spcPct val="100000"/>
              </a:lnSpc>
              <a:buClr>
                <a:srgbClr val="000000"/>
              </a:buClr>
              <a:buFont typeface="Arial"/>
              <a:buChar char="●"/>
            </a:pPr>
            <a:r>
              <a:rPr b="0" lang="es-AR" sz="3200" spc="-1" strike="noStrike">
                <a:solidFill>
                  <a:srgbClr val="000000"/>
                </a:solidFill>
                <a:latin typeface="Calibri"/>
                <a:ea typeface="Calibri"/>
              </a:rPr>
              <a:t>Décadas de papers, etc. escritos con ejemplos en Haskell o similar</a:t>
            </a:r>
            <a:endParaRPr b="0" lang="es-AR" sz="3200" spc="-1" strike="noStrike">
              <a:solidFill>
                <a:srgbClr val="000000"/>
              </a:solidFill>
              <a:latin typeface="Arial"/>
            </a:endParaRPr>
          </a:p>
          <a:p>
            <a:pPr marL="457200" indent="-342360">
              <a:lnSpc>
                <a:spcPct val="100000"/>
              </a:lnSpc>
              <a:buClr>
                <a:srgbClr val="000000"/>
              </a:buClr>
              <a:buFont typeface="Arial"/>
              <a:buChar char="●"/>
            </a:pPr>
            <a:r>
              <a:rPr b="0" lang="es-AR" sz="3200" spc="-1" strike="noStrike">
                <a:solidFill>
                  <a:srgbClr val="000000"/>
                </a:solidFill>
                <a:latin typeface="Calibri"/>
                <a:ea typeface="Calibri"/>
              </a:rPr>
              <a:t>Hoy en día es “industry-proof”. Ya se usa en el Mundo Real</a:t>
            </a:r>
            <a:endParaRPr b="0" lang="es-A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CustomShape 1"/>
          <p:cNvSpPr/>
          <p:nvPr/>
        </p:nvSpPr>
        <p:spPr>
          <a:xfrm>
            <a:off x="311760" y="326520"/>
            <a:ext cx="8518320" cy="7614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pPr>
            <a:r>
              <a:rPr b="0" lang="es-AR" sz="4400" spc="-1" strike="noStrike">
                <a:solidFill>
                  <a:srgbClr val="000000"/>
                </a:solidFill>
                <a:latin typeface="Calibri"/>
                <a:ea typeface="Calibri"/>
              </a:rPr>
              <a:t>Funciones de orden superior, Clausuras</a:t>
            </a:r>
            <a:endParaRPr b="0" lang="es-AR" sz="4400" spc="-1" strike="noStrike">
              <a:solidFill>
                <a:srgbClr val="000000"/>
              </a:solidFill>
              <a:latin typeface="Arial"/>
            </a:endParaRPr>
          </a:p>
        </p:txBody>
      </p:sp>
      <p:sp>
        <p:nvSpPr>
          <p:cNvPr id="293" name="CustomShape 2"/>
          <p:cNvSpPr/>
          <p:nvPr/>
        </p:nvSpPr>
        <p:spPr>
          <a:xfrm>
            <a:off x="311760" y="1708560"/>
            <a:ext cx="8518320" cy="4552920"/>
          </a:xfrm>
          <a:prstGeom prst="rect">
            <a:avLst/>
          </a:prstGeom>
          <a:noFill/>
          <a:ln w="0">
            <a:noFill/>
          </a:ln>
        </p:spPr>
        <p:style>
          <a:lnRef idx="0"/>
          <a:fillRef idx="0"/>
          <a:effectRef idx="0"/>
          <a:fontRef idx="minor"/>
        </p:style>
        <p:txBody>
          <a:bodyPr lIns="90000" rIns="90000" tIns="91440" bIns="91440" anchor="t">
            <a:noAutofit/>
          </a:bodyPr>
          <a:p>
            <a:pPr marL="457200" indent="-342360">
              <a:lnSpc>
                <a:spcPct val="100000"/>
              </a:lnSpc>
              <a:buClr>
                <a:srgbClr val="000000"/>
              </a:buClr>
              <a:buFont typeface="Arial"/>
              <a:buChar char="●"/>
            </a:pPr>
            <a:r>
              <a:rPr b="0" lang="es-AR" sz="2000" spc="-1" strike="noStrike">
                <a:solidFill>
                  <a:srgbClr val="000000"/>
                </a:solidFill>
                <a:latin typeface="Calibri"/>
                <a:ea typeface="Calibri"/>
              </a:rPr>
              <a:t>En Informática, una clausura es una función evaluada en un entorno que contiene una o más variables dependientes de otro entorno. Cuando es llamada, la función puede acceder a estas variables. El uso explícito de clausuras se asocia con la programación funcional y con lenguajes como el ML y el Lisp. Construcciones como los objetos en otros lenguajes pueden también modelarse con clausuras.</a:t>
            </a:r>
            <a:endParaRPr b="0" lang="es-A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CustomShape 1"/>
          <p:cNvSpPr/>
          <p:nvPr/>
        </p:nvSpPr>
        <p:spPr>
          <a:xfrm>
            <a:off x="457200" y="1632960"/>
            <a:ext cx="8227080" cy="3974760"/>
          </a:xfrm>
          <a:prstGeom prst="rect">
            <a:avLst/>
          </a:prstGeom>
          <a:noFill/>
          <a:ln w="0">
            <a:noFill/>
          </a:ln>
        </p:spPr>
        <p:style>
          <a:lnRef idx="0"/>
          <a:fillRef idx="0"/>
          <a:effectRef idx="0"/>
          <a:fontRef idx="minor"/>
        </p:style>
        <p:txBody>
          <a:bodyPr lIns="0" rIns="0" tIns="0" bIns="0" anchor="ctr">
            <a:noAutofit/>
          </a:bodyPr>
          <a:p>
            <a:pPr marL="216000" indent="-215640">
              <a:lnSpc>
                <a:spcPct val="100000"/>
              </a:lnSpc>
              <a:buClr>
                <a:srgbClr val="000000"/>
              </a:buClr>
              <a:buSzPct val="45000"/>
              <a:buFont typeface="Wingdings" charset="2"/>
              <a:buChar char=""/>
            </a:pPr>
            <a:r>
              <a:rPr b="0" lang="es-AR" sz="2540" spc="-1" strike="noStrike">
                <a:solidFill>
                  <a:srgbClr val="000000"/>
                </a:solidFill>
                <a:latin typeface="Arial"/>
                <a:ea typeface="Arial"/>
              </a:rPr>
              <a:t>En la programación funcional, las funciones son el elemento más importante. Y se puede pasar por parámetro a otras funciones. </a:t>
            </a:r>
            <a:endParaRPr b="0" lang="es-AR" sz="2540" spc="-1" strike="noStrike">
              <a:solidFill>
                <a:srgbClr val="000000"/>
              </a:solidFill>
              <a:latin typeface="Arial"/>
            </a:endParaRPr>
          </a:p>
          <a:p>
            <a:pPr marL="216000" indent="-215640">
              <a:lnSpc>
                <a:spcPct val="100000"/>
              </a:lnSpc>
              <a:buClr>
                <a:srgbClr val="000000"/>
              </a:buClr>
              <a:buSzPct val="45000"/>
              <a:buFont typeface="Wingdings" charset="2"/>
              <a:buChar char=""/>
            </a:pPr>
            <a:r>
              <a:rPr b="0" lang="es-AR" sz="2540" spc="-1" strike="noStrike">
                <a:solidFill>
                  <a:srgbClr val="000000"/>
                </a:solidFill>
                <a:latin typeface="Arial"/>
                <a:ea typeface="Arial"/>
              </a:rPr>
              <a:t>Muchos lenguajes imperativos copiaron esta característica, por ser muy útil y ayudar a la reutilización de código. Veamos ejemplos:</a:t>
            </a:r>
            <a:endParaRPr b="0" lang="es-AR" sz="254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CustomShape 1"/>
          <p:cNvSpPr/>
          <p:nvPr/>
        </p:nvSpPr>
        <p:spPr>
          <a:xfrm>
            <a:off x="457200" y="1632960"/>
            <a:ext cx="8227080" cy="3974760"/>
          </a:xfrm>
          <a:prstGeom prst="rect">
            <a:avLst/>
          </a:prstGeom>
          <a:noFill/>
          <a:ln w="0">
            <a:noFill/>
          </a:ln>
        </p:spPr>
        <p:style>
          <a:lnRef idx="0"/>
          <a:fillRef idx="0"/>
          <a:effectRef idx="0"/>
          <a:fontRef idx="minor"/>
        </p:style>
        <p:txBody>
          <a:bodyPr lIns="0" rIns="0" tIns="0" bIns="0" anchor="ctr">
            <a:noAutofit/>
          </a:bodyPr>
          <a:p>
            <a:pPr marL="216000" indent="-215640">
              <a:lnSpc>
                <a:spcPct val="100000"/>
              </a:lnSpc>
              <a:buClr>
                <a:srgbClr val="000000"/>
              </a:buClr>
              <a:buSzPct val="45000"/>
              <a:buFont typeface="Wingdings" charset="2"/>
              <a:buChar char=""/>
            </a:pPr>
            <a:r>
              <a:rPr b="0" lang="es-AR" sz="2540" spc="-1" strike="noStrike">
                <a:solidFill>
                  <a:srgbClr val="000000"/>
                </a:solidFill>
                <a:latin typeface="Arial"/>
                <a:ea typeface="Arial"/>
              </a:rPr>
              <a:t> </a:t>
            </a:r>
            <a:r>
              <a:rPr b="0" lang="es-AR" sz="2540" spc="-1" strike="noStrike">
                <a:solidFill>
                  <a:srgbClr val="000000"/>
                </a:solidFill>
                <a:latin typeface="Arial"/>
                <a:ea typeface="Arial"/>
              </a:rPr>
              <a:t>Javascript</a:t>
            </a:r>
            <a:endParaRPr b="0" lang="es-AR" sz="2540" spc="-1" strike="noStrike">
              <a:solidFill>
                <a:srgbClr val="000000"/>
              </a:solidFill>
              <a:latin typeface="Arial"/>
            </a:endParaRPr>
          </a:p>
          <a:p>
            <a:pPr>
              <a:lnSpc>
                <a:spcPct val="100000"/>
              </a:lnSpc>
            </a:pP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var a = function (i) { alert(i) }</a:t>
            </a: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a("hola");</a:t>
            </a: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var a2 = function (arreglo, fx) { </a:t>
            </a: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for(i in arreglo) fx(arreglo[i]) </a:t>
            </a: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a:t>
            </a:r>
            <a:endParaRPr b="0" lang="es-AR" sz="2540" spc="-1" strike="noStrike">
              <a:solidFill>
                <a:srgbClr val="000000"/>
              </a:solidFill>
              <a:latin typeface="Arial"/>
            </a:endParaRPr>
          </a:p>
          <a:p>
            <a:pPr>
              <a:lnSpc>
                <a:spcPct val="100000"/>
              </a:lnSpc>
            </a:pPr>
            <a:r>
              <a:rPr b="0" lang="es-AR" sz="2540" spc="-1" strike="noStrike">
                <a:solidFill>
                  <a:srgbClr val="000000"/>
                </a:solidFill>
                <a:latin typeface="Arial"/>
                <a:ea typeface="Arial"/>
              </a:rPr>
              <a:t>a2("hola",a)</a:t>
            </a:r>
            <a:endParaRPr b="0" lang="es-AR" sz="2540" spc="-1" strike="noStrike">
              <a:solidFill>
                <a:srgbClr val="000000"/>
              </a:solidFill>
              <a:latin typeface="Arial"/>
            </a:endParaRPr>
          </a:p>
          <a:p>
            <a:pPr>
              <a:lnSpc>
                <a:spcPct val="100000"/>
              </a:lnSpc>
            </a:pPr>
            <a:endParaRPr b="0" lang="es-AR" sz="254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CustomShape 1"/>
          <p:cNvSpPr/>
          <p:nvPr/>
        </p:nvSpPr>
        <p:spPr>
          <a:xfrm>
            <a:off x="457200" y="1268280"/>
            <a:ext cx="8227080" cy="470232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Python</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&gt;&gt;&gt; def greeter():</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print("Hello")</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&gt;&gt;&gt; #An implementation of a repeat function</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&gt;&gt;&gt; def repeat(fn, times):</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for i in range(times):</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fn()</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&gt;&gt;&gt; repeat(greeter, 3)</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Hello</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Hello</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Hello</a:t>
            </a: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CustomShape 1"/>
          <p:cNvSpPr/>
          <p:nvPr/>
        </p:nvSpPr>
        <p:spPr>
          <a:xfrm>
            <a:off x="457200" y="1436400"/>
            <a:ext cx="8227080" cy="436644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2360" spc="-1" strike="noStrike">
                <a:solidFill>
                  <a:srgbClr val="000000"/>
                </a:solidFill>
                <a:latin typeface="Arial"/>
                <a:ea typeface="Arial"/>
              </a:rPr>
              <a:t>Java 8</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Print Desc</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System.out.println("=== Sorted Desc SurName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Collections.sort(personList, (p1,  p2) -&gt; p2.getSurName().compareTo(p1.getSurName()));</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for(Person p:personList){</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p.printName();</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50000"/>
              </a:lnSpc>
            </a:pPr>
            <a:r>
              <a:rPr b="1" lang="es-AR" sz="2910" spc="-1" strike="noStrike">
                <a:solidFill>
                  <a:srgbClr val="000000"/>
                </a:solidFill>
                <a:latin typeface="Arial Narrow"/>
                <a:ea typeface="Arial Narrow"/>
              </a:rPr>
              <a:t>Scala</a:t>
            </a:r>
            <a:endParaRPr b="0" lang="es-AR" sz="2910" spc="-1" strike="noStrike">
              <a:solidFill>
                <a:srgbClr val="000000"/>
              </a:solidFill>
              <a:latin typeface="Arial"/>
            </a:endParaRPr>
          </a:p>
        </p:txBody>
      </p:sp>
      <p:sp>
        <p:nvSpPr>
          <p:cNvPr id="299"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fontScale="81111"/>
          </a:bodyPr>
          <a:p>
            <a:pPr marL="431640" indent="-323280">
              <a:lnSpc>
                <a:spcPct val="100000"/>
              </a:lnSpc>
              <a:spcAft>
                <a:spcPts val="1414"/>
              </a:spcAft>
              <a:buClr>
                <a:srgbClr val="000000"/>
              </a:buClr>
              <a:buSzPct val="45000"/>
              <a:buFont typeface="Wingdings" charset="2"/>
              <a:buChar char=""/>
            </a:pPr>
            <a:r>
              <a:rPr b="0" lang="es-AR" sz="2400" spc="-1" strike="noStrike">
                <a:solidFill>
                  <a:srgbClr val="000000"/>
                </a:solidFill>
                <a:latin typeface="Arial"/>
                <a:ea typeface="Arial"/>
              </a:rPr>
              <a:t>def buscar(lista: List[Int], com:(Int, Int) =&gt; Boolean): Int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	</a:t>
            </a:r>
            <a:r>
              <a:rPr b="0" lang="es-AR" sz="2400" spc="-1" strike="noStrike">
                <a:solidFill>
                  <a:srgbClr val="000000"/>
                </a:solidFill>
                <a:latin typeface="Arial"/>
                <a:ea typeface="Arial"/>
              </a:rPr>
              <a:t>if (lista.tail.isEmpty) lista.head</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	</a:t>
            </a:r>
            <a:r>
              <a:rPr b="0" lang="es-AR" sz="2400" spc="-1" strike="noStrike">
                <a:solidFill>
                  <a:srgbClr val="000000"/>
                </a:solidFill>
                <a:latin typeface="Arial"/>
                <a:ea typeface="Arial"/>
              </a:rPr>
              <a:t>else if (com(lista.head, buscar(lista.tail, com))) lista.head</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	</a:t>
            </a:r>
            <a:r>
              <a:rPr b="0" lang="es-AR" sz="2400" spc="-1" strike="noStrike">
                <a:solidFill>
                  <a:srgbClr val="000000"/>
                </a:solidFill>
                <a:latin typeface="Arial"/>
                <a:ea typeface="Arial"/>
              </a:rPr>
              <a:t>else buscar(lista.tail, com)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def max(lista: List[Int]) : Int = buscar(lista, (a:Int, b:Int) =&gt;  (a &gt; b)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def min(lista: List[Int]) : Int = buscar(lista, (a:Int, b:Int) =&gt;  (a &lt; b)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val lista = List(1,2,3,4,5,6)                  </a:t>
            </a:r>
            <a:endParaRPr b="0" lang="es-AR" sz="2400" spc="-1" strike="noStrike">
              <a:solidFill>
                <a:srgbClr val="000000"/>
              </a:solidFill>
              <a:latin typeface="Arial"/>
            </a:endParaRPr>
          </a:p>
          <a:p>
            <a:pPr>
              <a:lnSpc>
                <a:spcPct val="100000"/>
              </a:lnSpc>
            </a:pP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min(lista)                                      //&gt; res0: Int = 1</a:t>
            </a:r>
            <a:endParaRPr b="0" lang="es-AR" sz="2400" spc="-1" strike="noStrike">
              <a:solidFill>
                <a:srgbClr val="000000"/>
              </a:solidFill>
              <a:latin typeface="Arial"/>
            </a:endParaRPr>
          </a:p>
          <a:p>
            <a:pPr>
              <a:lnSpc>
                <a:spcPct val="100000"/>
              </a:lnSpc>
            </a:pPr>
            <a:r>
              <a:rPr b="0" lang="es-AR" sz="2400" spc="-1" strike="noStrike">
                <a:solidFill>
                  <a:srgbClr val="000000"/>
                </a:solidFill>
                <a:latin typeface="Arial"/>
                <a:ea typeface="Arial"/>
              </a:rPr>
              <a:t>  </a:t>
            </a:r>
            <a:r>
              <a:rPr b="0" lang="es-AR" sz="2400" spc="-1" strike="noStrike">
                <a:solidFill>
                  <a:srgbClr val="000000"/>
                </a:solidFill>
                <a:latin typeface="Arial"/>
                <a:ea typeface="Arial"/>
              </a:rPr>
              <a:t>max(lista)                                      //&gt; res1: Int = 6</a:t>
            </a:r>
            <a:endParaRPr b="0" lang="es-AR" sz="2400" spc="-1" strike="noStrike">
              <a:solidFill>
                <a:srgbClr val="000000"/>
              </a:solidFill>
              <a:latin typeface="Arial"/>
            </a:endParaRPr>
          </a:p>
          <a:p>
            <a:pPr>
              <a:lnSpc>
                <a:spcPct val="100000"/>
              </a:lnSpc>
              <a:spcAft>
                <a:spcPts val="1414"/>
              </a:spcAft>
            </a:pP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CustomShape 30"/>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50000"/>
              </a:lnSpc>
            </a:pPr>
            <a:r>
              <a:rPr b="1" lang="es-AR" sz="2910" spc="-1" strike="noStrike">
                <a:solidFill>
                  <a:srgbClr val="000000"/>
                </a:solidFill>
                <a:latin typeface="Arial Narrow"/>
                <a:ea typeface="Arial Narrow"/>
              </a:rPr>
              <a:t>Typescript</a:t>
            </a:r>
            <a:endParaRPr b="0" lang="es-AR" sz="2910" spc="-1" strike="noStrike">
              <a:solidFill>
                <a:srgbClr val="000000"/>
              </a:solidFill>
              <a:latin typeface="Arial"/>
            </a:endParaRPr>
          </a:p>
        </p:txBody>
      </p:sp>
      <p:sp>
        <p:nvSpPr>
          <p:cNvPr id="301" name="CustomShape 31"/>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400" spc="-1" strike="noStrike">
                <a:solidFill>
                  <a:srgbClr val="000000"/>
                </a:solidFill>
                <a:latin typeface="Arial"/>
                <a:ea typeface="Arial"/>
              </a:rPr>
              <a:t>const addOne = (x: number): number =&gt; x + 1;</a:t>
            </a:r>
            <a:endParaRPr b="0" lang="es-AR" sz="240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400" spc="-1" strike="noStrike">
                <a:solidFill>
                  <a:srgbClr val="000000"/>
                </a:solidFill>
                <a:latin typeface="Arial"/>
                <a:ea typeface="Arial"/>
              </a:rPr>
              <a:t>console.log(addOne(2)); // 3</a:t>
            </a:r>
            <a:endParaRPr b="0" lang="es-AR" sz="2400" spc="-1" strike="noStrike">
              <a:solidFill>
                <a:srgbClr val="000000"/>
              </a:solidFill>
              <a:latin typeface="Arial"/>
            </a:endParaRPr>
          </a:p>
          <a:p>
            <a:pPr>
              <a:lnSpc>
                <a:spcPct val="100000"/>
              </a:lnSpc>
              <a:spcAft>
                <a:spcPts val="1414"/>
              </a:spcAft>
            </a:pPr>
            <a:endParaRPr b="0" lang="es-AR" sz="2400" spc="-1" strike="noStrike">
              <a:solidFill>
                <a:srgbClr val="000000"/>
              </a:solidFill>
              <a:latin typeface="Arial"/>
            </a:endParaRPr>
          </a:p>
          <a:p>
            <a:pPr>
              <a:lnSpc>
                <a:spcPct val="100000"/>
              </a:lnSpc>
              <a:spcAft>
                <a:spcPts val="1414"/>
              </a:spcAft>
            </a:pP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Funciones anónimas o lambdas</a:t>
            </a:r>
            <a:endParaRPr b="0" lang="es-AR" sz="3270" spc="-1" strike="noStrike">
              <a:solidFill>
                <a:srgbClr val="000000"/>
              </a:solidFill>
              <a:latin typeface="Arial"/>
            </a:endParaRPr>
          </a:p>
        </p:txBody>
      </p:sp>
      <p:sp>
        <p:nvSpPr>
          <p:cNvPr id="303"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Son funciones temporales que se utilizan en el momento y no tiene sentido referenciarlas con un nombre.</a:t>
            </a:r>
            <a:endParaRPr b="0" lang="es-AR" sz="236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En el ejemplo anterior la función que devuelve el mayor de dos valores o el menor de dos valores, tiene un uso efímero: </a:t>
            </a:r>
            <a:endParaRPr b="0" lang="es-AR" sz="236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180" spc="-1" strike="noStrike">
                <a:solidFill>
                  <a:srgbClr val="000000"/>
                </a:solidFill>
                <a:latin typeface="Arial"/>
                <a:ea typeface="Arial"/>
              </a:rPr>
              <a:t>(a:Int, b:Int) =&gt;  (a &lt; b)</a:t>
            </a:r>
            <a:endParaRPr b="0" lang="es-AR" sz="218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180" spc="-1" strike="noStrike">
                <a:solidFill>
                  <a:srgbClr val="000000"/>
                </a:solidFill>
                <a:latin typeface="Arial"/>
                <a:ea typeface="Arial"/>
              </a:rPr>
              <a:t>(a:Int, b:Int) =&gt;  (a &gt; b)</a:t>
            </a:r>
            <a:endParaRPr b="0" lang="es-AR" sz="2180" spc="-1" strike="noStrike">
              <a:solidFill>
                <a:srgbClr val="000000"/>
              </a:solidFill>
              <a:latin typeface="Arial"/>
            </a:endParaRPr>
          </a:p>
          <a:p>
            <a:pPr>
              <a:lnSpc>
                <a:spcPct val="100000"/>
              </a:lnSpc>
            </a:pPr>
            <a:endParaRPr b="0" lang="es-AR" sz="21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Funciones Anónimas</a:t>
            </a:r>
            <a:endParaRPr b="0" lang="es-AR" sz="3270" spc="-1" strike="noStrike">
              <a:solidFill>
                <a:srgbClr val="000000"/>
              </a:solidFill>
              <a:latin typeface="Arial"/>
            </a:endParaRPr>
          </a:p>
        </p:txBody>
      </p:sp>
      <p:sp>
        <p:nvSpPr>
          <p:cNvPr id="305"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En javascript es ampliamente utilizado, dado que este lenguaje se utiliza para manejo de eventos o comunicación asíncrona</a:t>
            </a:r>
            <a:endParaRPr b="0" lang="es-AR" sz="236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Veamos un ejemplo de una comunicación simple con un servidor: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$.get( "ajax/test.html", function( data )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alert( data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a:t>
            </a: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Funciones Anónimas</a:t>
            </a:r>
            <a:endParaRPr b="0" lang="es-AR" sz="3270" spc="-1" strike="noStrike">
              <a:solidFill>
                <a:srgbClr val="000000"/>
              </a:solidFill>
              <a:latin typeface="Arial"/>
            </a:endParaRPr>
          </a:p>
        </p:txBody>
      </p:sp>
      <p:sp>
        <p:nvSpPr>
          <p:cNvPr id="307"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En el ejemplo la función se ejecuta si la comunicación tiene éxito, dado que esta función no se utiliza en otro lugar, no es necesario declararla. </a:t>
            </a: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CustomShape 1"/>
          <p:cNvSpPr/>
          <p:nvPr/>
        </p:nvSpPr>
        <p:spPr>
          <a:xfrm>
            <a:off x="457200" y="274680"/>
            <a:ext cx="8227440" cy="637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1" lang="es-AR" sz="3200" spc="-1" strike="noStrike">
                <a:solidFill>
                  <a:srgbClr val="7030a0"/>
                </a:solidFill>
                <a:latin typeface="Calibri"/>
                <a:ea typeface="Calibri"/>
              </a:rPr>
              <a:t>¿Cuál es la diferencia entre un closure y una lambda?</a:t>
            </a:r>
            <a:endParaRPr b="0" lang="es-AR" sz="3200" spc="-1" strike="noStrike">
              <a:solidFill>
                <a:srgbClr val="000000"/>
              </a:solidFill>
              <a:latin typeface="Arial"/>
            </a:endParaRPr>
          </a:p>
        </p:txBody>
      </p:sp>
      <p:sp>
        <p:nvSpPr>
          <p:cNvPr id="309" name="CustomShape 2"/>
          <p:cNvSpPr/>
          <p:nvPr/>
        </p:nvSpPr>
        <p:spPr>
          <a:xfrm>
            <a:off x="457200" y="1019520"/>
            <a:ext cx="8227440" cy="5104440"/>
          </a:xfrm>
          <a:prstGeom prst="rect">
            <a:avLst/>
          </a:prstGeom>
          <a:noFill/>
          <a:ln w="0">
            <a:noFill/>
          </a:ln>
        </p:spPr>
        <p:style>
          <a:lnRef idx="0"/>
          <a:fillRef idx="0"/>
          <a:effectRef idx="0"/>
          <a:fontRef idx="minor"/>
        </p:style>
        <p:txBody>
          <a:bodyPr lIns="90000" rIns="90000" tIns="45000" bIns="45000" anchor="t">
            <a:noAutofit/>
          </a:bodyPr>
          <a:p>
            <a:pPr marL="457200" indent="-342360">
              <a:lnSpc>
                <a:spcPct val="100000"/>
              </a:lnSpc>
              <a:spcBef>
                <a:spcPts val="360"/>
              </a:spcBef>
              <a:buClr>
                <a:srgbClr val="000000"/>
              </a:buClr>
              <a:buFont typeface="Arial"/>
              <a:buChar char="•"/>
            </a:pPr>
            <a:r>
              <a:rPr b="0" lang="es-AR" sz="2400" spc="-1" strike="noStrike">
                <a:solidFill>
                  <a:srgbClr val="000000"/>
                </a:solidFill>
                <a:latin typeface="Calibri"/>
                <a:ea typeface="Calibri"/>
              </a:rPr>
              <a:t>Muchas veces he visto que closure y lambda se toman como sinonimos pero pero no lo son. Veamos cuales son las diferencias.</a:t>
            </a:r>
            <a:endParaRPr b="0" lang="es-AR" sz="2400" spc="-1" strike="noStrike">
              <a:solidFill>
                <a:srgbClr val="000000"/>
              </a:solidFill>
              <a:latin typeface="Arial"/>
            </a:endParaRPr>
          </a:p>
          <a:p>
            <a:pPr>
              <a:lnSpc>
                <a:spcPct val="100000"/>
              </a:lnSpc>
              <a:spcBef>
                <a:spcPts val="360"/>
              </a:spcBef>
            </a:pPr>
            <a:endParaRPr b="0" lang="es-AR" sz="2400" spc="-1" strike="noStrike">
              <a:solidFill>
                <a:srgbClr val="000000"/>
              </a:solidFill>
              <a:latin typeface="Arial"/>
            </a:endParaRPr>
          </a:p>
          <a:p>
            <a:pPr marL="457200" indent="-342360">
              <a:lnSpc>
                <a:spcPct val="100000"/>
              </a:lnSpc>
              <a:spcBef>
                <a:spcPts val="360"/>
              </a:spcBef>
              <a:buClr>
                <a:srgbClr val="000000"/>
              </a:buClr>
              <a:buFont typeface="Arial"/>
              <a:buChar char="•"/>
            </a:pPr>
            <a:r>
              <a:rPr b="0" lang="es-AR" sz="2400" spc="-1" strike="noStrike">
                <a:solidFill>
                  <a:srgbClr val="000000"/>
                </a:solidFill>
                <a:latin typeface="Calibri"/>
                <a:ea typeface="Calibri"/>
              </a:rPr>
              <a:t>Una lambda es solo una función anónima, una función definida sin nombre. En algunos lenguajes, como Scheme, son equivalentes a funciones con nombre. De hecho, la definición de la función se reescribe como un enlace interno de una lambda a una variable. En otros lenguajes, como Python, hay algunas distinciones (bastante innecesarias) entre ellos, pero de lo contrario se comportan de la misma manera.</a:t>
            </a:r>
            <a:endParaRPr b="0" lang="es-A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CustomShape 1"/>
          <p:cNvSpPr/>
          <p:nvPr/>
        </p:nvSpPr>
        <p:spPr>
          <a:xfrm>
            <a:off x="457200" y="274680"/>
            <a:ext cx="8227440" cy="6375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1" lang="es-AR" sz="3200" spc="-1" strike="noStrike">
                <a:solidFill>
                  <a:srgbClr val="7030a0"/>
                </a:solidFill>
                <a:latin typeface="Calibri"/>
                <a:ea typeface="Calibri"/>
              </a:rPr>
              <a:t>¿Cuál es la diferencia entre un closure y una lambda?</a:t>
            </a:r>
            <a:endParaRPr b="0" lang="es-AR" sz="3200" spc="-1" strike="noStrike">
              <a:solidFill>
                <a:srgbClr val="000000"/>
              </a:solidFill>
              <a:latin typeface="Arial"/>
            </a:endParaRPr>
          </a:p>
        </p:txBody>
      </p:sp>
      <p:sp>
        <p:nvSpPr>
          <p:cNvPr id="311" name="CustomShape 2"/>
          <p:cNvSpPr/>
          <p:nvPr/>
        </p:nvSpPr>
        <p:spPr>
          <a:xfrm>
            <a:off x="457200" y="1019520"/>
            <a:ext cx="8227440" cy="5104440"/>
          </a:xfrm>
          <a:prstGeom prst="rect">
            <a:avLst/>
          </a:prstGeom>
          <a:noFill/>
          <a:ln w="0">
            <a:noFill/>
          </a:ln>
        </p:spPr>
        <p:style>
          <a:lnRef idx="0"/>
          <a:fillRef idx="0"/>
          <a:effectRef idx="0"/>
          <a:fontRef idx="minor"/>
        </p:style>
        <p:txBody>
          <a:bodyPr lIns="90000" rIns="90000" tIns="45000" bIns="45000" anchor="t">
            <a:noAutofit/>
          </a:bodyPr>
          <a:p>
            <a:pPr marL="114480">
              <a:lnSpc>
                <a:spcPct val="100000"/>
              </a:lnSpc>
              <a:spcBef>
                <a:spcPts val="360"/>
              </a:spcBef>
            </a:pPr>
            <a:r>
              <a:rPr b="0" lang="es-AR" sz="1600" spc="-1" strike="noStrike">
                <a:solidFill>
                  <a:srgbClr val="000000"/>
                </a:solidFill>
                <a:latin typeface="Calibri"/>
                <a:ea typeface="Calibri"/>
              </a:rPr>
              <a:t>Un closure es cualquier función que se cierra sobre el entorno en el que se definió. Esto significa que puede acceder a variables que no están en su lista de parámetros. Ejemplos:</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def func (): return 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def otrofunc (h):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   </a:t>
            </a:r>
            <a:r>
              <a:rPr b="0" lang="es-AR" sz="1600" spc="-1" strike="noStrike">
                <a:solidFill>
                  <a:srgbClr val="000000"/>
                </a:solidFill>
                <a:latin typeface="Calibri"/>
                <a:ea typeface="Calibri"/>
              </a:rPr>
              <a:t>return func ()</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Esto provocará un error, porque func no se cierra sobre el entorno en otrofunc - h no está definido. func solo cierra sobre el entorno global. Esto funcionará de esta manera :</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def otrofunc (h):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    </a:t>
            </a:r>
            <a:r>
              <a:rPr b="0" lang="es-AR" sz="1600" spc="-1" strike="noStrike">
                <a:solidFill>
                  <a:srgbClr val="000000"/>
                </a:solidFill>
                <a:latin typeface="Calibri"/>
                <a:ea typeface="Calibri"/>
              </a:rPr>
              <a:t>def func (): retorno 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    </a:t>
            </a:r>
            <a:r>
              <a:rPr b="0" lang="es-AR" sz="1600" spc="-1" strike="noStrike">
                <a:solidFill>
                  <a:srgbClr val="000000"/>
                </a:solidFill>
                <a:latin typeface="Calibri"/>
                <a:ea typeface="Calibri"/>
              </a:rPr>
              <a:t>return func ()</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Porque aquí, func se define en otrofunc.</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Otro punto importante: func continuará cerrándose sobre el entorno de otrofunc incluso cuando ya no se evalúe en otrofunc. Este código también funcionará:</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def anotherfunc(h):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    </a:t>
            </a:r>
            <a:r>
              <a:rPr b="0" lang="es-AR" sz="1600" spc="-1" strike="noStrike">
                <a:solidFill>
                  <a:srgbClr val="000000"/>
                </a:solidFill>
                <a:latin typeface="Calibri"/>
                <a:ea typeface="Calibri"/>
              </a:rPr>
              <a:t>def func(): return h</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    </a:t>
            </a:r>
            <a:r>
              <a:rPr b="0" lang="es-AR" sz="1600" spc="-1" strike="noStrike">
                <a:solidFill>
                  <a:srgbClr val="000000"/>
                </a:solidFill>
                <a:latin typeface="Calibri"/>
                <a:ea typeface="Calibri"/>
              </a:rPr>
              <a:t>return func</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print anotherfunc(10)()</a:t>
            </a:r>
            <a:endParaRPr b="0" lang="es-AR" sz="1600" spc="-1" strike="noStrike">
              <a:solidFill>
                <a:srgbClr val="000000"/>
              </a:solidFill>
              <a:latin typeface="Arial"/>
            </a:endParaRPr>
          </a:p>
          <a:p>
            <a:pPr marL="114480">
              <a:lnSpc>
                <a:spcPct val="100000"/>
              </a:lnSpc>
              <a:spcBef>
                <a:spcPts val="360"/>
              </a:spcBef>
            </a:pPr>
            <a:r>
              <a:rPr b="0" lang="es-AR" sz="1600" spc="-1" strike="noStrike">
                <a:solidFill>
                  <a:srgbClr val="000000"/>
                </a:solidFill>
                <a:latin typeface="Calibri"/>
                <a:ea typeface="Calibri"/>
              </a:rPr>
              <a:t>Esto imprimirá 10.</a:t>
            </a:r>
            <a:endParaRPr b="0" lang="es-A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Currying</a:t>
            </a:r>
            <a:endParaRPr b="0" lang="es-AR" sz="3270" spc="-1" strike="noStrike">
              <a:solidFill>
                <a:srgbClr val="000000"/>
              </a:solidFill>
              <a:latin typeface="Arial"/>
            </a:endParaRPr>
          </a:p>
        </p:txBody>
      </p:sp>
      <p:sp>
        <p:nvSpPr>
          <p:cNvPr id="313"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Como hemos dicho una función puede ser pasada por parámetros pero también devuelta como resultado de una función. </a:t>
            </a:r>
            <a:endParaRPr b="0" lang="es-AR" sz="2360" spc="-1" strike="noStrike">
              <a:solidFill>
                <a:srgbClr val="000000"/>
              </a:solidFill>
              <a:latin typeface="Arial"/>
            </a:endParaRPr>
          </a:p>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Currificar es la técnica inventada por Moses Schönfinkel y Gottlob Frege que consiste en transformar una función que utiliza múltiples argumentos (o más específicamente una n-tupla como argumento) en una función que utiliza un único argumento.</a:t>
            </a: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Currying</a:t>
            </a:r>
            <a:endParaRPr b="0" lang="es-AR" sz="3270" spc="-1" strike="noStrike">
              <a:solidFill>
                <a:srgbClr val="000000"/>
              </a:solidFill>
              <a:latin typeface="Arial"/>
            </a:endParaRPr>
          </a:p>
        </p:txBody>
      </p:sp>
      <p:sp>
        <p:nvSpPr>
          <p:cNvPr id="315"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Oficialmente cada función de Haskell solo puede tomar un parámetro.  Todas las funciones que aceptan más de un parámetro hacen uso de currying.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max 4 5</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es igual que llamar</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(max 4) 5</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(max 4) es una función que devuelve verdadero si el numero pasado por parámetro es mayor a 4 y falso de lo contrario.</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Ejemplos:</a:t>
            </a:r>
            <a:endParaRPr b="0" lang="es-AR" sz="3270" spc="-1" strike="noStrike">
              <a:solidFill>
                <a:srgbClr val="000000"/>
              </a:solidFill>
              <a:latin typeface="Arial"/>
            </a:endParaRPr>
          </a:p>
        </p:txBody>
      </p:sp>
      <p:sp>
        <p:nvSpPr>
          <p:cNvPr id="317" name="CustomShape 2"/>
          <p:cNvSpPr/>
          <p:nvPr/>
        </p:nvSpPr>
        <p:spPr>
          <a:xfrm>
            <a:off x="457200" y="1632960"/>
            <a:ext cx="8227080" cy="3974760"/>
          </a:xfrm>
          <a:prstGeom prst="rect">
            <a:avLst/>
          </a:prstGeom>
          <a:noFill/>
          <a:ln w="0">
            <a:noFill/>
          </a:ln>
        </p:spPr>
        <p:style>
          <a:lnRef idx="0"/>
          <a:fillRef idx="0"/>
          <a:effectRef idx="0"/>
          <a:fontRef idx="minor"/>
        </p:style>
        <p:txBody>
          <a:bodyPr lIns="0" rIns="0" tIns="0" bIns="0" anchor="t">
            <a:normAutofit/>
          </a:bodyPr>
          <a:p>
            <a:pPr marL="431640" indent="-323280">
              <a:lnSpc>
                <a:spcPct val="100000"/>
              </a:lnSpc>
              <a:spcAft>
                <a:spcPts val="1414"/>
              </a:spcAft>
              <a:buClr>
                <a:srgbClr val="000000"/>
              </a:buClr>
              <a:buSzPct val="45000"/>
              <a:buFont typeface="Wingdings" charset="2"/>
              <a:buChar char=""/>
            </a:pPr>
            <a:r>
              <a:rPr b="0" lang="es-AR" sz="2360" spc="-1" strike="noStrike">
                <a:solidFill>
                  <a:srgbClr val="000000"/>
                </a:solidFill>
                <a:latin typeface="Arial"/>
                <a:ea typeface="Arial"/>
              </a:rPr>
              <a:t>Por ejemplo en Haskell se puede definir una función double de la siguiente manera:</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mult :: Int -&gt; Int -&gt; Int</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mult x y = x * y</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double = mult 2</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double 2 </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4 </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CustomShape 1"/>
          <p:cNvSpPr/>
          <p:nvPr/>
        </p:nvSpPr>
        <p:spPr>
          <a:xfrm>
            <a:off x="457200" y="522720"/>
            <a:ext cx="6528960" cy="6508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s-AR" sz="3270" spc="-1" strike="noStrike">
                <a:solidFill>
                  <a:srgbClr val="000000"/>
                </a:solidFill>
                <a:latin typeface="Arial"/>
                <a:ea typeface="Arial"/>
              </a:rPr>
              <a:t>Ejemplos en Scala:</a:t>
            </a:r>
            <a:endParaRPr b="0" lang="es-AR" sz="3270" spc="-1" strike="noStrike">
              <a:solidFill>
                <a:srgbClr val="000000"/>
              </a:solidFill>
              <a:latin typeface="Arial"/>
            </a:endParaRPr>
          </a:p>
        </p:txBody>
      </p:sp>
      <p:sp>
        <p:nvSpPr>
          <p:cNvPr id="319" name="CustomShape 2"/>
          <p:cNvSpPr/>
          <p:nvPr/>
        </p:nvSpPr>
        <p:spPr>
          <a:xfrm>
            <a:off x="457200" y="1502640"/>
            <a:ext cx="8227080" cy="4628160"/>
          </a:xfrm>
          <a:prstGeom prst="rect">
            <a:avLst/>
          </a:prstGeom>
          <a:noFill/>
          <a:ln w="0">
            <a:noFill/>
          </a:ln>
        </p:spPr>
        <p:style>
          <a:lnRef idx="0"/>
          <a:fillRef idx="0"/>
          <a:effectRef idx="0"/>
          <a:fontRef idx="minor"/>
        </p:style>
        <p:txBody>
          <a:bodyPr lIns="0" rIns="0" tIns="0" bIns="0" anchor="t">
            <a:normAutofit/>
          </a:bodyPr>
          <a:p>
            <a:pPr>
              <a:lnSpc>
                <a:spcPct val="100000"/>
              </a:lnSpc>
            </a:pPr>
            <a:r>
              <a:rPr b="0" lang="es-AR" sz="2360" spc="-1" strike="noStrike">
                <a:solidFill>
                  <a:srgbClr val="000000"/>
                </a:solidFill>
                <a:latin typeface="Arial"/>
                <a:ea typeface="Arial"/>
              </a:rPr>
              <a:t>object CurryTest extends Application {</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def filter(xs: List[Int], p: Int =&gt; Boolean): List[Int] =???</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def modN(n: Int)(x: Int) = ((x % n) == 0)</a:t>
            </a:r>
            <a:endParaRPr b="0" lang="es-AR" sz="2360" spc="-1" strike="noStrike">
              <a:solidFill>
                <a:srgbClr val="000000"/>
              </a:solidFill>
              <a:latin typeface="Arial"/>
            </a:endParaRPr>
          </a:p>
          <a:p>
            <a:pPr>
              <a:lnSpc>
                <a:spcPct val="100000"/>
              </a:lnSpc>
            </a:pP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val nums = List(1, 2, 3, 4, 5, 6, 7, 8)</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println(filter(nums, modN(2)))</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  </a:t>
            </a:r>
            <a:r>
              <a:rPr b="0" lang="es-AR" sz="2360" spc="-1" strike="noStrike">
                <a:solidFill>
                  <a:srgbClr val="000000"/>
                </a:solidFill>
                <a:latin typeface="Arial"/>
                <a:ea typeface="Arial"/>
              </a:rPr>
              <a:t>println(filter(nums, modN(3)))</a:t>
            </a:r>
            <a:endParaRPr b="0" lang="es-AR" sz="2360" spc="-1" strike="noStrike">
              <a:solidFill>
                <a:srgbClr val="000000"/>
              </a:solidFill>
              <a:latin typeface="Arial"/>
            </a:endParaRPr>
          </a:p>
          <a:p>
            <a:pPr>
              <a:lnSpc>
                <a:spcPct val="100000"/>
              </a:lnSpc>
            </a:pPr>
            <a:r>
              <a:rPr b="0" lang="es-AR" sz="2360" spc="-1" strike="noStrike">
                <a:solidFill>
                  <a:srgbClr val="000000"/>
                </a:solidFill>
                <a:latin typeface="Arial"/>
                <a:ea typeface="Arial"/>
              </a:rPr>
              <a:t>}</a:t>
            </a:r>
            <a:endParaRPr b="0" lang="es-AR" sz="23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0" name="Google Shape;232;p33" descr="imagen.jpg"/>
          <p:cNvPicPr/>
          <p:nvPr/>
        </p:nvPicPr>
        <p:blipFill>
          <a:blip r:embed="rId1"/>
          <a:stretch/>
        </p:blipFill>
        <p:spPr>
          <a:xfrm>
            <a:off x="0" y="0"/>
            <a:ext cx="9141840" cy="6855840"/>
          </a:xfrm>
          <a:prstGeom prst="rect">
            <a:avLst/>
          </a:prstGeom>
          <a:ln w="0">
            <a:noFill/>
          </a:ln>
        </p:spPr>
      </p:pic>
      <p:sp>
        <p:nvSpPr>
          <p:cNvPr id="321" name="CustomShape 1"/>
          <p:cNvSpPr/>
          <p:nvPr/>
        </p:nvSpPr>
        <p:spPr>
          <a:xfrm>
            <a:off x="0" y="6603840"/>
            <a:ext cx="9141840" cy="252000"/>
          </a:xfrm>
          <a:prstGeom prst="rect">
            <a:avLst/>
          </a:prstGeom>
          <a:solidFill>
            <a:schemeClr val="lt1"/>
          </a:solidFill>
          <a:ln w="0">
            <a:noFill/>
          </a:ln>
        </p:spPr>
        <p:style>
          <a:lnRef idx="0"/>
          <a:fillRef idx="0"/>
          <a:effectRef idx="0"/>
          <a:fontRef idx="minor"/>
        </p:style>
        <p:txBody>
          <a:bodyPr lIns="90000" rIns="90000" tIns="45000" bIns="45000" anchor="ctr">
            <a:noAutofit/>
          </a:bodyPr>
          <a:p>
            <a:pPr algn="ctr">
              <a:lnSpc>
                <a:spcPct val="100000"/>
              </a:lnSpc>
            </a:pPr>
            <a:r>
              <a:rPr b="0" lang="es-AR" sz="1800" spc="-1" strike="noStrike">
                <a:solidFill>
                  <a:srgbClr val="ffffff"/>
                </a:solidFill>
                <a:latin typeface="Calibri"/>
                <a:ea typeface="Calibri"/>
              </a:rPr>
              <a:t> </a:t>
            </a:r>
            <a:endParaRPr b="0" lang="es-AR" sz="1800" spc="-1" strike="noStrike">
              <a:solidFill>
                <a:srgbClr val="000000"/>
              </a:solidFill>
              <a:latin typeface="Arial"/>
            </a:endParaRPr>
          </a:p>
        </p:txBody>
      </p:sp>
      <p:pic>
        <p:nvPicPr>
          <p:cNvPr id="322" name="Google Shape;234;p33" descr="logo solo-08.jpg"/>
          <p:cNvPicPr/>
          <p:nvPr/>
        </p:nvPicPr>
        <p:blipFill>
          <a:blip r:embed="rId2"/>
          <a:stretch/>
        </p:blipFill>
        <p:spPr>
          <a:xfrm>
            <a:off x="7505640" y="5885640"/>
            <a:ext cx="839160" cy="979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5836</TotalTime>
  <Application>LibreOffice/24.2.7.2$Linux_X86_64 LibreOffice_project/420$Build-2</Application>
  <AppVersion>15.0000</AppVersion>
  <Words>9910</Words>
  <Paragraphs>408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2019-08-26T03:42:02Z</dcterms:created>
  <dc:creator/>
  <dc:description/>
  <dc:language>es-AR</dc:language>
  <cp:lastModifiedBy/>
  <dcterms:modified xsi:type="dcterms:W3CDTF">2026-09-24T22:56:58Z</dcterms:modified>
  <cp:revision>11</cp:revision>
  <dc:subject/>
  <dc:title>Programación IV</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KSOProductBuildVer">
    <vt:lpwstr>1033-11.1.0.8392</vt:lpwstr>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ScaleCrop">
    <vt:bool>0</vt:bool>
  </property>
  <property fmtid="{D5CDD505-2E9C-101B-9397-08002B2CF9AE}" pid="9" name="ShareDoc">
    <vt:bool>0</vt:bool>
  </property>
  <property fmtid="{D5CDD505-2E9C-101B-9397-08002B2CF9AE}" pid="10" name="Slides">
    <vt:i4>38</vt:i4>
  </property>
</Properties>
</file>