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11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1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png" ContentType="image/png"/>
  <Override PartName="/ppt/media/image6.jpeg" ContentType="image/jpeg"/>
  <Override PartName="/ppt/media/image7.jpeg" ContentType="image/jpe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</p:sldMasterIdLst>
  <p:notesMasterIdLst>
    <p:notesMasterId r:id="rId26"/>
  </p:notesMasterIdLst>
  <p:sldIdLst>
    <p:sldId id="256" r:id="rId27"/>
    <p:sldId id="257" r:id="rId28"/>
    <p:sldId id="258" r:id="rId29"/>
    <p:sldId id="259" r:id="rId30"/>
    <p:sldId id="260" r:id="rId31"/>
    <p:sldId id="261" r:id="rId32"/>
    <p:sldId id="262" r:id="rId33"/>
    <p:sldId id="263" r:id="rId34"/>
    <p:sldId id="264" r:id="rId35"/>
    <p:sldId id="265" r:id="rId36"/>
    <p:sldId id="266" r:id="rId37"/>
    <p:sldId id="267" r:id="rId38"/>
    <p:sldId id="268" r:id="rId39"/>
    <p:sldId id="269" r:id="rId40"/>
    <p:sldId id="270" r:id="rId41"/>
    <p:sldId id="271" r:id="rId42"/>
    <p:sldId id="272" r:id="rId43"/>
    <p:sldId id="273" r:id="rId44"/>
    <p:sldId id="274" r:id="rId45"/>
    <p:sldId id="275" r:id="rId46"/>
    <p:sldId id="276" r:id="rId47"/>
    <p:sldId id="277" r:id="rId48"/>
    <p:sldId id="278" r:id="rId49"/>
    <p:sldId id="279" r:id="rId50"/>
    <p:sldId id="280" r:id="rId51"/>
    <p:sldId id="281" r:id="rId5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notesMaster" Target="notesMasters/notesMaster1.xml"/><Relationship Id="rId27" Type="http://schemas.openxmlformats.org/officeDocument/2006/relationships/slide" Target="slides/slide1.xml"/><Relationship Id="rId28" Type="http://schemas.openxmlformats.org/officeDocument/2006/relationships/slide" Target="slides/slide2.xml"/><Relationship Id="rId29" Type="http://schemas.openxmlformats.org/officeDocument/2006/relationships/slide" Target="slides/slide3.xml"/><Relationship Id="rId30" Type="http://schemas.openxmlformats.org/officeDocument/2006/relationships/slide" Target="slides/slide4.xml"/><Relationship Id="rId31" Type="http://schemas.openxmlformats.org/officeDocument/2006/relationships/slide" Target="slides/slide5.xml"/><Relationship Id="rId32" Type="http://schemas.openxmlformats.org/officeDocument/2006/relationships/slide" Target="slides/slide6.xml"/><Relationship Id="rId33" Type="http://schemas.openxmlformats.org/officeDocument/2006/relationships/slide" Target="slides/slide7.xml"/><Relationship Id="rId34" Type="http://schemas.openxmlformats.org/officeDocument/2006/relationships/slide" Target="slides/slide8.xml"/><Relationship Id="rId35" Type="http://schemas.openxmlformats.org/officeDocument/2006/relationships/slide" Target="slides/slide9.xml"/><Relationship Id="rId36" Type="http://schemas.openxmlformats.org/officeDocument/2006/relationships/slide" Target="slides/slide10.xml"/><Relationship Id="rId37" Type="http://schemas.openxmlformats.org/officeDocument/2006/relationships/slide" Target="slides/slide11.xml"/><Relationship Id="rId38" Type="http://schemas.openxmlformats.org/officeDocument/2006/relationships/slide" Target="slides/slide12.xml"/><Relationship Id="rId39" Type="http://schemas.openxmlformats.org/officeDocument/2006/relationships/slide" Target="slides/slide13.xml"/><Relationship Id="rId40" Type="http://schemas.openxmlformats.org/officeDocument/2006/relationships/slide" Target="slides/slide14.xml"/><Relationship Id="rId41" Type="http://schemas.openxmlformats.org/officeDocument/2006/relationships/slide" Target="slides/slide15.xml"/><Relationship Id="rId42" Type="http://schemas.openxmlformats.org/officeDocument/2006/relationships/slide" Target="slides/slide16.xml"/><Relationship Id="rId43" Type="http://schemas.openxmlformats.org/officeDocument/2006/relationships/slide" Target="slides/slide17.xml"/><Relationship Id="rId44" Type="http://schemas.openxmlformats.org/officeDocument/2006/relationships/slide" Target="slides/slide18.xml"/><Relationship Id="rId45" Type="http://schemas.openxmlformats.org/officeDocument/2006/relationships/slide" Target="slides/slide19.xml"/><Relationship Id="rId46" Type="http://schemas.openxmlformats.org/officeDocument/2006/relationships/slide" Target="slides/slide20.xml"/><Relationship Id="rId47" Type="http://schemas.openxmlformats.org/officeDocument/2006/relationships/slide" Target="slides/slide21.xml"/><Relationship Id="rId48" Type="http://schemas.openxmlformats.org/officeDocument/2006/relationships/slide" Target="slides/slide22.xml"/><Relationship Id="rId49" Type="http://schemas.openxmlformats.org/officeDocument/2006/relationships/slide" Target="slides/slide23.xml"/><Relationship Id="rId50" Type="http://schemas.openxmlformats.org/officeDocument/2006/relationships/slide" Target="slides/slide24.xml"/><Relationship Id="rId51" Type="http://schemas.openxmlformats.org/officeDocument/2006/relationships/slide" Target="slides/slide25.xml"/><Relationship Id="rId52" Type="http://schemas.openxmlformats.org/officeDocument/2006/relationships/slide" Target="slides/slide26.xml"/><Relationship Id="rId5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desplazar la diapositiva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Pulse para editar el formato de las notas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&lt;cabecera&gt;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" name="PlaceHolder 4"/>
          <p:cNvSpPr>
            <a:spLocks noGrp="1"/>
          </p:cNvSpPr>
          <p:nvPr>
            <p:ph type="dt" idx="7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" name="PlaceHolder 5"/>
          <p:cNvSpPr>
            <a:spLocks noGrp="1"/>
          </p:cNvSpPr>
          <p:nvPr>
            <p:ph type="ftr" idx="7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" name="PlaceHolder 6"/>
          <p:cNvSpPr>
            <a:spLocks noGrp="1"/>
          </p:cNvSpPr>
          <p:nvPr>
            <p:ph type="sldNum" idx="7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7600EA0-0229-4AA3-AE9B-349732F97FDC}" type="slidenum"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buNone/>
            </a:pPr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 type="sldImg"/>
          </p:nvPr>
        </p:nvSpPr>
        <p:spPr>
          <a:xfrm>
            <a:off x="1106640" y="812880"/>
            <a:ext cx="5343840" cy="400716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3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6920" cy="4810320"/>
          </a:xfrm>
          <a:prstGeom prst="rect">
            <a:avLst/>
          </a:prstGeom>
          <a:noFill/>
          <a:ln w="936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buNone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buNone/>
            </a:pPr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 type="sldImg"/>
          </p:nvPr>
        </p:nvSpPr>
        <p:spPr>
          <a:xfrm>
            <a:off x="1106640" y="812880"/>
            <a:ext cx="5343840" cy="400716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3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6920" cy="4810320"/>
          </a:xfrm>
          <a:prstGeom prst="rect">
            <a:avLst/>
          </a:prstGeom>
          <a:noFill/>
          <a:ln w="936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buNone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buNone/>
            </a:pPr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 type="sldImg"/>
          </p:nvPr>
        </p:nvSpPr>
        <p:spPr>
          <a:xfrm>
            <a:off x="1106640" y="812880"/>
            <a:ext cx="5343840" cy="400716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3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6920" cy="4810320"/>
          </a:xfrm>
          <a:prstGeom prst="rect">
            <a:avLst/>
          </a:prstGeom>
          <a:noFill/>
          <a:ln w="936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buNone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buNone/>
            </a:pPr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 type="sldImg"/>
          </p:nvPr>
        </p:nvSpPr>
        <p:spPr>
          <a:xfrm>
            <a:off x="1106640" y="812880"/>
            <a:ext cx="5343840" cy="400716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3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6920" cy="4810320"/>
          </a:xfrm>
          <a:prstGeom prst="rect">
            <a:avLst/>
          </a:prstGeom>
          <a:noFill/>
          <a:ln w="936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buNone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buNone/>
            </a:pPr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sldImg"/>
          </p:nvPr>
        </p:nvSpPr>
        <p:spPr>
          <a:xfrm>
            <a:off x="1106640" y="812880"/>
            <a:ext cx="5343840" cy="400716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3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6920" cy="4810320"/>
          </a:xfrm>
          <a:prstGeom prst="rect">
            <a:avLst/>
          </a:prstGeom>
          <a:noFill/>
          <a:ln w="936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buNone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buNone/>
            </a:pPr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 type="sldImg"/>
          </p:nvPr>
        </p:nvSpPr>
        <p:spPr>
          <a:xfrm>
            <a:off x="1106640" y="812880"/>
            <a:ext cx="5343840" cy="400716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3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6920" cy="4810320"/>
          </a:xfrm>
          <a:prstGeom prst="rect">
            <a:avLst/>
          </a:prstGeom>
          <a:noFill/>
          <a:ln w="936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buNone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8EC5B3F-791C-449A-9CAB-86148A83C0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9222022-0125-4AAA-A091-AA5557C2C44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414F1BA-772D-4125-842D-7EE1375FA7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2BD7D9F-817E-4543-8EA2-6A4A1494B49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2AE6EEBF-95BF-4DCC-BA80-93CBF8538B5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9F617C4B-C7B7-4038-9F63-FD67B01D4E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7D774A5E-306A-4EC0-9B2A-E805B160955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25D76695-227C-4B52-AD98-36BE400028D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F2277098-D3B4-49DE-9067-69990D1DB8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75CF67C9-540F-4C91-8EB5-05E28539CDF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9E022409-0C64-4F1C-9D7E-CFF98C5E989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46559CFC-FA97-4B5C-A9C9-38228F8E1F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93A7BCBE-5499-4E53-A243-E04F1C53DE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2FDF0B45-F4A1-4B9E-A1EA-9349F3CE722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C6D7B161-3B72-46DC-8532-5FD0176F242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1CDD852B-4302-4637-B7F4-EBA2E2A6D3A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799C1B2B-2B18-49C5-BA15-77D282191D4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433820A6-8271-4104-A0C3-93EC1E49FF3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DF9D9F6D-E776-427A-BB96-A982D2FD0EB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F483141B-C6C5-4138-A837-270EA5F139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9D367853-A687-4923-ABCD-CD79C784E9E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6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8B489734-860A-4C33-9BCB-281EAD363CA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6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Predeterminad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8"/>
          </p:nvPr>
        </p:nvSpPr>
        <p:spPr/>
        <p:txBody>
          <a:bodyPr/>
          <a:p>
            <a:fld id="{3CFF7B58-7E40-4911-B137-68D876A850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9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6B835095-AAF6-40C9-9176-2C105585A42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9155160" cy="6856560"/>
          </a:xfrm>
          <a:prstGeom prst="rect">
            <a:avLst/>
          </a:prstGeom>
          <a:ln w="9525">
            <a:noFill/>
          </a:ln>
        </p:spPr>
      </p:pic>
      <p:pic>
        <p:nvPicPr>
          <p:cNvPr id="1" name="Picture 2" descr=""/>
          <p:cNvPicPr/>
          <p:nvPr/>
        </p:nvPicPr>
        <p:blipFill>
          <a:blip r:embed="rId3"/>
          <a:stretch/>
        </p:blipFill>
        <p:spPr>
          <a:xfrm>
            <a:off x="0" y="0"/>
            <a:ext cx="9155160" cy="6856560"/>
          </a:xfrm>
          <a:prstGeom prst="rect">
            <a:avLst/>
          </a:prstGeom>
          <a:ln w="9525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>
          <a:xfrm>
            <a:off x="3124080" y="6245280"/>
            <a:ext cx="289404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>
          <a:xfrm>
            <a:off x="655308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6E9A5E8A-91E0-43EE-A24A-4516AAE39637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>
          <a:xfrm>
            <a:off x="45720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9155160" cy="6856560"/>
          </a:xfrm>
          <a:prstGeom prst="rect">
            <a:avLst/>
          </a:prstGeom>
          <a:ln w="9525">
            <a:noFill/>
          </a:ln>
        </p:spPr>
      </p:pic>
      <p:pic>
        <p:nvPicPr>
          <p:cNvPr id="14" name="Picture 2" descr=""/>
          <p:cNvPicPr/>
          <p:nvPr/>
        </p:nvPicPr>
        <p:blipFill>
          <a:blip r:embed="rId3"/>
          <a:stretch/>
        </p:blipFill>
        <p:spPr>
          <a:xfrm>
            <a:off x="0" y="0"/>
            <a:ext cx="9155160" cy="6856560"/>
          </a:xfrm>
          <a:prstGeom prst="rect">
            <a:avLst/>
          </a:prstGeom>
          <a:ln w="9525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ftr" idx="4"/>
          </p:nvPr>
        </p:nvSpPr>
        <p:spPr>
          <a:xfrm>
            <a:off x="3124080" y="6245280"/>
            <a:ext cx="289404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sldNum" idx="5"/>
          </p:nvPr>
        </p:nvSpPr>
        <p:spPr>
          <a:xfrm>
            <a:off x="655308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930A6851-D977-4BF0-B181-C38DDA274D1F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7"/>
          <p:cNvSpPr>
            <a:spLocks noGrp="1"/>
          </p:cNvSpPr>
          <p:nvPr>
            <p:ph type="dt" idx="6"/>
          </p:nvPr>
        </p:nvSpPr>
        <p:spPr>
          <a:xfrm>
            <a:off x="45720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9155160" cy="6856560"/>
          </a:xfrm>
          <a:prstGeom prst="rect">
            <a:avLst/>
          </a:prstGeom>
          <a:ln w="9525">
            <a:noFill/>
          </a:ln>
        </p:spPr>
      </p:pic>
      <p:pic>
        <p:nvPicPr>
          <p:cNvPr id="27" name="Picture 2" descr=""/>
          <p:cNvPicPr/>
          <p:nvPr/>
        </p:nvPicPr>
        <p:blipFill>
          <a:blip r:embed="rId3"/>
          <a:stretch/>
        </p:blipFill>
        <p:spPr>
          <a:xfrm>
            <a:off x="0" y="0"/>
            <a:ext cx="9155160" cy="6856560"/>
          </a:xfrm>
          <a:prstGeom prst="rect">
            <a:avLst/>
          </a:prstGeom>
          <a:ln w="9525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88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7"/>
          </p:nvPr>
        </p:nvSpPr>
        <p:spPr>
          <a:xfrm>
            <a:off x="3124080" y="6245280"/>
            <a:ext cx="289404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8"/>
          </p:nvPr>
        </p:nvSpPr>
        <p:spPr>
          <a:xfrm>
            <a:off x="655308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DF93FEB1-AE01-492A-ABBD-C26FCF3AC527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7"/>
          <p:cNvSpPr>
            <a:spLocks noGrp="1"/>
          </p:cNvSpPr>
          <p:nvPr>
            <p:ph type="dt" idx="9"/>
          </p:nvPr>
        </p:nvSpPr>
        <p:spPr>
          <a:xfrm>
            <a:off x="45720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9155160" cy="6856560"/>
          </a:xfrm>
          <a:prstGeom prst="rect">
            <a:avLst/>
          </a:prstGeom>
          <a:ln w="9525">
            <a:noFill/>
          </a:ln>
        </p:spPr>
      </p:pic>
      <p:pic>
        <p:nvPicPr>
          <p:cNvPr id="40" name="Picture 2" descr=""/>
          <p:cNvPicPr/>
          <p:nvPr/>
        </p:nvPicPr>
        <p:blipFill>
          <a:blip r:embed="rId3"/>
          <a:stretch/>
        </p:blipFill>
        <p:spPr>
          <a:xfrm>
            <a:off x="0" y="0"/>
            <a:ext cx="9155160" cy="6856560"/>
          </a:xfrm>
          <a:prstGeom prst="rect">
            <a:avLst/>
          </a:prstGeom>
          <a:ln w="9525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88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10"/>
          </p:nvPr>
        </p:nvSpPr>
        <p:spPr>
          <a:xfrm>
            <a:off x="3124080" y="6245280"/>
            <a:ext cx="289404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11"/>
          </p:nvPr>
        </p:nvSpPr>
        <p:spPr>
          <a:xfrm>
            <a:off x="655308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E9199AF4-29E5-4B2C-98A6-662748755AF3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dt" idx="12"/>
          </p:nvPr>
        </p:nvSpPr>
        <p:spPr>
          <a:xfrm>
            <a:off x="45720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9155160" cy="6856560"/>
          </a:xfrm>
          <a:prstGeom prst="rect">
            <a:avLst/>
          </a:prstGeom>
          <a:ln w="9525">
            <a:noFill/>
          </a:ln>
        </p:spPr>
      </p:pic>
      <p:pic>
        <p:nvPicPr>
          <p:cNvPr id="51" name="Picture 2" descr=""/>
          <p:cNvPicPr/>
          <p:nvPr/>
        </p:nvPicPr>
        <p:blipFill>
          <a:blip r:embed="rId3"/>
          <a:stretch/>
        </p:blipFill>
        <p:spPr>
          <a:xfrm>
            <a:off x="0" y="0"/>
            <a:ext cx="9155160" cy="6856560"/>
          </a:xfrm>
          <a:prstGeom prst="rect">
            <a:avLst/>
          </a:prstGeom>
          <a:ln w="9525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ftr" idx="13"/>
          </p:nvPr>
        </p:nvSpPr>
        <p:spPr>
          <a:xfrm>
            <a:off x="3124080" y="6245280"/>
            <a:ext cx="289404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7"/>
          <p:cNvSpPr>
            <a:spLocks noGrp="1"/>
          </p:cNvSpPr>
          <p:nvPr>
            <p:ph type="sldNum" idx="14"/>
          </p:nvPr>
        </p:nvSpPr>
        <p:spPr>
          <a:xfrm>
            <a:off x="655308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3F34FB01-2F6F-4D9F-A28D-68823D4D9F6F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8"/>
          <p:cNvSpPr>
            <a:spLocks noGrp="1"/>
          </p:cNvSpPr>
          <p:nvPr>
            <p:ph type="dt" idx="15"/>
          </p:nvPr>
        </p:nvSpPr>
        <p:spPr>
          <a:xfrm>
            <a:off x="45720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9155160" cy="6856560"/>
          </a:xfrm>
          <a:prstGeom prst="rect">
            <a:avLst/>
          </a:prstGeom>
          <a:ln w="9525">
            <a:noFill/>
          </a:ln>
        </p:spPr>
      </p:pic>
      <p:pic>
        <p:nvPicPr>
          <p:cNvPr id="66" name="Picture 2" descr=""/>
          <p:cNvPicPr/>
          <p:nvPr/>
        </p:nvPicPr>
        <p:blipFill>
          <a:blip r:embed="rId3"/>
          <a:stretch/>
        </p:blipFill>
        <p:spPr>
          <a:xfrm>
            <a:off x="0" y="0"/>
            <a:ext cx="9155160" cy="6856560"/>
          </a:xfrm>
          <a:prstGeom prst="rect">
            <a:avLst/>
          </a:prstGeom>
          <a:ln w="9525">
            <a:noFill/>
          </a:ln>
        </p:spPr>
      </p:pic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8"/>
          <p:cNvSpPr>
            <a:spLocks noGrp="1"/>
          </p:cNvSpPr>
          <p:nvPr>
            <p:ph type="ftr" idx="16"/>
          </p:nvPr>
        </p:nvSpPr>
        <p:spPr>
          <a:xfrm>
            <a:off x="3124080" y="6245280"/>
            <a:ext cx="289404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9"/>
          <p:cNvSpPr>
            <a:spLocks noGrp="1"/>
          </p:cNvSpPr>
          <p:nvPr>
            <p:ph type="sldNum" idx="17"/>
          </p:nvPr>
        </p:nvSpPr>
        <p:spPr>
          <a:xfrm>
            <a:off x="655308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3D32751E-9202-4E25-B8F9-1534CE2A9ED9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10"/>
          <p:cNvSpPr>
            <a:spLocks noGrp="1"/>
          </p:cNvSpPr>
          <p:nvPr>
            <p:ph type="dt" idx="18"/>
          </p:nvPr>
        </p:nvSpPr>
        <p:spPr>
          <a:xfrm>
            <a:off x="45720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9155160" cy="6856560"/>
          </a:xfrm>
          <a:prstGeom prst="rect">
            <a:avLst/>
          </a:prstGeom>
          <a:ln w="9525">
            <a:noFill/>
          </a:ln>
        </p:spPr>
      </p:pic>
      <p:pic>
        <p:nvPicPr>
          <p:cNvPr id="78" name="Picture 2" descr=""/>
          <p:cNvPicPr/>
          <p:nvPr/>
        </p:nvPicPr>
        <p:blipFill>
          <a:blip r:embed="rId3"/>
          <a:stretch/>
        </p:blipFill>
        <p:spPr>
          <a:xfrm>
            <a:off x="0" y="0"/>
            <a:ext cx="9155160" cy="6856560"/>
          </a:xfrm>
          <a:prstGeom prst="rect">
            <a:avLst/>
          </a:prstGeom>
          <a:ln w="9525">
            <a:noFill/>
          </a:ln>
        </p:spPr>
      </p:pic>
      <p:sp>
        <p:nvSpPr>
          <p:cNvPr id="79" name="PlaceHolder 1"/>
          <p:cNvSpPr>
            <a:spLocks noGrp="1"/>
          </p:cNvSpPr>
          <p:nvPr>
            <p:ph type="ftr" idx="19"/>
          </p:nvPr>
        </p:nvSpPr>
        <p:spPr>
          <a:xfrm>
            <a:off x="3124080" y="6245280"/>
            <a:ext cx="289404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ldNum" idx="20"/>
          </p:nvPr>
        </p:nvSpPr>
        <p:spPr>
          <a:xfrm>
            <a:off x="655308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0ACA8E31-034D-416C-B41B-74C108EF941C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dt" idx="21"/>
          </p:nvPr>
        </p:nvSpPr>
        <p:spPr>
          <a:xfrm>
            <a:off x="45720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9155160" cy="6856560"/>
          </a:xfrm>
          <a:prstGeom prst="rect">
            <a:avLst/>
          </a:prstGeom>
          <a:ln w="9525">
            <a:noFill/>
          </a:ln>
        </p:spPr>
      </p:pic>
      <p:pic>
        <p:nvPicPr>
          <p:cNvPr id="85" name="Picture 2" descr=""/>
          <p:cNvPicPr/>
          <p:nvPr/>
        </p:nvPicPr>
        <p:blipFill>
          <a:blip r:embed="rId3"/>
          <a:stretch/>
        </p:blipFill>
        <p:spPr>
          <a:xfrm>
            <a:off x="0" y="0"/>
            <a:ext cx="9155160" cy="6856560"/>
          </a:xfrm>
          <a:prstGeom prst="rect">
            <a:avLst/>
          </a:prstGeom>
          <a:ln w="9525">
            <a:noFill/>
          </a:ln>
        </p:spPr>
      </p:pic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ftr" idx="22"/>
          </p:nvPr>
        </p:nvSpPr>
        <p:spPr>
          <a:xfrm>
            <a:off x="3124080" y="6245280"/>
            <a:ext cx="289404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23"/>
          </p:nvPr>
        </p:nvSpPr>
        <p:spPr>
          <a:xfrm>
            <a:off x="655308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25829B4B-3CE7-4E6F-820E-7E8804ED1D96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24"/>
          </p:nvPr>
        </p:nvSpPr>
        <p:spPr>
          <a:xfrm>
            <a:off x="45720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9155160" cy="6856560"/>
          </a:xfrm>
          <a:prstGeom prst="rect">
            <a:avLst/>
          </a:prstGeom>
          <a:ln w="9525">
            <a:noFill/>
          </a:ln>
        </p:spPr>
      </p:pic>
      <p:pic>
        <p:nvPicPr>
          <p:cNvPr id="93" name="Picture 2" descr=""/>
          <p:cNvPicPr/>
          <p:nvPr/>
        </p:nvPicPr>
        <p:blipFill>
          <a:blip r:embed="rId3"/>
          <a:stretch/>
        </p:blipFill>
        <p:spPr>
          <a:xfrm>
            <a:off x="0" y="0"/>
            <a:ext cx="9155160" cy="6856560"/>
          </a:xfrm>
          <a:prstGeom prst="rect">
            <a:avLst/>
          </a:prstGeom>
          <a:ln w="9525">
            <a:noFill/>
          </a:ln>
        </p:spPr>
      </p:pic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ftr" idx="25"/>
          </p:nvPr>
        </p:nvSpPr>
        <p:spPr>
          <a:xfrm>
            <a:off x="3124080" y="6245280"/>
            <a:ext cx="289404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sldNum" idx="26"/>
          </p:nvPr>
        </p:nvSpPr>
        <p:spPr>
          <a:xfrm>
            <a:off x="655308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95BD9D29-DA5E-4271-B5F0-D7D02BE8B97C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 type="dt" idx="27"/>
          </p:nvPr>
        </p:nvSpPr>
        <p:spPr>
          <a:xfrm>
            <a:off x="45720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9155160" cy="6856560"/>
          </a:xfrm>
          <a:prstGeom prst="rect">
            <a:avLst/>
          </a:prstGeom>
          <a:ln w="9525">
            <a:noFill/>
          </a:ln>
        </p:spPr>
      </p:pic>
      <p:pic>
        <p:nvPicPr>
          <p:cNvPr id="102" name="Picture 2" descr=""/>
          <p:cNvPicPr/>
          <p:nvPr/>
        </p:nvPicPr>
        <p:blipFill>
          <a:blip r:embed="rId3"/>
          <a:stretch/>
        </p:blipFill>
        <p:spPr>
          <a:xfrm>
            <a:off x="0" y="0"/>
            <a:ext cx="9155160" cy="6856560"/>
          </a:xfrm>
          <a:prstGeom prst="rect">
            <a:avLst/>
          </a:prstGeom>
          <a:ln w="9525">
            <a:noFill/>
          </a:ln>
        </p:spPr>
      </p:pic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 type="ftr" idx="28"/>
          </p:nvPr>
        </p:nvSpPr>
        <p:spPr>
          <a:xfrm>
            <a:off x="3124080" y="6245280"/>
            <a:ext cx="289404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PlaceHolder 5"/>
          <p:cNvSpPr>
            <a:spLocks noGrp="1"/>
          </p:cNvSpPr>
          <p:nvPr>
            <p:ph type="sldNum" idx="29"/>
          </p:nvPr>
        </p:nvSpPr>
        <p:spPr>
          <a:xfrm>
            <a:off x="655308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C338F398-B40E-4DF4-910A-61C8D9901E07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PlaceHolder 6"/>
          <p:cNvSpPr>
            <a:spLocks noGrp="1"/>
          </p:cNvSpPr>
          <p:nvPr>
            <p:ph type="dt" idx="30"/>
          </p:nvPr>
        </p:nvSpPr>
        <p:spPr>
          <a:xfrm>
            <a:off x="45720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9155160" cy="6856560"/>
          </a:xfrm>
          <a:prstGeom prst="rect">
            <a:avLst/>
          </a:prstGeom>
          <a:ln w="9525">
            <a:noFill/>
          </a:ln>
        </p:spPr>
      </p:pic>
      <p:pic>
        <p:nvPicPr>
          <p:cNvPr id="113" name="Picture 2" descr=""/>
          <p:cNvPicPr/>
          <p:nvPr/>
        </p:nvPicPr>
        <p:blipFill>
          <a:blip r:embed="rId3"/>
          <a:stretch/>
        </p:blipFill>
        <p:spPr>
          <a:xfrm>
            <a:off x="0" y="0"/>
            <a:ext cx="9155160" cy="6856560"/>
          </a:xfrm>
          <a:prstGeom prst="rect">
            <a:avLst/>
          </a:prstGeom>
          <a:ln w="9525">
            <a:noFill/>
          </a:ln>
        </p:spPr>
      </p:pic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ftr" idx="31"/>
          </p:nvPr>
        </p:nvSpPr>
        <p:spPr>
          <a:xfrm>
            <a:off x="3124080" y="6245280"/>
            <a:ext cx="289404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32"/>
          </p:nvPr>
        </p:nvSpPr>
        <p:spPr>
          <a:xfrm>
            <a:off x="655308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DEDEB018-EB94-48F5-8868-BD29B98D2D68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dt" idx="33"/>
          </p:nvPr>
        </p:nvSpPr>
        <p:spPr>
          <a:xfrm>
            <a:off x="45720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4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9155160" cy="6856560"/>
          </a:xfrm>
          <a:prstGeom prst="rect">
            <a:avLst/>
          </a:prstGeom>
          <a:ln w="9525">
            <a:noFill/>
          </a:ln>
        </p:spPr>
      </p:pic>
      <p:pic>
        <p:nvPicPr>
          <p:cNvPr id="120" name="Picture 2" descr=""/>
          <p:cNvPicPr/>
          <p:nvPr/>
        </p:nvPicPr>
        <p:blipFill>
          <a:blip r:embed="rId3"/>
          <a:stretch/>
        </p:blipFill>
        <p:spPr>
          <a:xfrm>
            <a:off x="0" y="0"/>
            <a:ext cx="9155160" cy="6856560"/>
          </a:xfrm>
          <a:prstGeom prst="rect">
            <a:avLst/>
          </a:prstGeom>
          <a:ln w="9525">
            <a:noFill/>
          </a:ln>
        </p:spPr>
      </p:pic>
      <p:sp>
        <p:nvSpPr>
          <p:cNvPr id="121" name="PlaceHolder 1"/>
          <p:cNvSpPr>
            <a:spLocks noGrp="1"/>
          </p:cNvSpPr>
          <p:nvPr>
            <p:ph type="ftr" idx="34"/>
          </p:nvPr>
        </p:nvSpPr>
        <p:spPr>
          <a:xfrm>
            <a:off x="3124080" y="6245280"/>
            <a:ext cx="289404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sldNum" idx="35"/>
          </p:nvPr>
        </p:nvSpPr>
        <p:spPr>
          <a:xfrm>
            <a:off x="655308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08282C86-B5B0-4021-A3E6-5DBE48825BDD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dt" idx="36"/>
          </p:nvPr>
        </p:nvSpPr>
        <p:spPr>
          <a:xfrm>
            <a:off x="45720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9155160" cy="6856560"/>
          </a:xfrm>
          <a:prstGeom prst="rect">
            <a:avLst/>
          </a:prstGeom>
          <a:ln w="9525">
            <a:noFill/>
          </a:ln>
        </p:spPr>
      </p:pic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 type="ftr" idx="37"/>
          </p:nvPr>
        </p:nvSpPr>
        <p:spPr>
          <a:xfrm>
            <a:off x="3124080" y="6245280"/>
            <a:ext cx="289404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PlaceHolder 6"/>
          <p:cNvSpPr>
            <a:spLocks noGrp="1"/>
          </p:cNvSpPr>
          <p:nvPr>
            <p:ph type="sldNum" idx="38"/>
          </p:nvPr>
        </p:nvSpPr>
        <p:spPr>
          <a:xfrm>
            <a:off x="655308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07E9785F-7126-482A-AD8F-1BB8CCD8005A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PlaceHolder 7"/>
          <p:cNvSpPr>
            <a:spLocks noGrp="1"/>
          </p:cNvSpPr>
          <p:nvPr>
            <p:ph type="dt" idx="39"/>
          </p:nvPr>
        </p:nvSpPr>
        <p:spPr>
          <a:xfrm>
            <a:off x="45720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9155160" cy="6856560"/>
          </a:xfrm>
          <a:prstGeom prst="rect">
            <a:avLst/>
          </a:prstGeom>
          <a:ln w="9525">
            <a:noFill/>
          </a:ln>
        </p:spPr>
      </p:pic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88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5"/>
          <p:cNvSpPr>
            <a:spLocks noGrp="1"/>
          </p:cNvSpPr>
          <p:nvPr>
            <p:ph type="ftr" idx="40"/>
          </p:nvPr>
        </p:nvSpPr>
        <p:spPr>
          <a:xfrm>
            <a:off x="3124080" y="6245280"/>
            <a:ext cx="289404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" name="PlaceHolder 6"/>
          <p:cNvSpPr>
            <a:spLocks noGrp="1"/>
          </p:cNvSpPr>
          <p:nvPr>
            <p:ph type="sldNum" idx="41"/>
          </p:nvPr>
        </p:nvSpPr>
        <p:spPr>
          <a:xfrm>
            <a:off x="655308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0BAF33B3-6E73-4764-B77E-53D54250100F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" name="PlaceHolder 7"/>
          <p:cNvSpPr>
            <a:spLocks noGrp="1"/>
          </p:cNvSpPr>
          <p:nvPr>
            <p:ph type="dt" idx="42"/>
          </p:nvPr>
        </p:nvSpPr>
        <p:spPr>
          <a:xfrm>
            <a:off x="45720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9155160" cy="6856560"/>
          </a:xfrm>
          <a:prstGeom prst="rect">
            <a:avLst/>
          </a:prstGeom>
          <a:ln w="9525">
            <a:noFill/>
          </a:ln>
        </p:spPr>
      </p:pic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88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 type="ftr" idx="43"/>
          </p:nvPr>
        </p:nvSpPr>
        <p:spPr>
          <a:xfrm>
            <a:off x="3124080" y="6245280"/>
            <a:ext cx="289404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" name="PlaceHolder 5"/>
          <p:cNvSpPr>
            <a:spLocks noGrp="1"/>
          </p:cNvSpPr>
          <p:nvPr>
            <p:ph type="sldNum" idx="44"/>
          </p:nvPr>
        </p:nvSpPr>
        <p:spPr>
          <a:xfrm>
            <a:off x="655308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03E28C31-014F-44C9-8F83-87AD7100195B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" name="PlaceHolder 6"/>
          <p:cNvSpPr>
            <a:spLocks noGrp="1"/>
          </p:cNvSpPr>
          <p:nvPr>
            <p:ph type="dt" idx="45"/>
          </p:nvPr>
        </p:nvSpPr>
        <p:spPr>
          <a:xfrm>
            <a:off x="45720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9155160" cy="6856560"/>
          </a:xfrm>
          <a:prstGeom prst="rect">
            <a:avLst/>
          </a:prstGeom>
          <a:ln w="9525">
            <a:noFill/>
          </a:ln>
        </p:spPr>
      </p:pic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6"/>
          <p:cNvSpPr>
            <a:spLocks noGrp="1"/>
          </p:cNvSpPr>
          <p:nvPr>
            <p:ph type="ftr" idx="46"/>
          </p:nvPr>
        </p:nvSpPr>
        <p:spPr>
          <a:xfrm>
            <a:off x="3124080" y="6245280"/>
            <a:ext cx="289404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" name="PlaceHolder 7"/>
          <p:cNvSpPr>
            <a:spLocks noGrp="1"/>
          </p:cNvSpPr>
          <p:nvPr>
            <p:ph type="sldNum" idx="47"/>
          </p:nvPr>
        </p:nvSpPr>
        <p:spPr>
          <a:xfrm>
            <a:off x="655308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FEBAFA12-58E6-4384-B0C9-98B051344B0C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" name="PlaceHolder 8"/>
          <p:cNvSpPr>
            <a:spLocks noGrp="1"/>
          </p:cNvSpPr>
          <p:nvPr>
            <p:ph type="dt" idx="48"/>
          </p:nvPr>
        </p:nvSpPr>
        <p:spPr>
          <a:xfrm>
            <a:off x="45720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9155160" cy="6856560"/>
          </a:xfrm>
          <a:prstGeom prst="rect">
            <a:avLst/>
          </a:prstGeom>
          <a:ln w="9525">
            <a:noFill/>
          </a:ln>
        </p:spPr>
      </p:pic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8"/>
          <p:cNvSpPr>
            <a:spLocks noGrp="1"/>
          </p:cNvSpPr>
          <p:nvPr>
            <p:ph type="ftr" idx="49"/>
          </p:nvPr>
        </p:nvSpPr>
        <p:spPr>
          <a:xfrm>
            <a:off x="3124080" y="6245280"/>
            <a:ext cx="289404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" name="PlaceHolder 9"/>
          <p:cNvSpPr>
            <a:spLocks noGrp="1"/>
          </p:cNvSpPr>
          <p:nvPr>
            <p:ph type="sldNum" idx="50"/>
          </p:nvPr>
        </p:nvSpPr>
        <p:spPr>
          <a:xfrm>
            <a:off x="655308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AE737EF8-B0AE-4F71-A34C-D234E60DE6B2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" name="PlaceHolder 10"/>
          <p:cNvSpPr>
            <a:spLocks noGrp="1"/>
          </p:cNvSpPr>
          <p:nvPr>
            <p:ph type="dt" idx="51"/>
          </p:nvPr>
        </p:nvSpPr>
        <p:spPr>
          <a:xfrm>
            <a:off x="45720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9155160" cy="6856560"/>
          </a:xfrm>
          <a:prstGeom prst="rect">
            <a:avLst/>
          </a:prstGeom>
          <a:ln w="9525">
            <a:noFill/>
          </a:ln>
        </p:spPr>
      </p:pic>
      <p:sp>
        <p:nvSpPr>
          <p:cNvPr id="184" name="PlaceHolder 1"/>
          <p:cNvSpPr>
            <a:spLocks noGrp="1"/>
          </p:cNvSpPr>
          <p:nvPr>
            <p:ph type="ftr" idx="52"/>
          </p:nvPr>
        </p:nvSpPr>
        <p:spPr>
          <a:xfrm>
            <a:off x="3124080" y="6245280"/>
            <a:ext cx="289404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sldNum" idx="53"/>
          </p:nvPr>
        </p:nvSpPr>
        <p:spPr>
          <a:xfrm>
            <a:off x="655308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F2898A54-F6B8-41F1-9F5E-3686B751847D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dt" idx="54"/>
          </p:nvPr>
        </p:nvSpPr>
        <p:spPr>
          <a:xfrm>
            <a:off x="45720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9155160" cy="6856560"/>
          </a:xfrm>
          <a:prstGeom prst="rect">
            <a:avLst/>
          </a:prstGeom>
          <a:ln w="9525">
            <a:noFill/>
          </a:ln>
        </p:spPr>
      </p:pic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ftr" idx="55"/>
          </p:nvPr>
        </p:nvSpPr>
        <p:spPr>
          <a:xfrm>
            <a:off x="3124080" y="6245280"/>
            <a:ext cx="289404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56"/>
          </p:nvPr>
        </p:nvSpPr>
        <p:spPr>
          <a:xfrm>
            <a:off x="655308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0469F86D-3438-4896-BEAE-1EDDF865A99D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 type="dt" idx="57"/>
          </p:nvPr>
        </p:nvSpPr>
        <p:spPr>
          <a:xfrm>
            <a:off x="45720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3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9155160" cy="6856560"/>
          </a:xfrm>
          <a:prstGeom prst="rect">
            <a:avLst/>
          </a:prstGeom>
          <a:ln w="9525">
            <a:noFill/>
          </a:ln>
        </p:spPr>
      </p:pic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ftr" idx="58"/>
          </p:nvPr>
        </p:nvSpPr>
        <p:spPr>
          <a:xfrm>
            <a:off x="3124080" y="6245280"/>
            <a:ext cx="289404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" name="PlaceHolder 4"/>
          <p:cNvSpPr>
            <a:spLocks noGrp="1"/>
          </p:cNvSpPr>
          <p:nvPr>
            <p:ph type="sldNum" idx="59"/>
          </p:nvPr>
        </p:nvSpPr>
        <p:spPr>
          <a:xfrm>
            <a:off x="655308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8B7A8C6C-28BA-4128-8549-9379B99AF337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PlaceHolder 5"/>
          <p:cNvSpPr>
            <a:spLocks noGrp="1"/>
          </p:cNvSpPr>
          <p:nvPr>
            <p:ph type="dt" idx="60"/>
          </p:nvPr>
        </p:nvSpPr>
        <p:spPr>
          <a:xfrm>
            <a:off x="45720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3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9155160" cy="6856560"/>
          </a:xfrm>
          <a:prstGeom prst="rect">
            <a:avLst/>
          </a:prstGeom>
          <a:ln w="9525">
            <a:noFill/>
          </a:ln>
        </p:spPr>
      </p:pic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ftr" idx="61"/>
          </p:nvPr>
        </p:nvSpPr>
        <p:spPr>
          <a:xfrm>
            <a:off x="3124080" y="6245280"/>
            <a:ext cx="289404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" name="PlaceHolder 5"/>
          <p:cNvSpPr>
            <a:spLocks noGrp="1"/>
          </p:cNvSpPr>
          <p:nvPr>
            <p:ph type="sldNum" idx="62"/>
          </p:nvPr>
        </p:nvSpPr>
        <p:spPr>
          <a:xfrm>
            <a:off x="655308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B272AB18-4246-4C5E-9F3A-AF3B1D0BFF82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" name="PlaceHolder 6"/>
          <p:cNvSpPr>
            <a:spLocks noGrp="1"/>
          </p:cNvSpPr>
          <p:nvPr>
            <p:ph type="dt" idx="63"/>
          </p:nvPr>
        </p:nvSpPr>
        <p:spPr>
          <a:xfrm>
            <a:off x="45720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3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9155160" cy="6856560"/>
          </a:xfrm>
          <a:prstGeom prst="rect">
            <a:avLst/>
          </a:prstGeom>
          <a:ln w="9525">
            <a:noFill/>
          </a:ln>
        </p:spPr>
      </p:pic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ftr" idx="64"/>
          </p:nvPr>
        </p:nvSpPr>
        <p:spPr>
          <a:xfrm>
            <a:off x="3124080" y="6245280"/>
            <a:ext cx="289404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65"/>
          </p:nvPr>
        </p:nvSpPr>
        <p:spPr>
          <a:xfrm>
            <a:off x="655308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28803165-5079-4865-8085-2B48742F5F5C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" name="PlaceHolder 4"/>
          <p:cNvSpPr>
            <a:spLocks noGrp="1"/>
          </p:cNvSpPr>
          <p:nvPr>
            <p:ph type="dt" idx="66"/>
          </p:nvPr>
        </p:nvSpPr>
        <p:spPr>
          <a:xfrm>
            <a:off x="45720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3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9155160" cy="6856560"/>
          </a:xfrm>
          <a:prstGeom prst="rect">
            <a:avLst/>
          </a:prstGeom>
          <a:ln w="9525">
            <a:noFill/>
          </a:ln>
        </p:spPr>
      </p:pic>
      <p:sp>
        <p:nvSpPr>
          <p:cNvPr id="221" name="PlaceHolder 1"/>
          <p:cNvSpPr>
            <a:spLocks noGrp="1"/>
          </p:cNvSpPr>
          <p:nvPr>
            <p:ph type="ftr" idx="67"/>
          </p:nvPr>
        </p:nvSpPr>
        <p:spPr>
          <a:xfrm>
            <a:off x="3124080" y="6245280"/>
            <a:ext cx="289404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sldNum" idx="68"/>
          </p:nvPr>
        </p:nvSpPr>
        <p:spPr>
          <a:xfrm>
            <a:off x="655308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CB4F1666-F1AB-45A9-85A5-ADBC2E28CE3E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dt" idx="69"/>
          </p:nvPr>
        </p:nvSpPr>
        <p:spPr>
          <a:xfrm>
            <a:off x="45720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3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Picture 9" descr=""/>
          <p:cNvPicPr/>
          <p:nvPr/>
        </p:nvPicPr>
        <p:blipFill>
          <a:blip r:embed="rId2"/>
          <a:stretch/>
        </p:blipFill>
        <p:spPr>
          <a:xfrm>
            <a:off x="0" y="0"/>
            <a:ext cx="9155160" cy="6856560"/>
          </a:xfrm>
          <a:prstGeom prst="rect">
            <a:avLst/>
          </a:prstGeom>
          <a:ln w="9525">
            <a:noFill/>
          </a:ln>
        </p:spPr>
      </p:pic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5"/>
          <p:cNvSpPr>
            <a:spLocks noGrp="1"/>
          </p:cNvSpPr>
          <p:nvPr>
            <p:ph type="ftr" idx="70"/>
          </p:nvPr>
        </p:nvSpPr>
        <p:spPr>
          <a:xfrm>
            <a:off x="3124080" y="6245280"/>
            <a:ext cx="289404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" name="PlaceHolder 6"/>
          <p:cNvSpPr>
            <a:spLocks noGrp="1"/>
          </p:cNvSpPr>
          <p:nvPr>
            <p:ph type="sldNum" idx="71"/>
          </p:nvPr>
        </p:nvSpPr>
        <p:spPr>
          <a:xfrm>
            <a:off x="655308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DD872608-1EFA-466B-B324-6E0E9421A521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" name="PlaceHolder 7"/>
          <p:cNvSpPr>
            <a:spLocks noGrp="1"/>
          </p:cNvSpPr>
          <p:nvPr>
            <p:ph type="dt" idx="72"/>
          </p:nvPr>
        </p:nvSpPr>
        <p:spPr>
          <a:xfrm>
            <a:off x="457200" y="6245280"/>
            <a:ext cx="2132280" cy="47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88;p13" descr=""/>
          <p:cNvPicPr/>
          <p:nvPr/>
        </p:nvPicPr>
        <p:blipFill>
          <a:blip r:embed="rId1"/>
          <a:stretch/>
        </p:blipFill>
        <p:spPr>
          <a:xfrm>
            <a:off x="0" y="0"/>
            <a:ext cx="9142560" cy="6856560"/>
          </a:xfrm>
          <a:prstGeom prst="rect">
            <a:avLst/>
          </a:prstGeom>
          <a:ln w="0">
            <a:noFill/>
          </a:ln>
        </p:spPr>
      </p:pic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685800" y="1159560"/>
            <a:ext cx="7770960" cy="1468440"/>
          </a:xfrm>
          <a:prstGeom prst="rect">
            <a:avLst/>
          </a:prstGeom>
          <a:noFill/>
          <a:ln w="936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AR" sz="4860" spc="-1" strike="noStrike">
                <a:solidFill>
                  <a:srgbClr val="3d0e62"/>
                </a:solidFill>
                <a:latin typeface="Bitter"/>
                <a:ea typeface="Bitter"/>
              </a:rPr>
              <a:t>Programación IV</a:t>
            </a:r>
            <a:endParaRPr b="0" lang="es-AR" sz="4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 type="subTitle"/>
          </p:nvPr>
        </p:nvSpPr>
        <p:spPr>
          <a:xfrm>
            <a:off x="685800" y="3624480"/>
            <a:ext cx="6399360" cy="824040"/>
          </a:xfrm>
          <a:prstGeom prst="rect">
            <a:avLst/>
          </a:prstGeom>
          <a:noFill/>
          <a:ln w="936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8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Open Sans"/>
                <a:ea typeface="Open Sans"/>
              </a:rPr>
              <a:t>Programación Funcional</a:t>
            </a:r>
            <a:r>
              <a:rPr b="0" lang="es-AR" sz="2400" spc="-1" strike="noStrike">
                <a:solidFill>
                  <a:srgbClr val="ffffff"/>
                </a:solidFill>
                <a:latin typeface="Open Sans"/>
                <a:ea typeface="Open Sans"/>
              </a:rPr>
              <a:t>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457200" y="190440"/>
            <a:ext cx="8228160" cy="581040"/>
          </a:xfrm>
          <a:prstGeom prst="rect">
            <a:avLst/>
          </a:prstGeom>
          <a:noFill/>
          <a:ln w="9360">
            <a:noFill/>
          </a:ln>
        </p:spPr>
        <p:txBody>
          <a:bodyPr lIns="0" rIns="0" tIns="3564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449640"/>
                <a:tab algn="l" pos="898560"/>
                <a:tab algn="l" pos="1348200"/>
                <a:tab algn="l" pos="1797120"/>
                <a:tab algn="l" pos="2246760"/>
                <a:tab algn="l" pos="2695680"/>
                <a:tab algn="l" pos="3145320"/>
                <a:tab algn="l" pos="3594240"/>
                <a:tab algn="l" pos="4043520"/>
                <a:tab algn="l" pos="4492800"/>
                <a:tab algn="l" pos="4942080"/>
                <a:tab algn="l" pos="5391000"/>
                <a:tab algn="l" pos="5840640"/>
                <a:tab algn="l" pos="6289560"/>
                <a:tab algn="l" pos="6739200"/>
                <a:tab algn="l" pos="7188120"/>
                <a:tab algn="l" pos="7637760"/>
                <a:tab algn="l" pos="8086680"/>
                <a:tab algn="l" pos="8536320"/>
                <a:tab algn="l" pos="8985240"/>
              </a:tabLst>
            </a:pPr>
            <a:r>
              <a:rPr b="0" lang="es-AR" sz="3990" spc="-1" strike="noStrike">
                <a:solidFill>
                  <a:srgbClr val="000000"/>
                </a:solidFill>
                <a:latin typeface="Arial"/>
                <a:ea typeface="Droid Sans Fallback"/>
              </a:rPr>
              <a:t>Generics</a:t>
            </a:r>
            <a:endParaRPr b="0" lang="es-AR" sz="39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/>
          </p:nvPr>
        </p:nvSpPr>
        <p:spPr>
          <a:xfrm>
            <a:off x="457200" y="1174680"/>
            <a:ext cx="8228160" cy="4951440"/>
          </a:xfrm>
          <a:prstGeom prst="rect">
            <a:avLst/>
          </a:prstGeom>
          <a:noFill/>
          <a:ln w="9360">
            <a:noFill/>
          </a:ln>
        </p:spPr>
        <p:txBody>
          <a:bodyPr lIns="0" rIns="0" tIns="25920" bIns="0" anchor="ctr">
            <a:noAutofit/>
          </a:bodyPr>
          <a:p>
            <a:pPr marL="1800" indent="-344880">
              <a:lnSpc>
                <a:spcPct val="100000"/>
              </a:lnSpc>
              <a:spcBef>
                <a:spcPts val="581"/>
              </a:spcBef>
              <a:buNone/>
              <a:tabLst>
                <a:tab algn="l" pos="0"/>
              </a:tabLst>
            </a:pPr>
            <a:r>
              <a:rPr b="0" lang="es-AR" sz="2910" spc="-1" strike="noStrike">
                <a:solidFill>
                  <a:srgbClr val="000000"/>
                </a:solidFill>
                <a:latin typeface="Arial"/>
                <a:ea typeface="Droid Sans Fallback"/>
              </a:rPr>
              <a:t>Cualquier lenguaje de tipado estático tiene un problema y es que dada una estructura de datos generica, debemos programarla n veces como n sea el tipo de datos que queramos usarla. </a:t>
            </a:r>
            <a:endParaRPr b="0" lang="es-AR" sz="291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456480" y="273960"/>
            <a:ext cx="8226720" cy="1143360"/>
          </a:xfrm>
          <a:prstGeom prst="rect">
            <a:avLst/>
          </a:prstGeom>
          <a:noFill/>
          <a:ln w="9360">
            <a:noFill/>
          </a:ln>
        </p:spPr>
        <p:txBody>
          <a:bodyPr lIns="0" rIns="0" tIns="3564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449640"/>
                <a:tab algn="l" pos="898560"/>
                <a:tab algn="l" pos="1348200"/>
                <a:tab algn="l" pos="1797120"/>
                <a:tab algn="l" pos="2246760"/>
                <a:tab algn="l" pos="2695680"/>
                <a:tab algn="l" pos="3145320"/>
                <a:tab algn="l" pos="3594240"/>
                <a:tab algn="l" pos="4043520"/>
                <a:tab algn="l" pos="4492800"/>
                <a:tab algn="l" pos="4942080"/>
                <a:tab algn="l" pos="5391000"/>
                <a:tab algn="l" pos="5840640"/>
                <a:tab algn="l" pos="6289560"/>
                <a:tab algn="l" pos="6739200"/>
                <a:tab algn="l" pos="7188120"/>
                <a:tab algn="l" pos="7637760"/>
                <a:tab algn="l" pos="8086680"/>
                <a:tab algn="l" pos="8536320"/>
                <a:tab algn="l" pos="8985240"/>
              </a:tabLst>
            </a:pPr>
            <a:r>
              <a:rPr b="0" lang="es-AR" sz="3600" spc="-1" strike="noStrike">
                <a:solidFill>
                  <a:srgbClr val="000000"/>
                </a:solidFill>
                <a:latin typeface="Arial"/>
                <a:ea typeface="SimSun"/>
              </a:rPr>
              <a:t>Generics</a:t>
            </a:r>
            <a:endParaRPr b="0" lang="es-A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/>
          </p:nvPr>
        </p:nvSpPr>
        <p:spPr>
          <a:xfrm>
            <a:off x="456480" y="1604520"/>
            <a:ext cx="8226720" cy="3975840"/>
          </a:xfrm>
          <a:prstGeom prst="rect">
            <a:avLst/>
          </a:prstGeom>
          <a:noFill/>
          <a:ln w="9360">
            <a:noFill/>
          </a:ln>
        </p:spPr>
        <p:txBody>
          <a:bodyPr lIns="0" rIns="0" tIns="25920" bIns="0" anchor="t">
            <a:noAutofit/>
          </a:bodyPr>
          <a:p>
            <a:pPr marL="431640" indent="-324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49640"/>
                <a:tab algn="l" pos="898560"/>
                <a:tab algn="l" pos="1348200"/>
                <a:tab algn="l" pos="1797120"/>
                <a:tab algn="l" pos="2246760"/>
                <a:tab algn="l" pos="2695680"/>
                <a:tab algn="l" pos="3145320"/>
                <a:tab algn="l" pos="3594240"/>
                <a:tab algn="l" pos="4043520"/>
                <a:tab algn="l" pos="4492800"/>
                <a:tab algn="l" pos="4942080"/>
                <a:tab algn="l" pos="5391000"/>
                <a:tab algn="l" pos="5840640"/>
                <a:tab algn="l" pos="6289560"/>
                <a:tab algn="l" pos="6739200"/>
                <a:tab algn="l" pos="7188120"/>
                <a:tab algn="l" pos="7637760"/>
                <a:tab algn="l" pos="8086680"/>
                <a:tab algn="l" pos="8536320"/>
                <a:tab algn="l" pos="8985240"/>
              </a:tabLst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  <a:ea typeface="SimSun"/>
              </a:rPr>
              <a:t>Una posible solución es tipar esta estructura a object o any, esto trae con sigo ciertos problemas. 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marL="431640" indent="-324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49640"/>
                <a:tab algn="l" pos="898560"/>
                <a:tab algn="l" pos="1348200"/>
                <a:tab algn="l" pos="1797120"/>
                <a:tab algn="l" pos="2246760"/>
                <a:tab algn="l" pos="2695680"/>
                <a:tab algn="l" pos="3145320"/>
                <a:tab algn="l" pos="3594240"/>
                <a:tab algn="l" pos="4043520"/>
                <a:tab algn="l" pos="4492800"/>
                <a:tab algn="l" pos="4942080"/>
                <a:tab algn="l" pos="5391000"/>
                <a:tab algn="l" pos="5840640"/>
                <a:tab algn="l" pos="6289560"/>
                <a:tab algn="l" pos="6739200"/>
                <a:tab algn="l" pos="7188120"/>
                <a:tab algn="l" pos="7637760"/>
                <a:tab algn="l" pos="8086680"/>
                <a:tab algn="l" pos="8536320"/>
                <a:tab algn="l" pos="8985240"/>
              </a:tabLst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  <a:ea typeface="SimSun"/>
              </a:rPr>
              <a:t>Se pierde la seguridad por tipo.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marL="431640" indent="-324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49640"/>
                <a:tab algn="l" pos="898560"/>
                <a:tab algn="l" pos="1348200"/>
                <a:tab algn="l" pos="1797120"/>
                <a:tab algn="l" pos="2246760"/>
                <a:tab algn="l" pos="2695680"/>
                <a:tab algn="l" pos="3145320"/>
                <a:tab algn="l" pos="3594240"/>
                <a:tab algn="l" pos="4043520"/>
                <a:tab algn="l" pos="4492800"/>
                <a:tab algn="l" pos="4942080"/>
                <a:tab algn="l" pos="5391000"/>
                <a:tab algn="l" pos="5840640"/>
                <a:tab algn="l" pos="6289560"/>
                <a:tab algn="l" pos="6739200"/>
                <a:tab algn="l" pos="7188120"/>
                <a:tab algn="l" pos="7637760"/>
                <a:tab algn="l" pos="8086680"/>
                <a:tab algn="l" pos="8536320"/>
                <a:tab algn="l" pos="8985240"/>
              </a:tabLst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  <a:ea typeface="SimSun"/>
              </a:rPr>
              <a:t>Debemos castear al tipo de la estructura cada vez que consultemos un elemento: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marL="431640" indent="-324000">
              <a:lnSpc>
                <a:spcPct val="100000"/>
              </a:lnSpc>
              <a:spcBef>
                <a:spcPts val="473"/>
              </a:spcBef>
              <a:buNone/>
              <a:tabLst>
                <a:tab algn="l" pos="0"/>
              </a:tabLst>
            </a:pP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 marL="431640" indent="-324000">
              <a:lnSpc>
                <a:spcPct val="100000"/>
              </a:lnSpc>
              <a:spcBef>
                <a:spcPts val="473"/>
              </a:spcBef>
              <a:buNone/>
              <a:tabLst>
                <a:tab algn="l" pos="0"/>
              </a:tabLst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SimSun"/>
              </a:rPr>
              <a:t>List list = new ArrayList();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 marL="431640" indent="-324000">
              <a:lnSpc>
                <a:spcPct val="100000"/>
              </a:lnSpc>
              <a:spcBef>
                <a:spcPts val="473"/>
              </a:spcBef>
              <a:buNone/>
              <a:tabLst>
                <a:tab algn="l" pos="0"/>
              </a:tabLst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SimSun"/>
              </a:rPr>
              <a:t>list.add("hello");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 marL="431640" indent="-324000">
              <a:lnSpc>
                <a:spcPct val="100000"/>
              </a:lnSpc>
              <a:spcBef>
                <a:spcPts val="473"/>
              </a:spcBef>
              <a:buNone/>
              <a:tabLst>
                <a:tab algn="l" pos="0"/>
              </a:tabLst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SimSun"/>
              </a:rPr>
              <a:t>String s = (String) list.get(0);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456480" y="273960"/>
            <a:ext cx="8226720" cy="1143360"/>
          </a:xfrm>
          <a:prstGeom prst="rect">
            <a:avLst/>
          </a:prstGeom>
          <a:noFill/>
          <a:ln w="9360">
            <a:noFill/>
          </a:ln>
        </p:spPr>
        <p:txBody>
          <a:bodyPr lIns="0" rIns="0" tIns="3564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449640"/>
                <a:tab algn="l" pos="898560"/>
                <a:tab algn="l" pos="1348200"/>
                <a:tab algn="l" pos="1797120"/>
                <a:tab algn="l" pos="2246760"/>
                <a:tab algn="l" pos="2695680"/>
                <a:tab algn="l" pos="3145320"/>
                <a:tab algn="l" pos="3594240"/>
                <a:tab algn="l" pos="4043520"/>
                <a:tab algn="l" pos="4492800"/>
                <a:tab algn="l" pos="4942080"/>
                <a:tab algn="l" pos="5391000"/>
                <a:tab algn="l" pos="5840640"/>
                <a:tab algn="l" pos="6289560"/>
                <a:tab algn="l" pos="6739200"/>
                <a:tab algn="l" pos="7188120"/>
                <a:tab algn="l" pos="7637760"/>
                <a:tab algn="l" pos="8086680"/>
                <a:tab algn="l" pos="8536320"/>
                <a:tab algn="l" pos="8985240"/>
              </a:tabLst>
            </a:pPr>
            <a:r>
              <a:rPr b="0" lang="es-AR" sz="3600" spc="-1" strike="noStrike">
                <a:solidFill>
                  <a:srgbClr val="000000"/>
                </a:solidFill>
                <a:latin typeface="Arial"/>
                <a:ea typeface="SimSun"/>
              </a:rPr>
              <a:t>Generics</a:t>
            </a:r>
            <a:endParaRPr b="0" lang="es-A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/>
          </p:nvPr>
        </p:nvSpPr>
        <p:spPr>
          <a:xfrm>
            <a:off x="456480" y="1604520"/>
            <a:ext cx="8226720" cy="3975840"/>
          </a:xfrm>
          <a:prstGeom prst="rect">
            <a:avLst/>
          </a:prstGeom>
          <a:noFill/>
          <a:ln w="9360">
            <a:noFill/>
          </a:ln>
        </p:spPr>
        <p:txBody>
          <a:bodyPr lIns="0" rIns="0" tIns="25920" bIns="0" anchor="t">
            <a:noAutofit/>
          </a:bodyPr>
          <a:p>
            <a:pPr marL="431640" indent="-324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49640"/>
                <a:tab algn="l" pos="898560"/>
                <a:tab algn="l" pos="1348200"/>
                <a:tab algn="l" pos="1797120"/>
                <a:tab algn="l" pos="2246760"/>
                <a:tab algn="l" pos="2695680"/>
                <a:tab algn="l" pos="3145320"/>
                <a:tab algn="l" pos="3594240"/>
                <a:tab algn="l" pos="4043520"/>
                <a:tab algn="l" pos="4492800"/>
                <a:tab algn="l" pos="4942080"/>
                <a:tab algn="l" pos="5391000"/>
                <a:tab algn="l" pos="5840640"/>
                <a:tab algn="l" pos="6289560"/>
                <a:tab algn="l" pos="6739200"/>
                <a:tab algn="l" pos="7188120"/>
                <a:tab algn="l" pos="7637760"/>
                <a:tab algn="l" pos="8086680"/>
                <a:tab algn="l" pos="8536320"/>
                <a:tab algn="l" pos="8985240"/>
              </a:tabLst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  <a:ea typeface="SimSun"/>
              </a:rPr>
              <a:t>A partir de java 5 , C#, haskell ... se introduce el concepto de clases genéricas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marL="431640" indent="-324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49640"/>
                <a:tab algn="l" pos="898560"/>
                <a:tab algn="l" pos="1348200"/>
                <a:tab algn="l" pos="1797120"/>
                <a:tab algn="l" pos="2246760"/>
                <a:tab algn="l" pos="2695680"/>
                <a:tab algn="l" pos="3145320"/>
                <a:tab algn="l" pos="3594240"/>
                <a:tab algn="l" pos="4043520"/>
                <a:tab algn="l" pos="4492800"/>
                <a:tab algn="l" pos="4942080"/>
                <a:tab algn="l" pos="5391000"/>
                <a:tab algn="l" pos="5840640"/>
                <a:tab algn="l" pos="6289560"/>
                <a:tab algn="l" pos="6739200"/>
                <a:tab algn="l" pos="7188120"/>
                <a:tab algn="l" pos="7637760"/>
                <a:tab algn="l" pos="8086680"/>
                <a:tab algn="l" pos="8536320"/>
                <a:tab algn="l" pos="8985240"/>
              </a:tabLst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  <a:ea typeface="SimSun"/>
              </a:rPr>
              <a:t>Permiten utilizar y programar estructuras genéricas, las cuales  se les indica el tipo: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marL="431640" indent="-324000">
              <a:lnSpc>
                <a:spcPct val="100000"/>
              </a:lnSpc>
              <a:spcBef>
                <a:spcPts val="473"/>
              </a:spcBef>
              <a:buNone/>
              <a:tabLst>
                <a:tab algn="l" pos="0"/>
              </a:tabLst>
            </a:pP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 marL="431640" indent="-324000">
              <a:lnSpc>
                <a:spcPct val="100000"/>
              </a:lnSpc>
              <a:spcBef>
                <a:spcPts val="473"/>
              </a:spcBef>
              <a:buNone/>
              <a:tabLst>
                <a:tab algn="l" pos="0"/>
              </a:tabLst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SimSun"/>
              </a:rPr>
              <a:t>List&lt;String&gt; list = new ArrayList&lt;String&gt;();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 marL="431640" indent="-324000">
              <a:lnSpc>
                <a:spcPct val="100000"/>
              </a:lnSpc>
              <a:spcBef>
                <a:spcPts val="473"/>
              </a:spcBef>
              <a:buNone/>
              <a:tabLst>
                <a:tab algn="l" pos="0"/>
              </a:tabLst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SimSun"/>
              </a:rPr>
              <a:t>list.add("hello");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 marL="431640" indent="-3240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SimSun"/>
              </a:rPr>
              <a:t>String s = list.get(0);   // no cast </a:t>
            </a:r>
            <a:r>
              <a:rPr b="0" lang="es-AR" sz="3200" spc="-1" strike="noStrike">
                <a:solidFill>
                  <a:srgbClr val="000000"/>
                </a:solidFill>
                <a:latin typeface="Arial"/>
                <a:ea typeface="SimSun"/>
              </a:rPr>
              <a:t> 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456480" y="273960"/>
            <a:ext cx="8226720" cy="1143360"/>
          </a:xfrm>
          <a:prstGeom prst="rect">
            <a:avLst/>
          </a:prstGeom>
          <a:noFill/>
          <a:ln w="9360">
            <a:noFill/>
          </a:ln>
        </p:spPr>
        <p:txBody>
          <a:bodyPr lIns="0" rIns="0" tIns="3564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449640"/>
                <a:tab algn="l" pos="898560"/>
                <a:tab algn="l" pos="1348200"/>
                <a:tab algn="l" pos="1797120"/>
                <a:tab algn="l" pos="2246760"/>
                <a:tab algn="l" pos="2695680"/>
                <a:tab algn="l" pos="3145320"/>
                <a:tab algn="l" pos="3594240"/>
                <a:tab algn="l" pos="4043520"/>
                <a:tab algn="l" pos="4492800"/>
                <a:tab algn="l" pos="4942080"/>
                <a:tab algn="l" pos="5391000"/>
                <a:tab algn="l" pos="5840640"/>
                <a:tab algn="l" pos="6289560"/>
                <a:tab algn="l" pos="6739200"/>
                <a:tab algn="l" pos="7188120"/>
                <a:tab algn="l" pos="7637760"/>
                <a:tab algn="l" pos="8086680"/>
                <a:tab algn="l" pos="8536320"/>
                <a:tab algn="l" pos="8985240"/>
              </a:tabLst>
            </a:pPr>
            <a:r>
              <a:rPr b="0" lang="es-AR" sz="3600" spc="-1" strike="noStrike">
                <a:solidFill>
                  <a:srgbClr val="000000"/>
                </a:solidFill>
                <a:latin typeface="Arial"/>
                <a:ea typeface="SimSun"/>
              </a:rPr>
              <a:t>Generics</a:t>
            </a:r>
            <a:endParaRPr b="0" lang="es-A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/>
          </p:nvPr>
        </p:nvSpPr>
        <p:spPr>
          <a:xfrm>
            <a:off x="456480" y="1604520"/>
            <a:ext cx="8226720" cy="3975840"/>
          </a:xfrm>
          <a:prstGeom prst="rect">
            <a:avLst/>
          </a:prstGeom>
          <a:noFill/>
          <a:ln w="9360">
            <a:noFill/>
          </a:ln>
        </p:spPr>
        <p:txBody>
          <a:bodyPr lIns="0" rIns="0" tIns="25920" bIns="0" anchor="t">
            <a:noAutofit/>
          </a:bodyPr>
          <a:p>
            <a:pPr marL="431640" indent="-324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49640"/>
                <a:tab algn="l" pos="898560"/>
                <a:tab algn="l" pos="1348200"/>
                <a:tab algn="l" pos="1797120"/>
                <a:tab algn="l" pos="2246760"/>
                <a:tab algn="l" pos="2695680"/>
                <a:tab algn="l" pos="3145320"/>
                <a:tab algn="l" pos="3594240"/>
                <a:tab algn="l" pos="4043520"/>
                <a:tab algn="l" pos="4492800"/>
                <a:tab algn="l" pos="4942080"/>
                <a:tab algn="l" pos="5391000"/>
                <a:tab algn="l" pos="5840640"/>
                <a:tab algn="l" pos="6289560"/>
                <a:tab algn="l" pos="6739200"/>
                <a:tab algn="l" pos="7188120"/>
                <a:tab algn="l" pos="7637760"/>
                <a:tab algn="l" pos="8086680"/>
                <a:tab algn="l" pos="8536320"/>
                <a:tab algn="l" pos="8985240"/>
              </a:tabLst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  <a:ea typeface="SimSun"/>
              </a:rPr>
              <a:t>Entre las ventajas podemos nombrar: 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marL="431640" indent="-324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49640"/>
                <a:tab algn="l" pos="898560"/>
                <a:tab algn="l" pos="1348200"/>
                <a:tab algn="l" pos="1797120"/>
                <a:tab algn="l" pos="2246760"/>
                <a:tab algn="l" pos="2695680"/>
                <a:tab algn="l" pos="3145320"/>
                <a:tab algn="l" pos="3594240"/>
                <a:tab algn="l" pos="4043520"/>
                <a:tab algn="l" pos="4492800"/>
                <a:tab algn="l" pos="4942080"/>
                <a:tab algn="l" pos="5391000"/>
                <a:tab algn="l" pos="5840640"/>
                <a:tab algn="l" pos="6289560"/>
                <a:tab algn="l" pos="6739200"/>
                <a:tab algn="l" pos="7188120"/>
                <a:tab algn="l" pos="7637760"/>
                <a:tab algn="l" pos="8086680"/>
                <a:tab algn="l" pos="8536320"/>
                <a:tab algn="l" pos="8985240"/>
              </a:tabLst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  <a:ea typeface="SimSun"/>
              </a:rPr>
              <a:t>Chequeo de tipos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marL="431640" indent="-324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49640"/>
                <a:tab algn="l" pos="898560"/>
                <a:tab algn="l" pos="1348200"/>
                <a:tab algn="l" pos="1797120"/>
                <a:tab algn="l" pos="2246760"/>
                <a:tab algn="l" pos="2695680"/>
                <a:tab algn="l" pos="3145320"/>
                <a:tab algn="l" pos="3594240"/>
                <a:tab algn="l" pos="4043520"/>
                <a:tab algn="l" pos="4492800"/>
                <a:tab algn="l" pos="4942080"/>
                <a:tab algn="l" pos="5391000"/>
                <a:tab algn="l" pos="5840640"/>
                <a:tab algn="l" pos="6289560"/>
                <a:tab algn="l" pos="6739200"/>
                <a:tab algn="l" pos="7188120"/>
                <a:tab algn="l" pos="7637760"/>
                <a:tab algn="l" pos="8086680"/>
                <a:tab algn="l" pos="8536320"/>
                <a:tab algn="l" pos="8985240"/>
              </a:tabLst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  <a:ea typeface="SimSun"/>
              </a:rPr>
              <a:t>Se elimina la necesidad de casteos.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marL="431640" indent="-324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49640"/>
                <a:tab algn="l" pos="898560"/>
                <a:tab algn="l" pos="1348200"/>
                <a:tab algn="l" pos="1797120"/>
                <a:tab algn="l" pos="2246760"/>
                <a:tab algn="l" pos="2695680"/>
                <a:tab algn="l" pos="3145320"/>
                <a:tab algn="l" pos="3594240"/>
                <a:tab algn="l" pos="4043520"/>
                <a:tab algn="l" pos="4492800"/>
                <a:tab algn="l" pos="4942080"/>
                <a:tab algn="l" pos="5391000"/>
                <a:tab algn="l" pos="5840640"/>
                <a:tab algn="l" pos="6289560"/>
                <a:tab algn="l" pos="6739200"/>
                <a:tab algn="l" pos="7188120"/>
                <a:tab algn="l" pos="7637760"/>
                <a:tab algn="l" pos="8086680"/>
                <a:tab algn="l" pos="8536320"/>
                <a:tab algn="l" pos="8985240"/>
              </a:tabLst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  <a:ea typeface="SimSun"/>
              </a:rPr>
              <a:t>Posibilidades  de utilizar y programar algoritmos y estructuras genéricas 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marL="431640" indent="-324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49640"/>
                <a:tab algn="l" pos="898560"/>
                <a:tab algn="l" pos="1348200"/>
                <a:tab algn="l" pos="1797120"/>
                <a:tab algn="l" pos="2246760"/>
                <a:tab algn="l" pos="2695680"/>
                <a:tab algn="l" pos="3145320"/>
                <a:tab algn="l" pos="3594240"/>
                <a:tab algn="l" pos="4043520"/>
                <a:tab algn="l" pos="4492800"/>
                <a:tab algn="l" pos="4942080"/>
                <a:tab algn="l" pos="5391000"/>
                <a:tab algn="l" pos="5840640"/>
                <a:tab algn="l" pos="6289560"/>
                <a:tab algn="l" pos="6739200"/>
                <a:tab algn="l" pos="7188120"/>
                <a:tab algn="l" pos="7637760"/>
                <a:tab algn="l" pos="8086680"/>
                <a:tab algn="l" pos="8536320"/>
                <a:tab algn="l" pos="8985240"/>
              </a:tabLst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  <a:ea typeface="SimSun"/>
              </a:rPr>
              <a:t>Es muy utilizado en Frameworks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456480" y="273960"/>
            <a:ext cx="8226720" cy="1143360"/>
          </a:xfrm>
          <a:prstGeom prst="rect">
            <a:avLst/>
          </a:prstGeom>
          <a:noFill/>
          <a:ln w="9360">
            <a:noFill/>
          </a:ln>
        </p:spPr>
        <p:txBody>
          <a:bodyPr lIns="0" rIns="0" tIns="3564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449640"/>
                <a:tab algn="l" pos="898560"/>
                <a:tab algn="l" pos="1348200"/>
                <a:tab algn="l" pos="1797120"/>
                <a:tab algn="l" pos="2246760"/>
                <a:tab algn="l" pos="2695680"/>
                <a:tab algn="l" pos="3145320"/>
                <a:tab algn="l" pos="3594240"/>
                <a:tab algn="l" pos="4043520"/>
                <a:tab algn="l" pos="4492800"/>
                <a:tab algn="l" pos="4942080"/>
                <a:tab algn="l" pos="5391000"/>
                <a:tab algn="l" pos="5840640"/>
                <a:tab algn="l" pos="6289560"/>
                <a:tab algn="l" pos="6739200"/>
                <a:tab algn="l" pos="7188120"/>
                <a:tab algn="l" pos="7637760"/>
                <a:tab algn="l" pos="8086680"/>
                <a:tab algn="l" pos="8536320"/>
                <a:tab algn="l" pos="8985240"/>
              </a:tabLst>
            </a:pPr>
            <a:r>
              <a:rPr b="0" lang="es-AR" sz="3600" spc="-1" strike="noStrike">
                <a:solidFill>
                  <a:srgbClr val="000000"/>
                </a:solidFill>
                <a:latin typeface="Arial"/>
                <a:ea typeface="SimSun"/>
              </a:rPr>
              <a:t>Generics</a:t>
            </a:r>
            <a:endParaRPr b="0" lang="es-A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456480" y="1604520"/>
            <a:ext cx="8226720" cy="3975840"/>
          </a:xfrm>
          <a:prstGeom prst="rect">
            <a:avLst/>
          </a:prstGeom>
          <a:noFill/>
          <a:ln w="9360">
            <a:noFill/>
          </a:ln>
        </p:spPr>
        <p:txBody>
          <a:bodyPr lIns="0" rIns="0" tIns="25920" bIns="0" anchor="t">
            <a:noAutofit/>
          </a:bodyPr>
          <a:p>
            <a:pPr marL="431640" indent="-324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49640"/>
                <a:tab algn="l" pos="898560"/>
                <a:tab algn="l" pos="1348200"/>
                <a:tab algn="l" pos="1797120"/>
                <a:tab algn="l" pos="2246760"/>
                <a:tab algn="l" pos="2695680"/>
                <a:tab algn="l" pos="3145320"/>
                <a:tab algn="l" pos="3594240"/>
                <a:tab algn="l" pos="4043520"/>
                <a:tab algn="l" pos="4492800"/>
                <a:tab algn="l" pos="4942080"/>
                <a:tab algn="l" pos="5391000"/>
                <a:tab algn="l" pos="5840640"/>
                <a:tab algn="l" pos="6289560"/>
                <a:tab algn="l" pos="6739200"/>
                <a:tab algn="l" pos="7188120"/>
                <a:tab algn="l" pos="7637760"/>
                <a:tab algn="l" pos="8086680"/>
                <a:tab algn="l" pos="8536320"/>
                <a:tab algn="l" pos="8985240"/>
              </a:tabLst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  <a:ea typeface="SimSun"/>
              </a:rPr>
              <a:t>Podemos generar clases genericas: 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marL="431640" indent="-3240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marL="431640" indent="-3240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  <a:ea typeface="SimSun"/>
              </a:rPr>
              <a:t>public class Box&lt;T&gt; {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marL="431640" indent="-3240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  <a:ea typeface="SimSun"/>
              </a:rPr>
              <a:t>    </a:t>
            </a:r>
            <a:r>
              <a:rPr b="0" lang="es-AR" sz="3200" spc="-1" strike="noStrike">
                <a:solidFill>
                  <a:srgbClr val="000000"/>
                </a:solidFill>
                <a:latin typeface="Arial"/>
                <a:ea typeface="SimSun"/>
              </a:rPr>
              <a:t>// T stands for "Type"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marL="431640" indent="-3240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  <a:ea typeface="SimSun"/>
              </a:rPr>
              <a:t>    </a:t>
            </a:r>
            <a:r>
              <a:rPr b="0" lang="es-AR" sz="3200" spc="-1" strike="noStrike">
                <a:solidFill>
                  <a:srgbClr val="000000"/>
                </a:solidFill>
                <a:latin typeface="Arial"/>
                <a:ea typeface="SimSun"/>
              </a:rPr>
              <a:t>private T t;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marL="431640" indent="-3240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  <a:ea typeface="SimSun"/>
              </a:rPr>
              <a:t>    </a:t>
            </a:r>
            <a:r>
              <a:rPr b="0" lang="es-AR" sz="3200" spc="-1" strike="noStrike">
                <a:solidFill>
                  <a:srgbClr val="000000"/>
                </a:solidFill>
                <a:latin typeface="Arial"/>
                <a:ea typeface="SimSun"/>
              </a:rPr>
              <a:t>public void set(T t) { this.t = t; }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marL="431640" indent="-3240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  <a:ea typeface="SimSun"/>
              </a:rPr>
              <a:t>    </a:t>
            </a:r>
            <a:r>
              <a:rPr b="0" lang="es-AR" sz="3200" spc="-1" strike="noStrike">
                <a:solidFill>
                  <a:srgbClr val="000000"/>
                </a:solidFill>
                <a:latin typeface="Arial"/>
                <a:ea typeface="SimSun"/>
              </a:rPr>
              <a:t>public T get() { return t; }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marL="431640" indent="-3240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  <a:ea typeface="SimSun"/>
              </a:rPr>
              <a:t>}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456480" y="273960"/>
            <a:ext cx="8226720" cy="1143360"/>
          </a:xfrm>
          <a:prstGeom prst="rect">
            <a:avLst/>
          </a:prstGeom>
          <a:noFill/>
          <a:ln w="9360">
            <a:noFill/>
          </a:ln>
        </p:spPr>
        <p:txBody>
          <a:bodyPr lIns="0" rIns="0" tIns="3564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449640"/>
                <a:tab algn="l" pos="898560"/>
                <a:tab algn="l" pos="1348200"/>
                <a:tab algn="l" pos="1797120"/>
                <a:tab algn="l" pos="2246760"/>
                <a:tab algn="l" pos="2695680"/>
                <a:tab algn="l" pos="3145320"/>
                <a:tab algn="l" pos="3594240"/>
                <a:tab algn="l" pos="4043520"/>
                <a:tab algn="l" pos="4492800"/>
                <a:tab algn="l" pos="4942080"/>
                <a:tab algn="l" pos="5391000"/>
                <a:tab algn="l" pos="5840640"/>
                <a:tab algn="l" pos="6289560"/>
                <a:tab algn="l" pos="6739200"/>
                <a:tab algn="l" pos="7188120"/>
                <a:tab algn="l" pos="7637760"/>
                <a:tab algn="l" pos="8086680"/>
                <a:tab algn="l" pos="8536320"/>
                <a:tab algn="l" pos="8985240"/>
              </a:tabLst>
            </a:pPr>
            <a:r>
              <a:rPr b="0" lang="es-AR" sz="3600" spc="-1" strike="noStrike">
                <a:solidFill>
                  <a:srgbClr val="000000"/>
                </a:solidFill>
                <a:latin typeface="Arial"/>
                <a:ea typeface="SimSun"/>
              </a:rPr>
              <a:t>Generics</a:t>
            </a:r>
            <a:endParaRPr b="0" lang="es-A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456480" y="1604520"/>
            <a:ext cx="8226720" cy="3975840"/>
          </a:xfrm>
          <a:prstGeom prst="rect">
            <a:avLst/>
          </a:prstGeom>
          <a:noFill/>
          <a:ln w="9360">
            <a:noFill/>
          </a:ln>
        </p:spPr>
        <p:txBody>
          <a:bodyPr lIns="0" rIns="0" tIns="25920" bIns="0" anchor="t">
            <a:noAutofit/>
          </a:bodyPr>
          <a:p>
            <a:pPr marL="1800" indent="-34488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marL="1800" indent="-34488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  <a:ea typeface="SimSun"/>
              </a:rPr>
              <a:t>var integerBox = new Box&lt;Integer&gt;();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marL="1800" indent="-34488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  <a:ea typeface="SimSun"/>
              </a:rPr>
              <a:t>integerBox.set(45);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marL="1800" indent="-34488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  <a:ea typeface="SimSun"/>
              </a:rPr>
              <a:t>Integer nro = integerBox.get();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marL="1800" indent="-34488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457200" y="190440"/>
            <a:ext cx="8228160" cy="5810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s-AR" sz="3600" spc="-1" strike="noStrike">
                <a:solidFill>
                  <a:srgbClr val="000000"/>
                </a:solidFill>
                <a:latin typeface="Arial"/>
                <a:ea typeface="SimSun"/>
              </a:rPr>
              <a:t>En Scala...</a:t>
            </a:r>
            <a:endParaRPr b="0" lang="es-A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/>
          </p:nvPr>
        </p:nvSpPr>
        <p:spPr>
          <a:xfrm>
            <a:off x="457200" y="1174680"/>
            <a:ext cx="8228160" cy="49514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SimSun"/>
              </a:rPr>
              <a:t>class Stack[A] {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SimSun"/>
              </a:rPr>
              <a:t>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SimSun"/>
              </a:rPr>
              <a:t>private var elements: List[A] = Nil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SimSun"/>
              </a:rPr>
              <a:t>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SimSun"/>
              </a:rPr>
              <a:t>def push(x: A) { elements = x :: elements }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SimSun"/>
              </a:rPr>
              <a:t>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SimSun"/>
              </a:rPr>
              <a:t>def peek: A = elements.head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SimSun"/>
              </a:rPr>
              <a:t>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SimSun"/>
              </a:rPr>
              <a:t>def pop(): A = {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SimSun"/>
              </a:rPr>
              <a:t>  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SimSun"/>
              </a:rPr>
              <a:t>val currentTop = peek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SimSun"/>
              </a:rPr>
              <a:t>  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SimSun"/>
              </a:rPr>
              <a:t>elements = elements.tail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SimSun"/>
              </a:rPr>
              <a:t>  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SimSun"/>
              </a:rPr>
              <a:t>currentTop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SimSun"/>
              </a:rPr>
              <a:t>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SimSun"/>
              </a:rPr>
              <a:t>}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SimSun"/>
              </a:rPr>
              <a:t>}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extShape 1"/>
          <p:cNvSpPr/>
          <p:nvPr/>
        </p:nvSpPr>
        <p:spPr>
          <a:xfrm>
            <a:off x="457200" y="522720"/>
            <a:ext cx="6529680" cy="65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s-AR" sz="3270" spc="-1" strike="noStrike">
                <a:solidFill>
                  <a:srgbClr val="000000"/>
                </a:solidFill>
                <a:latin typeface="Arial"/>
                <a:ea typeface="Arial"/>
              </a:rPr>
              <a:t>Estructuras de datos recursivas </a:t>
            </a:r>
            <a:endParaRPr b="0" lang="es-AR" sz="3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Shape 2"/>
          <p:cNvSpPr/>
          <p:nvPr/>
        </p:nvSpPr>
        <p:spPr>
          <a:xfrm>
            <a:off x="457200" y="1632960"/>
            <a:ext cx="8227800" cy="397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1640" indent="-324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Una estructura de datos en Haskell o una clase en java o scala puede contener atributos esos atributos tienen un tipo determinado si ese tipo es igual a la clase contenedora tenemos una estructura recursiva.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 marL="431640" indent="-324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Una Lista por ejemplo puede verse como una estructura recursiva. 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1" name="Picture 1" descr="1-head-tail-init-last-learn-you-a-haskell"/>
          <p:cNvPicPr/>
          <p:nvPr/>
        </p:nvPicPr>
        <p:blipFill>
          <a:blip r:embed="rId1"/>
          <a:stretch/>
        </p:blipFill>
        <p:spPr>
          <a:xfrm>
            <a:off x="2088360" y="3974400"/>
            <a:ext cx="5332680" cy="2370240"/>
          </a:xfrm>
          <a:prstGeom prst="rect">
            <a:avLst/>
          </a:prstGeom>
          <a:ln w="0">
            <a:noFill/>
          </a:ln>
        </p:spPr>
      </p:pic>
      <p:pic>
        <p:nvPicPr>
          <p:cNvPr id="262" name="Picture 2" descr="list-head-tail"/>
          <p:cNvPicPr/>
          <p:nvPr/>
        </p:nvPicPr>
        <p:blipFill>
          <a:blip r:embed="rId2"/>
          <a:stretch/>
        </p:blipFill>
        <p:spPr>
          <a:xfrm>
            <a:off x="2515320" y="3699360"/>
            <a:ext cx="5384520" cy="3284640"/>
          </a:xfrm>
          <a:prstGeom prst="rect">
            <a:avLst/>
          </a:prstGeom>
          <a:ln w="0">
            <a:noFill/>
          </a:ln>
        </p:spPr>
      </p:pic>
    </p:spTree>
  </p:cSld>
  <p:transition>
    <p:newsflash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extShape 1"/>
          <p:cNvSpPr/>
          <p:nvPr/>
        </p:nvSpPr>
        <p:spPr>
          <a:xfrm>
            <a:off x="457200" y="522720"/>
            <a:ext cx="6529680" cy="65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s-AR" sz="3270" spc="-1" strike="noStrike">
                <a:solidFill>
                  <a:srgbClr val="000000"/>
                </a:solidFill>
                <a:latin typeface="Arial"/>
                <a:ea typeface="Arial"/>
              </a:rPr>
              <a:t>Estructuras de datos recursivas</a:t>
            </a:r>
            <a:endParaRPr b="0" lang="es-AR" sz="3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Shape 2"/>
          <p:cNvSpPr/>
          <p:nvPr/>
        </p:nvSpPr>
        <p:spPr>
          <a:xfrm>
            <a:off x="457200" y="1371600"/>
            <a:ext cx="8213040" cy="463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8333" lnSpcReduction="10000"/>
          </a:bodyPr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Arial"/>
                <a:ea typeface="Arial"/>
              </a:rPr>
              <a:t>trait Lista[T] {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s-AR" sz="1800" spc="-1" strike="noStrike">
                <a:solidFill>
                  <a:srgbClr val="000000"/>
                </a:solidFill>
                <a:latin typeface="Arial"/>
                <a:ea typeface="Arial"/>
              </a:rPr>
              <a:t>def esVacio: Boolean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s-AR" sz="1800" spc="-1" strike="noStrike">
                <a:solidFill>
                  <a:srgbClr val="000000"/>
                </a:solidFill>
                <a:latin typeface="Arial"/>
                <a:ea typeface="Arial"/>
              </a:rPr>
              <a:t>def primero:T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s-AR" sz="1800" spc="-1" strike="noStrike">
                <a:solidFill>
                  <a:srgbClr val="000000"/>
                </a:solidFill>
                <a:latin typeface="Arial"/>
                <a:ea typeface="Arial"/>
              </a:rPr>
              <a:t>def resto:Lista[T]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  <a:ea typeface="Arial"/>
              </a:rPr>
              <a:t>}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  <a:ea typeface="Arial"/>
              </a:rPr>
              <a:t>class Vacia[T] extends Lista[T] {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  <a:ea typeface="Arial"/>
              </a:rPr>
              <a:t>   </a:t>
            </a:r>
            <a:r>
              <a:rPr b="0" lang="es-AR" sz="1800" spc="-1" strike="noStrike">
                <a:solidFill>
                  <a:srgbClr val="000000"/>
                </a:solidFill>
                <a:latin typeface="Arial"/>
                <a:ea typeface="Arial"/>
              </a:rPr>
              <a:t>def esVacio = true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  <a:ea typeface="Arial"/>
              </a:rPr>
              <a:t>   </a:t>
            </a:r>
            <a:r>
              <a:rPr b="0" lang="es-AR" sz="1800" spc="-1" strike="noStrike">
                <a:solidFill>
                  <a:srgbClr val="000000"/>
                </a:solidFill>
                <a:latin typeface="Arial"/>
                <a:ea typeface="Arial"/>
              </a:rPr>
              <a:t>def primero:Nothing = throw new NoSuchElementException("No existe elemento")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  <a:ea typeface="Arial"/>
              </a:rPr>
              <a:t>   </a:t>
            </a:r>
            <a:r>
              <a:rPr b="0" lang="es-AR" sz="1800" spc="-1" strike="noStrike">
                <a:solidFill>
                  <a:srgbClr val="000000"/>
                </a:solidFill>
                <a:latin typeface="Arial"/>
                <a:ea typeface="Arial"/>
              </a:rPr>
              <a:t>def resto:Nothing = throw new NoSuchElementException("No existe elemento")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  <a:ea typeface="Arial"/>
              </a:rPr>
              <a:t>}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  <a:ea typeface="Arial"/>
              </a:rPr>
              <a:t>class Llena[T](val primero: T, val resto: Lista[T]) extends Lista[T] {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  <a:ea typeface="Arial"/>
              </a:rPr>
              <a:t>   </a:t>
            </a:r>
            <a:r>
              <a:rPr b="0" lang="es-AR" sz="1800" spc="-1" strike="noStrike">
                <a:solidFill>
                  <a:srgbClr val="000000"/>
                </a:solidFill>
                <a:latin typeface="Arial"/>
                <a:ea typeface="Arial"/>
              </a:rPr>
              <a:t>def esVacio= false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  <a:ea typeface="Arial"/>
              </a:rPr>
              <a:t>}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extShape 1"/>
          <p:cNvSpPr/>
          <p:nvPr/>
        </p:nvSpPr>
        <p:spPr>
          <a:xfrm>
            <a:off x="457200" y="522720"/>
            <a:ext cx="6529680" cy="65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s-AR" sz="327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s-AR" sz="3270" spc="-1" strike="noStrike">
                <a:solidFill>
                  <a:srgbClr val="000000"/>
                </a:solidFill>
                <a:latin typeface="Arial"/>
                <a:ea typeface="Arial"/>
              </a:rPr>
              <a:t>Case Classes</a:t>
            </a:r>
            <a:endParaRPr b="0" lang="es-AR" sz="3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Shape 2"/>
          <p:cNvSpPr/>
          <p:nvPr/>
        </p:nvSpPr>
        <p:spPr>
          <a:xfrm>
            <a:off x="457200" y="1632960"/>
            <a:ext cx="8227800" cy="397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1640" indent="-324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Scala da soporte a la noción de clases caso (en inglés case classes, desde ahora clases Case). Las clases Case son clases regulares las cuales exportan sus parámetros constructores y a su vez proveen una descomposición recursiva de sí mismas a través de reconocimiento de patrones.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 marL="431640" indent="-324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A continuación se muestra un ejemplo para una jerarquía de clases la cual consiste de una super clase abstracta llamada Term y tres clases concretas: Var, Fun y App.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Shape 1"/>
          <p:cNvSpPr/>
          <p:nvPr/>
        </p:nvSpPr>
        <p:spPr>
          <a:xfrm>
            <a:off x="457200" y="522720"/>
            <a:ext cx="6529680" cy="65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s-AR" sz="327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s-AR" sz="3270" spc="-1" strike="noStrike">
                <a:solidFill>
                  <a:srgbClr val="000000"/>
                </a:solidFill>
                <a:latin typeface="Arial"/>
                <a:ea typeface="Arial"/>
              </a:rPr>
              <a:t>Case Classes</a:t>
            </a:r>
            <a:endParaRPr b="0" lang="es-AR" sz="3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Shape 2"/>
          <p:cNvSpPr/>
          <p:nvPr/>
        </p:nvSpPr>
        <p:spPr>
          <a:xfrm>
            <a:off x="457200" y="1632960"/>
            <a:ext cx="8227800" cy="397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abstract class Term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case class Var(name: String) extends Term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case class Fun(arg: String, body: Term) extends Term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case class App(f: Term, v: Term) extends Term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extShape 1"/>
          <p:cNvSpPr/>
          <p:nvPr/>
        </p:nvSpPr>
        <p:spPr>
          <a:xfrm>
            <a:off x="457200" y="522720"/>
            <a:ext cx="6529680" cy="65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s-AR" sz="327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s-AR" sz="3270" spc="-1" strike="noStrike">
                <a:solidFill>
                  <a:srgbClr val="000000"/>
                </a:solidFill>
                <a:latin typeface="Arial"/>
                <a:ea typeface="Arial"/>
              </a:rPr>
              <a:t>Case Classes</a:t>
            </a:r>
            <a:endParaRPr b="0" lang="es-AR" sz="3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Shape 2"/>
          <p:cNvSpPr/>
          <p:nvPr/>
        </p:nvSpPr>
        <p:spPr>
          <a:xfrm>
            <a:off x="411120" y="1603440"/>
            <a:ext cx="8227800" cy="397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sealed trait Lista[T]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case class Vacia[T]() extends Lista[T]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case class Llena[T](val primero: T, val resto: Lista[T]) extends Lista[T]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TextShape 1"/>
          <p:cNvSpPr/>
          <p:nvPr/>
        </p:nvSpPr>
        <p:spPr>
          <a:xfrm>
            <a:off x="457200" y="522720"/>
            <a:ext cx="6529680" cy="65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s-AR" sz="3270" spc="-1" strike="noStrike">
                <a:solidFill>
                  <a:srgbClr val="000000"/>
                </a:solidFill>
                <a:latin typeface="Arial"/>
                <a:ea typeface="Arial"/>
              </a:rPr>
              <a:t>Pattern matching</a:t>
            </a:r>
            <a:endParaRPr b="0" lang="es-AR" sz="3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Shape 2"/>
          <p:cNvSpPr/>
          <p:nvPr/>
        </p:nvSpPr>
        <p:spPr>
          <a:xfrm>
            <a:off x="457200" y="1632960"/>
            <a:ext cx="8227800" cy="397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1640" indent="-324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Pattern Matching nace del paradigma funcional aunque hoy en día lenguaje multiparadigma lo implementan como Scala o Kotlin. Pattern Matching permite definir funciones por medio de macheo de parámetros y resultados. Veamos un ejemplo en Haskell de definición de factorial: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414"/>
              </a:spcAft>
            </a:pP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factorial 0 = 1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factorial n = n * factorial (n - 1)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TextShape 1"/>
          <p:cNvSpPr/>
          <p:nvPr/>
        </p:nvSpPr>
        <p:spPr>
          <a:xfrm>
            <a:off x="457200" y="522720"/>
            <a:ext cx="6529680" cy="65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s-AR" sz="3270" spc="-1" strike="noStrike">
                <a:solidFill>
                  <a:srgbClr val="000000"/>
                </a:solidFill>
                <a:latin typeface="Arial"/>
                <a:ea typeface="Arial"/>
              </a:rPr>
              <a:t>Scala</a:t>
            </a:r>
            <a:endParaRPr b="0" lang="es-AR" sz="3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Shape 2"/>
          <p:cNvSpPr/>
          <p:nvPr/>
        </p:nvSpPr>
        <p:spPr>
          <a:xfrm>
            <a:off x="457200" y="1632960"/>
            <a:ext cx="8227800" cy="397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def fact(n: Int): Int = n match {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     </a:t>
            </a: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case 0 =&gt; 1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     </a:t>
            </a: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case n =&gt; n * fact(n - 1)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   </a:t>
            </a: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}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TextShape 1"/>
          <p:cNvSpPr/>
          <p:nvPr/>
        </p:nvSpPr>
        <p:spPr>
          <a:xfrm>
            <a:off x="457200" y="522720"/>
            <a:ext cx="6529680" cy="65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s-AR" sz="3270" spc="-1" strike="noStrike">
                <a:solidFill>
                  <a:srgbClr val="000000"/>
                </a:solidFill>
                <a:latin typeface="Arial"/>
                <a:ea typeface="Arial"/>
              </a:rPr>
              <a:t>A la vez puedo utilizarlo con listas</a:t>
            </a:r>
            <a:endParaRPr b="0" lang="es-AR" sz="3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Shape 2"/>
          <p:cNvSpPr/>
          <p:nvPr/>
        </p:nvSpPr>
        <p:spPr>
          <a:xfrm>
            <a:off x="457200" y="1632960"/>
            <a:ext cx="8227800" cy="397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def cantidad[T](xs:List[T]):Int = xs match {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case List() =&gt; 0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case head :: List()  =&gt; 1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case head :: tail =&gt; 1 + cantidad(tail)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}             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val l = List(1,3,4,5,6,8)    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cantidad(l)      //&gt; res0: Int = 6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Shape 1"/>
          <p:cNvSpPr/>
          <p:nvPr/>
        </p:nvSpPr>
        <p:spPr>
          <a:xfrm>
            <a:off x="457200" y="522720"/>
            <a:ext cx="6529680" cy="65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s-AR" sz="3270" spc="-1" strike="noStrike">
                <a:solidFill>
                  <a:srgbClr val="000000"/>
                </a:solidFill>
                <a:latin typeface="Arial"/>
                <a:ea typeface="Arial"/>
              </a:rPr>
              <a:t>Y como queda nuestra lista?</a:t>
            </a:r>
            <a:endParaRPr b="0" lang="es-AR" sz="3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Shape 2"/>
          <p:cNvSpPr/>
          <p:nvPr/>
        </p:nvSpPr>
        <p:spPr>
          <a:xfrm>
            <a:off x="457200" y="1632960"/>
            <a:ext cx="8227800" cy="397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sealed trait Lista[T]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case class Vacia[T]() extends Lista[T]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case class Llena[T](val primero: T, val resto: Lista[T]) extends Lista[T] {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}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def  esVacio[T](e:Lista[T]) = e match {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case e:Vacia[T] =&gt; true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case e:Llena[T] =&gt; false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360" spc="-1" strike="noStrike">
                <a:solidFill>
                  <a:srgbClr val="000000"/>
                </a:solidFill>
                <a:latin typeface="Arial"/>
                <a:ea typeface="Arial"/>
              </a:rPr>
              <a:t>}    </a:t>
            </a:r>
            <a:endParaRPr b="0" lang="es-AR" sz="236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457200" y="190440"/>
            <a:ext cx="8228160" cy="5810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SimSun"/>
              </a:rPr>
              <a:t>C#:</a:t>
            </a:r>
            <a:endParaRPr b="0" lang="es-A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/>
          </p:nvPr>
        </p:nvSpPr>
        <p:spPr>
          <a:xfrm>
            <a:off x="457200" y="1160280"/>
            <a:ext cx="8228160" cy="49514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public static void SwitchPattern(object o)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{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switch (o)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{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    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case Person p: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        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Console.WriteLine($"any other person {p.FirstName}");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        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break;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    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case var x: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        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Console.WriteLine($"Type {x?.GetType().Name} ");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        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break;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}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}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457200" y="190440"/>
            <a:ext cx="8228160" cy="5810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SimSun"/>
              </a:rPr>
              <a:t>Type Pattern y Switch con Pattern Matching (C# 7.0)</a:t>
            </a:r>
            <a:endParaRPr b="0" lang="es-A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457200" y="1160280"/>
            <a:ext cx="8228160" cy="49514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Permite verificar y hacer un cast de un tipo directamente.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if (obj is int i)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{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Console.WriteLine(i); // Desde C# 7.0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}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El switch puede realizar comparaciones de tipos.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switch (obj)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{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case int i: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    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Console.WriteLine(i);  // Desde C# 7.0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    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break;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}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457200" y="190440"/>
            <a:ext cx="8228160" cy="5810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SimSun"/>
              </a:rPr>
              <a:t>Property Pattern (C# 8.0)</a:t>
            </a:r>
            <a:endParaRPr b="0" lang="es-A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/>
          </p:nvPr>
        </p:nvSpPr>
        <p:spPr>
          <a:xfrm>
            <a:off x="457200" y="1160280"/>
            <a:ext cx="8228160" cy="49514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var person = new Person("John", 30);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var result = person switch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{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{ Name: "John", Age: 30 } =&gt; "Matched!", // Desde C# 8.0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_ =&gt; "No Match"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};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457200" y="190440"/>
            <a:ext cx="8228160" cy="5810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SimSun"/>
              </a:rPr>
              <a:t>Positional Pattern (C# 8.0)</a:t>
            </a:r>
            <a:endParaRPr b="0" lang="es-A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/>
          </p:nvPr>
        </p:nvSpPr>
        <p:spPr>
          <a:xfrm>
            <a:off x="457200" y="1160280"/>
            <a:ext cx="8228160" cy="49514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public record Point(int X, int Y);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var point = new Point(1, 2);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string description = point switch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{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(1, 2) =&gt; "Point at (1,2)",  // Desde C# 8.0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_ =&gt; "Other point"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};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457200" y="190440"/>
            <a:ext cx="8228160" cy="5810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SimSun"/>
              </a:rPr>
              <a:t>Logical Patterns (and, or, not) (C# 9.0)</a:t>
            </a:r>
            <a:endParaRPr b="0" lang="es-A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457200" y="1160280"/>
            <a:ext cx="8228160" cy="49514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int x = 5;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string result = x switch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{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&gt; 0 and &lt; 10 =&gt; "Between 1 and 9",   // Desde C# 9.0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_ =&gt; "Other"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};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457200" y="190440"/>
            <a:ext cx="8228160" cy="5810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SimSun"/>
              </a:rPr>
              <a:t>Relational Pattern (C# 9.0)</a:t>
            </a:r>
            <a:endParaRPr b="0" lang="es-A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/>
          </p:nvPr>
        </p:nvSpPr>
        <p:spPr>
          <a:xfrm>
            <a:off x="457200" y="1160280"/>
            <a:ext cx="8228160" cy="49514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int x = 20;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string result = x switch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{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&gt; 10 =&gt; "Greater than 10",  // Desde C# 9.0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_ =&gt; "10 or less"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};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457200" y="190440"/>
            <a:ext cx="8228160" cy="5810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SimSun"/>
              </a:rPr>
              <a:t>List Patterns (C# 11.0)</a:t>
            </a:r>
            <a:endParaRPr b="0" lang="es-A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457200" y="1160280"/>
            <a:ext cx="8228160" cy="49514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int[] numbers = { 1, 2, 3 };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var result = numbers switch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{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[1, 2, ..] =&gt; "Starts with 1, 2",  // Desde C# 11.0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_ =&gt; "Other"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};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457200" y="190440"/>
            <a:ext cx="8228160" cy="5810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SimSun"/>
              </a:rPr>
              <a:t>Slice Patterns (C# 11.0)</a:t>
            </a:r>
            <a:endParaRPr b="0" lang="es-A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/>
          </p:nvPr>
        </p:nvSpPr>
        <p:spPr>
          <a:xfrm>
            <a:off x="457200" y="1160280"/>
            <a:ext cx="8228160" cy="49514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int[] numbers = { 1, 2, 3, 4 };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var result = numbers switch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{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[_, _, .. int[] rest] =&gt; $"Rest: {string.Join(", ", rest)}",  // Desde C# 11.0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_ =&gt; "No Match"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SimSun"/>
              </a:rPr>
              <a:t>};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32;p33" descr="imagen.jpg"/>
          <p:cNvPicPr/>
          <p:nvPr/>
        </p:nvPicPr>
        <p:blipFill>
          <a:blip r:embed="rId1"/>
          <a:stretch/>
        </p:blipFill>
        <p:spPr>
          <a:xfrm>
            <a:off x="0" y="0"/>
            <a:ext cx="9142560" cy="6856560"/>
          </a:xfrm>
          <a:prstGeom prst="rect">
            <a:avLst/>
          </a:prstGeom>
          <a:ln w="0">
            <a:noFill/>
          </a:ln>
        </p:spPr>
      </p:pic>
      <p:sp>
        <p:nvSpPr>
          <p:cNvPr id="296" name="Google Shape;233;p33"/>
          <p:cNvSpPr/>
          <p:nvPr/>
        </p:nvSpPr>
        <p:spPr>
          <a:xfrm>
            <a:off x="0" y="6603840"/>
            <a:ext cx="9142560" cy="2527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AR" sz="180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7" name="Google Shape;234;p33" descr="logo solo-08.jpg"/>
          <p:cNvPicPr/>
          <p:nvPr/>
        </p:nvPicPr>
        <p:blipFill>
          <a:blip r:embed="rId2"/>
          <a:stretch/>
        </p:blipFill>
        <p:spPr>
          <a:xfrm>
            <a:off x="7505640" y="5885640"/>
            <a:ext cx="839880" cy="979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</TotalTime>
  <Application>LibreOffice/24.2.7.2$Linux_X86_64 LibreOffice_project/420$Build-2</Application>
  <AppVersion>15.0000</AppVersion>
  <Words>4818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2019-09-11T04:16:03Z</dcterms:created>
  <dc:creator/>
  <dc:description/>
  <dc:language>es-AR</dc:language>
  <cp:lastModifiedBy/>
  <dcterms:modified xsi:type="dcterms:W3CDTF">2026-09-29T02:13:16Z</dcterms:modified>
  <cp:revision>13</cp:revision>
  <dc:subject/>
  <dc:title>Programación IV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1033-11.1.0.8392</vt:lpwstr>
  </property>
  <property fmtid="{D5CDD505-2E9C-101B-9397-08002B2CF9AE}" pid="3" name="Slides">
    <vt:i4>22</vt:i4>
  </property>
</Properties>
</file>